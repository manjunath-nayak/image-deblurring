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094D42C-6084-4587-BD15-7004F695EF3E}">
  <a:tblStyle styleId="{D094D42C-6084-4587-BD15-7004F695EF3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e6342ee0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e6342ee06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e6342ee061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e6342ee061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Clr>
                <a:schemeClr val="dk1"/>
              </a:buClr>
              <a:buSzPts val="1100"/>
              <a:buChar char="●"/>
            </a:pPr>
            <a:r>
              <a:rPr lang="en">
                <a:solidFill>
                  <a:schemeClr val="dk1"/>
                </a:solidFill>
              </a:rPr>
              <a:t>inverse may not exist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inverse may not be unique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tiny noise causes huge reconstruction errors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e6342ee061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e6342ee061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solidFill>
                  <a:schemeClr val="dk1"/>
                </a:solidFill>
              </a:rPr>
              <a:t>This is the central difficulty</a:t>
            </a:r>
            <a:br>
              <a:rPr lang="en">
                <a:solidFill>
                  <a:schemeClr val="dk1"/>
                </a:solidFill>
              </a:rPr>
            </a:br>
            <a:br>
              <a:rPr lang="en">
                <a:solidFill>
                  <a:schemeClr val="dk1"/>
                </a:solidFill>
              </a:rPr>
            </a:br>
            <a:r>
              <a:rPr lang="en">
                <a:solidFill>
                  <a:schemeClr val="dk1"/>
                </a:solidFill>
              </a:rPr>
              <a:t>L2: Do not allow pixel values to become too large. Good for smooth images. Bad for edges → causes oversmoothing</a:t>
            </a:r>
            <a:endParaRPr>
              <a:solidFill>
                <a:schemeClr val="dk1"/>
              </a:solidFill>
            </a:endParaRPr>
          </a:p>
          <a:p>
            <a:pPr marL="0" lvl="0" indent="0" algn="l" rtl="0">
              <a:lnSpc>
                <a:spcPct val="115000"/>
              </a:lnSpc>
              <a:spcBef>
                <a:spcPts val="1200"/>
              </a:spcBef>
              <a:spcAft>
                <a:spcPts val="0"/>
              </a:spcAft>
              <a:buNone/>
            </a:pPr>
            <a:r>
              <a:rPr lang="en">
                <a:solidFill>
                  <a:schemeClr val="dk1"/>
                </a:solidFill>
              </a:rPr>
              <a:t>TV: Instead of penalizing pixel values, penalises image gradients. </a:t>
            </a:r>
            <a:endParaRPr>
              <a:solidFill>
                <a:schemeClr val="dk1"/>
              </a:solidFill>
            </a:endParaRPr>
          </a:p>
          <a:p>
            <a:pPr marL="0" lvl="0" indent="0" algn="l" rtl="0">
              <a:lnSpc>
                <a:spcPct val="115000"/>
              </a:lnSpc>
              <a:spcBef>
                <a:spcPts val="1200"/>
              </a:spcBef>
              <a:spcAft>
                <a:spcPts val="1200"/>
              </a:spcAft>
              <a:buNone/>
            </a:pPr>
            <a:r>
              <a:rPr lang="en">
                <a:solidFill>
                  <a:schemeClr val="dk1"/>
                </a:solidFill>
              </a:rPr>
              <a:t>Why L2 in here? promotes sparsity, only important edges remain, Assumes image gradients are sparse, works best for restoration </a:t>
            </a:r>
            <a:br>
              <a:rPr lang="en">
                <a:solidFill>
                  <a:schemeClr val="dk1"/>
                </a:solidFill>
              </a:rPr>
            </a:br>
            <a:br>
              <a:rPr lang="en">
                <a:solidFill>
                  <a:schemeClr val="dk1"/>
                </a:solidFill>
              </a:rPr>
            </a:br>
            <a:r>
              <a:rPr lang="en">
                <a:solidFill>
                  <a:schemeClr val="dk1"/>
                </a:solidFill>
              </a:rPr>
              <a:t>Sparse: it says most regions in images are smooth, but edges should remain sharp we want stringer sparsity, but non convex so might be issues like local min, unstable covg., but potenstially the best img resto quality.</a:t>
            </a:r>
            <a:br>
              <a:rPr lang="en">
                <a:solidFill>
                  <a:schemeClr val="dk1"/>
                </a:solidFill>
              </a:rPr>
            </a:b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e6342ee061_0_3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e6342ee061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t>Instead of directly inverting, we solve: minimisation of data fidelity+regularisation This stabilizes the solution.</a:t>
            </a:r>
            <a:br>
              <a:rPr lang="en"/>
            </a:br>
            <a:br>
              <a:rPr lang="en"/>
            </a:br>
            <a:r>
              <a:rPr lang="en"/>
              <a:t>L2: Good for smooth images. Bad for edges → causes oversmoothing</a:t>
            </a:r>
            <a:endParaRPr/>
          </a:p>
          <a:p>
            <a:pPr marL="0" lvl="0" indent="0" algn="l" rtl="0">
              <a:lnSpc>
                <a:spcPct val="115000"/>
              </a:lnSpc>
              <a:spcBef>
                <a:spcPts val="1200"/>
              </a:spcBef>
              <a:spcAft>
                <a:spcPts val="0"/>
              </a:spcAft>
              <a:buNone/>
            </a:pPr>
            <a:r>
              <a:rPr lang="en"/>
              <a:t>TV: Assumes image gradients are sparse, works best for restoration, and avoids oversmooting, </a:t>
            </a:r>
            <a:br>
              <a:rPr lang="en"/>
            </a:br>
            <a:r>
              <a:rPr lang="en"/>
              <a:t>Sparse: Uses stronger sparsity assumptions, </a:t>
            </a:r>
            <a:r>
              <a:rPr lang="en">
                <a:solidFill>
                  <a:schemeClr val="dk1"/>
                </a:solidFill>
              </a:rPr>
              <a:t>But optimization becomes much harder because: non convex prob.</a:t>
            </a:r>
            <a:br>
              <a:rPr lang="en">
                <a:solidFill>
                  <a:schemeClr val="dk1"/>
                </a:solidFill>
              </a:rPr>
            </a:br>
            <a:br>
              <a:rPr lang="en">
                <a:solidFill>
                  <a:schemeClr val="dk1"/>
                </a:solidFill>
              </a:rPr>
            </a:br>
            <a:r>
              <a:rPr lang="en">
                <a:solidFill>
                  <a:schemeClr val="dk1"/>
                </a:solidFill>
              </a:rPr>
              <a:t>Solver: the method used to actually find the best solution of an optimization problem</a:t>
            </a:r>
            <a:br>
              <a:rPr lang="en">
                <a:solidFill>
                  <a:schemeClr val="dk1"/>
                </a:solidFill>
              </a:rPr>
            </a:br>
            <a:br>
              <a:rPr lang="en">
                <a:solidFill>
                  <a:schemeClr val="dk1"/>
                </a:solidFill>
              </a:rPr>
            </a:br>
            <a:r>
              <a:rPr lang="en">
                <a:solidFill>
                  <a:schemeClr val="dk1"/>
                </a:solidFill>
              </a:rPr>
              <a:t>Reg: WHAT to opt</a:t>
            </a:r>
            <a:br>
              <a:rPr lang="en">
                <a:solidFill>
                  <a:schemeClr val="dk1"/>
                </a:solidFill>
              </a:rPr>
            </a:br>
            <a:r>
              <a:rPr lang="en">
                <a:solidFill>
                  <a:schemeClr val="dk1"/>
                </a:solidFill>
              </a:rPr>
              <a:t>Solver: HOW to opt</a:t>
            </a:r>
            <a:endParaRPr sz="2300" b="1">
              <a:solidFill>
                <a:schemeClr val="dk1"/>
              </a:solidFill>
            </a:endParaRPr>
          </a:p>
          <a:p>
            <a:pPr marL="0" lvl="0" indent="0" algn="l" rtl="0">
              <a:lnSpc>
                <a:spcPct val="115000"/>
              </a:lnSpc>
              <a:spcBef>
                <a:spcPts val="1200"/>
              </a:spcBef>
              <a:spcAft>
                <a:spcPts val="0"/>
              </a:spcAft>
              <a:buNone/>
            </a:pPr>
            <a:r>
              <a:rPr lang="en"/>
              <a:t>Which combination of regularization model and optimization solver gives the best image deblurring performance? </a:t>
            </a:r>
            <a:endParaRPr/>
          </a:p>
          <a:p>
            <a:pPr marL="0" lvl="0" indent="0" algn="l" rtl="0">
              <a:lnSpc>
                <a:spcPct val="115000"/>
              </a:lnSpc>
              <a:spcBef>
                <a:spcPts val="1200"/>
              </a:spcBef>
              <a:spcAft>
                <a:spcPts val="0"/>
              </a:spcAft>
              <a:buClr>
                <a:schemeClr val="dk1"/>
              </a:buClr>
              <a:buSzPts val="1100"/>
              <a:buFont typeface="Arial"/>
              <a:buNone/>
            </a:pPr>
            <a:endParaRPr/>
          </a:p>
          <a:p>
            <a:pPr marL="0" lvl="0" indent="0" algn="l" rtl="0">
              <a:spcBef>
                <a:spcPts val="120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e64b2b3c40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e64b2b3c4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e64b2b3c40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e64b2b3c40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Paper 3 improves classical TV regularization by introducing a hybrid convex TV penalty that preserves edges, suppresses staircase artifacts, and achieves superior deblurring performance using ADMM optimization. </a:t>
            </a:r>
            <a:br>
              <a:rPr lang="en"/>
            </a:br>
            <a:br>
              <a:rPr lang="en"/>
            </a:br>
            <a:r>
              <a:rPr lang="en"/>
              <a:t>not pure TV, not pure L2. </a:t>
            </a:r>
            <a:br>
              <a:rPr lang="en"/>
            </a:br>
            <a:r>
              <a:rPr lang="en">
                <a:solidFill>
                  <a:schemeClr val="dk1"/>
                </a:solidFill>
              </a:rPr>
              <a:t>AdMM: Because image restoration problems often have: TV norms, L1 penalties, constraints, non-smooth priors</a:t>
            </a:r>
            <a:br>
              <a:rPr lang="en"/>
            </a:br>
            <a:br>
              <a:rPr lang="en"/>
            </a:br>
            <a:r>
              <a:rPr lang="en"/>
              <a:t>we checked that on BSD100 and even text-img, works stablly for both</a:t>
            </a:r>
            <a:br>
              <a:rPr lang="en"/>
            </a:br>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9a599fddad_109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9a599fddad_109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Problem → Model → Difficulty → Solution → Result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“Non-convex” “hard to solve” “three key techniques” “faster convergence”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This Paper Focuses on ___. Given a Blured image Modelled as f = ____.  To solve this, the paper formulates an optimization problem with two terms: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 data fidelity term and a non-convex ℓp regularization term. Here, This ℓp term enforces stronger sparsity for better edge recovery. This ℓp term enforces stronger sparsity for better edge recovery. How Ever The Difficulty is, ℓp (p &lt; 1) is </a:t>
            </a:r>
            <a:r>
              <a:rPr lang="en" b="1">
                <a:solidFill>
                  <a:schemeClr val="dk1"/>
                </a:solidFill>
              </a:rPr>
              <a:t>non-convex Which is </a:t>
            </a:r>
            <a:r>
              <a:rPr lang="en">
                <a:solidFill>
                  <a:schemeClr val="dk1"/>
                </a:solidFill>
              </a:rPr>
              <a:t>Hard to solve directly. To address this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This paper solves it using </a:t>
            </a:r>
            <a:r>
              <a:rPr lang="en" b="1">
                <a:solidFill>
                  <a:schemeClr val="dk1"/>
                </a:solidFill>
              </a:rPr>
              <a:t>3 key techniques</a:t>
            </a:r>
            <a:r>
              <a:rPr lang="en">
                <a:solidFill>
                  <a:schemeClr val="dk1"/>
                </a:solidFill>
              </a:rPr>
              <a: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First, iterative reweighted ℓ1, which approximates the non-convex problem using simpler convex problems. Convert hard ℓp problem → easier ℓ1 problem and Update weights every iteration</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Second, alternating minimization, which splits the problem into smaller subproblems. - Update </a:t>
            </a:r>
            <a:r>
              <a:rPr lang="en" b="1">
                <a:solidFill>
                  <a:schemeClr val="dk1"/>
                </a:solidFill>
              </a:rPr>
              <a:t>z (gradient) , Update u (image)</a:t>
            </a:r>
            <a:endParaRPr b="1">
              <a:solidFill>
                <a:schemeClr val="dk1"/>
              </a:solidFill>
            </a:endParaRPr>
          </a:p>
          <a:p>
            <a:pPr marL="0" lvl="0" indent="0" algn="l" rtl="0">
              <a:spcBef>
                <a:spcPts val="0"/>
              </a:spcBef>
              <a:spcAft>
                <a:spcPts val="0"/>
              </a:spcAft>
              <a:buClr>
                <a:schemeClr val="dk1"/>
              </a:buClr>
              <a:buSzPts val="1100"/>
              <a:buFont typeface="Arial"/>
              <a:buNone/>
            </a:pPr>
            <a:r>
              <a:rPr lang="en" b="1">
                <a:solidFill>
                  <a:schemeClr val="dk1"/>
                </a:solidFill>
              </a:rPr>
              <a:t>👉 Solve them one-by-one instead of together</a:t>
            </a:r>
            <a:endParaRPr b="1">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Third, acceleration using Nesterov momentum in APRIMl1-AM to improve convergence speed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“As a result, the accelerated version ____ and PIRL also Get Good.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PIRL1-AM - An algorithm that solves a non-convex problem by iteratively approximating it using weighted ℓ1 minimization and alternating updates.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APIRL1-AM - An accelerated version of PIRL1-AM that uses momentum to achieve faster convergence.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6 PIRL1-AM Algorithm</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6.1 z-update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6.2 u-update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7 APIRL1-AM(AcceleratedVersion)</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Acceleration is introduced using Nesterov momentum</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e64b2b3c40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e64b2b3c40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Now I will explain Paper 3, which also focuses on Total Variation based image deblurring.</a:t>
            </a:r>
            <a:endParaRPr/>
          </a:p>
          <a:p>
            <a:pPr marL="0" lvl="0" indent="0" algn="l" rtl="0">
              <a:spcBef>
                <a:spcPts val="0"/>
              </a:spcBef>
              <a:spcAft>
                <a:spcPts val="0"/>
              </a:spcAft>
              <a:buClr>
                <a:schemeClr val="dk1"/>
              </a:buClr>
              <a:buSzPts val="1100"/>
              <a:buFont typeface="Arial"/>
              <a:buNone/>
            </a:pPr>
            <a:r>
              <a:rPr lang="en"/>
              <a:t>The optimization model is similar to previous methods, where we minimize two terms:</a:t>
            </a:r>
            <a:endParaRPr/>
          </a:p>
          <a:p>
            <a:pPr marL="0" lvl="0" indent="0" algn="l" rtl="0">
              <a:spcBef>
                <a:spcPts val="0"/>
              </a:spcBef>
              <a:spcAft>
                <a:spcPts val="0"/>
              </a:spcAft>
              <a:buClr>
                <a:schemeClr val="dk1"/>
              </a:buClr>
              <a:buSzPts val="1100"/>
              <a:buFont typeface="Arial"/>
              <a:buNone/>
            </a:pPr>
            <a:r>
              <a:rPr lang="en"/>
              <a:t>a data fidelity term, which ensures the reconstructed image matches the blurred image</a:t>
            </a:r>
            <a:endParaRPr/>
          </a:p>
          <a:p>
            <a:pPr marL="0" lvl="0" indent="0" algn="l" rtl="0">
              <a:spcBef>
                <a:spcPts val="0"/>
              </a:spcBef>
              <a:spcAft>
                <a:spcPts val="0"/>
              </a:spcAft>
              <a:buClr>
                <a:schemeClr val="dk1"/>
              </a:buClr>
              <a:buSzPts val="1100"/>
              <a:buFont typeface="Arial"/>
              <a:buNone/>
            </a:pPr>
            <a:r>
              <a:rPr lang="en"/>
              <a:t>and a TV regularization term, which helps preserve edges while removing noise</a:t>
            </a:r>
            <a:endParaRPr/>
          </a:p>
          <a:p>
            <a:pPr marL="0" lvl="0" indent="0" algn="l" rtl="0">
              <a:spcBef>
                <a:spcPts val="0"/>
              </a:spcBef>
              <a:spcAft>
                <a:spcPts val="0"/>
              </a:spcAft>
              <a:buClr>
                <a:schemeClr val="dk1"/>
              </a:buClr>
              <a:buSzPts val="1100"/>
              <a:buFont typeface="Arial"/>
              <a:buNone/>
            </a:pPr>
            <a:r>
              <a:rPr lang="en"/>
              <a:t>In terms of methodology, this paper uses alternating minimization, where the problem is solved step by step instead of all at once.</a:t>
            </a:r>
            <a:endParaRPr/>
          </a:p>
          <a:p>
            <a:pPr marL="0" lvl="0" indent="0" algn="l" rtl="0">
              <a:spcBef>
                <a:spcPts val="0"/>
              </a:spcBef>
              <a:spcAft>
                <a:spcPts val="0"/>
              </a:spcAft>
              <a:buClr>
                <a:schemeClr val="dk1"/>
              </a:buClr>
              <a:buSzPts val="1100"/>
              <a:buFont typeface="Arial"/>
              <a:buNone/>
            </a:pPr>
            <a:r>
              <a:rPr lang="en"/>
              <a:t>It includes:</a:t>
            </a:r>
            <a:endParaRPr/>
          </a:p>
          <a:p>
            <a:pPr marL="0" lvl="0" indent="0" algn="l" rtl="0">
              <a:spcBef>
                <a:spcPts val="0"/>
              </a:spcBef>
              <a:spcAft>
                <a:spcPts val="0"/>
              </a:spcAft>
              <a:buClr>
                <a:schemeClr val="dk1"/>
              </a:buClr>
              <a:buSzPts val="1100"/>
              <a:buFont typeface="Arial"/>
              <a:buNone/>
            </a:pPr>
            <a:r>
              <a:rPr lang="en"/>
              <a:t>TV regularization for edge preservation</a:t>
            </a:r>
            <a:endParaRPr/>
          </a:p>
          <a:p>
            <a:pPr marL="0" lvl="0" indent="0" algn="l" rtl="0">
              <a:spcBef>
                <a:spcPts val="0"/>
              </a:spcBef>
              <a:spcAft>
                <a:spcPts val="0"/>
              </a:spcAft>
              <a:buClr>
                <a:schemeClr val="dk1"/>
              </a:buClr>
              <a:buSzPts val="1100"/>
              <a:buFont typeface="Arial"/>
              <a:buNone/>
            </a:pPr>
            <a:r>
              <a:rPr lang="en"/>
              <a:t>soft-thresholding to remove noise</a:t>
            </a:r>
            <a:endParaRPr/>
          </a:p>
          <a:p>
            <a:pPr marL="0" lvl="0" indent="0" algn="l" rtl="0">
              <a:spcBef>
                <a:spcPts val="0"/>
              </a:spcBef>
              <a:spcAft>
                <a:spcPts val="0"/>
              </a:spcAft>
              <a:buClr>
                <a:schemeClr val="dk1"/>
              </a:buClr>
              <a:buSzPts val="1100"/>
              <a:buFont typeface="Arial"/>
              <a:buNone/>
            </a:pPr>
            <a:r>
              <a:rPr lang="en"/>
              <a:t>and conjugate gradient to efficiently update the image</a:t>
            </a:r>
            <a:endParaRPr/>
          </a:p>
          <a:p>
            <a:pPr marL="0" lvl="0" indent="0" algn="l" rtl="0">
              <a:spcBef>
                <a:spcPts val="0"/>
              </a:spcBef>
              <a:spcAft>
                <a:spcPts val="0"/>
              </a:spcAft>
              <a:buClr>
                <a:schemeClr val="dk1"/>
              </a:buClr>
              <a:buSzPts val="1100"/>
              <a:buFont typeface="Arial"/>
              <a:buNone/>
            </a:pPr>
            <a:r>
              <a:rPr lang="en"/>
              <a:t>The main contributions of this method are:</a:t>
            </a:r>
            <a:endParaRPr/>
          </a:p>
          <a:p>
            <a:pPr marL="0" lvl="0" indent="0" algn="l" rtl="0">
              <a:spcBef>
                <a:spcPts val="0"/>
              </a:spcBef>
              <a:spcAft>
                <a:spcPts val="0"/>
              </a:spcAft>
              <a:buClr>
                <a:schemeClr val="dk1"/>
              </a:buClr>
              <a:buSzPts val="1100"/>
              <a:buFont typeface="Arial"/>
              <a:buNone/>
            </a:pPr>
            <a:r>
              <a:rPr lang="en"/>
              <a:t>edge-preserving deblurring</a:t>
            </a:r>
            <a:endParaRPr/>
          </a:p>
          <a:p>
            <a:pPr marL="0" lvl="0" indent="0" algn="l" rtl="0">
              <a:spcBef>
                <a:spcPts val="0"/>
              </a:spcBef>
              <a:spcAft>
                <a:spcPts val="0"/>
              </a:spcAft>
              <a:buClr>
                <a:schemeClr val="dk1"/>
              </a:buClr>
              <a:buSzPts val="1100"/>
              <a:buFont typeface="Arial"/>
              <a:buNone/>
            </a:pPr>
            <a:r>
              <a:rPr lang="en"/>
              <a:t>stable convergence due to convex optimization</a:t>
            </a:r>
            <a:endParaRPr/>
          </a:p>
          <a:p>
            <a:pPr marL="0" lvl="0" indent="0" algn="l" rtl="0">
              <a:spcBef>
                <a:spcPts val="0"/>
              </a:spcBef>
              <a:spcAft>
                <a:spcPts val="0"/>
              </a:spcAft>
              <a:buClr>
                <a:schemeClr val="dk1"/>
              </a:buClr>
              <a:buSzPts val="1100"/>
              <a:buFont typeface="Arial"/>
              <a:buNone/>
            </a:pPr>
            <a:r>
              <a:rPr lang="en"/>
              <a:t>and improved PSNR and SSIM values</a:t>
            </a:r>
            <a:endParaRPr/>
          </a:p>
          <a:p>
            <a:pPr marL="0" lvl="0" indent="0" algn="l" rtl="0">
              <a:spcBef>
                <a:spcPts val="0"/>
              </a:spcBef>
              <a:spcAft>
                <a:spcPts val="0"/>
              </a:spcAft>
              <a:buClr>
                <a:schemeClr val="dk1"/>
              </a:buClr>
              <a:buSzPts val="1100"/>
              <a:buFont typeface="Arial"/>
              <a:buNone/>
            </a:pPr>
            <a:r>
              <a:rPr lang="en"/>
              <a:t>So overall, this method provides a stable and effective way to restore images while keeping important details like edges.”</a:t>
            </a:r>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e6342ee061_0_2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e6342ee061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Now I will explain our implementation framework.</a:t>
            </a:r>
            <a:endParaRPr/>
          </a:p>
          <a:p>
            <a:pPr marL="0" lvl="0" indent="0" algn="l" rtl="0">
              <a:spcBef>
                <a:spcPts val="0"/>
              </a:spcBef>
              <a:spcAft>
                <a:spcPts val="0"/>
              </a:spcAft>
              <a:buClr>
                <a:schemeClr val="dk1"/>
              </a:buClr>
              <a:buSzPts val="1100"/>
              <a:buFont typeface="Arial"/>
              <a:buNone/>
            </a:pPr>
            <a:r>
              <a:rPr lang="en"/>
              <a:t>First, we replicated three research papers, which include:</a:t>
            </a:r>
            <a:endParaRPr/>
          </a:p>
          <a:p>
            <a:pPr marL="0" lvl="0" indent="0" algn="l" rtl="0">
              <a:spcBef>
                <a:spcPts val="0"/>
              </a:spcBef>
              <a:spcAft>
                <a:spcPts val="0"/>
              </a:spcAft>
              <a:buClr>
                <a:schemeClr val="dk1"/>
              </a:buClr>
              <a:buSzPts val="1100"/>
              <a:buFont typeface="Arial"/>
              <a:buNone/>
            </a:pPr>
            <a:r>
              <a:rPr lang="en"/>
              <a:t>PIRL1-AM and APIRL1-AM for non-convex optimization</a:t>
            </a:r>
            <a:endParaRPr/>
          </a:p>
          <a:p>
            <a:pPr marL="0" lvl="0" indent="0" algn="l" rtl="0">
              <a:spcBef>
                <a:spcPts val="0"/>
              </a:spcBef>
              <a:spcAft>
                <a:spcPts val="0"/>
              </a:spcAft>
              <a:buClr>
                <a:schemeClr val="dk1"/>
              </a:buClr>
              <a:buSzPts val="1100"/>
              <a:buFont typeface="Arial"/>
              <a:buNone/>
            </a:pPr>
            <a:r>
              <a:rPr lang="en"/>
              <a:t>TV Alternating Minimization</a:t>
            </a:r>
            <a:endParaRPr/>
          </a:p>
          <a:p>
            <a:pPr marL="0" lvl="0" indent="0" algn="l" rtl="0">
              <a:spcBef>
                <a:spcPts val="0"/>
              </a:spcBef>
              <a:spcAft>
                <a:spcPts val="0"/>
              </a:spcAft>
              <a:buClr>
                <a:schemeClr val="dk1"/>
              </a:buClr>
              <a:buSzPts val="1100"/>
              <a:buFont typeface="Arial"/>
              <a:buNone/>
            </a:pPr>
            <a:r>
              <a:rPr lang="en"/>
              <a:t>and Hybrid Convex TV using ADMM</a:t>
            </a:r>
            <a:endParaRPr/>
          </a:p>
          <a:p>
            <a:pPr marL="0" lvl="0" indent="0" algn="l" rtl="0">
              <a:spcBef>
                <a:spcPts val="0"/>
              </a:spcBef>
              <a:spcAft>
                <a:spcPts val="0"/>
              </a:spcAft>
              <a:buClr>
                <a:schemeClr val="dk1"/>
              </a:buClr>
              <a:buSzPts val="1100"/>
              <a:buFont typeface="Arial"/>
              <a:buNone/>
            </a:pPr>
            <a:r>
              <a:rPr lang="en"/>
              <a:t>After that, we extended the work by implementing additional optimization methods for comparison.</a:t>
            </a:r>
            <a:endParaRPr/>
          </a:p>
          <a:p>
            <a:pPr marL="0" lvl="0" indent="0" algn="l" rtl="0">
              <a:spcBef>
                <a:spcPts val="0"/>
              </a:spcBef>
              <a:spcAft>
                <a:spcPts val="0"/>
              </a:spcAft>
              <a:buClr>
                <a:schemeClr val="dk1"/>
              </a:buClr>
              <a:buSzPts val="1100"/>
              <a:buFont typeface="Arial"/>
              <a:buNone/>
            </a:pPr>
            <a:r>
              <a:rPr lang="en"/>
              <a:t>We implemented both L2-based and TV-based models.</a:t>
            </a:r>
            <a:endParaRPr/>
          </a:p>
          <a:p>
            <a:pPr marL="0" lvl="0" indent="0" algn="l" rtl="0">
              <a:spcBef>
                <a:spcPts val="0"/>
              </a:spcBef>
              <a:spcAft>
                <a:spcPts val="0"/>
              </a:spcAft>
              <a:buClr>
                <a:schemeClr val="dk1"/>
              </a:buClr>
              <a:buSzPts val="1100"/>
              <a:buFont typeface="Arial"/>
              <a:buNone/>
            </a:pPr>
            <a:r>
              <a:rPr lang="en"/>
              <a:t>In L2-based methods, we used Gradient Descent and FISTA, which are simple but tend to oversmooth the image.</a:t>
            </a:r>
            <a:endParaRPr/>
          </a:p>
          <a:p>
            <a:pPr marL="0" lvl="0" indent="0" algn="l" rtl="0">
              <a:spcBef>
                <a:spcPts val="0"/>
              </a:spcBef>
              <a:spcAft>
                <a:spcPts val="0"/>
              </a:spcAft>
              <a:buClr>
                <a:schemeClr val="dk1"/>
              </a:buClr>
              <a:buSzPts val="1100"/>
              <a:buFont typeface="Arial"/>
              <a:buNone/>
            </a:pPr>
            <a:r>
              <a:rPr lang="en"/>
              <a:t>In TV-based methods, we used ADMM, FISTA, Primal-Dual, and Split Bregman. These methods preserve edges better and give higher quality results.</a:t>
            </a:r>
            <a:endParaRPr/>
          </a:p>
          <a:p>
            <a:pPr marL="0" lvl="0" indent="0" algn="l" rtl="0">
              <a:spcBef>
                <a:spcPts val="0"/>
              </a:spcBef>
              <a:spcAft>
                <a:spcPts val="0"/>
              </a:spcAft>
              <a:buClr>
                <a:schemeClr val="dk1"/>
              </a:buClr>
              <a:buSzPts val="1100"/>
              <a:buFont typeface="Arial"/>
              <a:buNone/>
            </a:pPr>
            <a:r>
              <a:rPr lang="en"/>
              <a:t>On the right side, we categorized all methods into solver families such as gradient-based, operator splitting, primal-dual, and non-convex methods.</a:t>
            </a:r>
            <a:endParaRPr/>
          </a:p>
          <a:p>
            <a:pPr marL="0" lvl="0" indent="0" algn="l" rtl="0">
              <a:spcBef>
                <a:spcPts val="0"/>
              </a:spcBef>
              <a:spcAft>
                <a:spcPts val="0"/>
              </a:spcAft>
              <a:buClr>
                <a:schemeClr val="dk1"/>
              </a:buClr>
              <a:buSzPts val="1100"/>
              <a:buFont typeface="Arial"/>
              <a:buNone/>
            </a:pPr>
            <a:r>
              <a:rPr lang="en"/>
              <a:t>This framework helped us compare different algorithms on the same deblurring problem.”</a:t>
            </a:r>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e64b2b3c40_0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e64b2b3c40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Now I will explain the datasets and experimental setup for the literature-based implementations.</a:t>
            </a:r>
            <a:endParaRPr/>
          </a:p>
          <a:p>
            <a:pPr marL="0" lvl="0" indent="0" algn="l" rtl="0">
              <a:spcBef>
                <a:spcPts val="0"/>
              </a:spcBef>
              <a:spcAft>
                <a:spcPts val="0"/>
              </a:spcAft>
              <a:buClr>
                <a:schemeClr val="dk1"/>
              </a:buClr>
              <a:buSzPts val="1100"/>
              <a:buFont typeface="Arial"/>
              <a:buNone/>
            </a:pPr>
            <a:r>
              <a:rPr lang="en"/>
              <a:t>For Paper 1, we used the Cameraman benchmark image. The image was degraded using Gaussian blur with a 17 by 17 kernel, sigma equal to 7, and noise level defined by BSNR of 30 dB.</a:t>
            </a:r>
            <a:endParaRPr/>
          </a:p>
          <a:p>
            <a:pPr marL="0" lvl="0" indent="0" algn="l" rtl="0">
              <a:spcBef>
                <a:spcPts val="0"/>
              </a:spcBef>
              <a:spcAft>
                <a:spcPts val="0"/>
              </a:spcAft>
              <a:buClr>
                <a:schemeClr val="dk1"/>
              </a:buClr>
              <a:buSzPts val="1100"/>
              <a:buFont typeface="Arial"/>
              <a:buNone/>
            </a:pPr>
            <a:r>
              <a:rPr lang="en"/>
              <a:t>For Paper 2, we used standard images such as Camera, Coins, and Moon.</a:t>
            </a:r>
            <a:endParaRPr/>
          </a:p>
          <a:p>
            <a:pPr marL="0" lvl="0" indent="0" algn="l" rtl="0">
              <a:spcBef>
                <a:spcPts val="0"/>
              </a:spcBef>
              <a:spcAft>
                <a:spcPts val="0"/>
              </a:spcAft>
              <a:buClr>
                <a:schemeClr val="dk1"/>
              </a:buClr>
              <a:buSzPts val="1100"/>
              <a:buFont typeface="Arial"/>
              <a:buNone/>
            </a:pPr>
            <a:r>
              <a:rPr lang="en"/>
              <a:t>These images were degraded using Gaussian blur and additive noise.</a:t>
            </a:r>
            <a:endParaRPr/>
          </a:p>
          <a:p>
            <a:pPr marL="0" lvl="0" indent="0" algn="l" rtl="0">
              <a:spcBef>
                <a:spcPts val="0"/>
              </a:spcBef>
              <a:spcAft>
                <a:spcPts val="0"/>
              </a:spcAft>
              <a:buClr>
                <a:schemeClr val="dk1"/>
              </a:buClr>
              <a:buSzPts val="1100"/>
              <a:buFont typeface="Arial"/>
              <a:buNone/>
            </a:pPr>
            <a:r>
              <a:rPr lang="en"/>
              <a:t>In implementation:</a:t>
            </a:r>
            <a:endParaRPr/>
          </a:p>
          <a:p>
            <a:pPr marL="0" lvl="0" indent="0" algn="l" rtl="0">
              <a:spcBef>
                <a:spcPts val="0"/>
              </a:spcBef>
              <a:spcAft>
                <a:spcPts val="0"/>
              </a:spcAft>
              <a:buClr>
                <a:schemeClr val="dk1"/>
              </a:buClr>
              <a:buSzPts val="1100"/>
              <a:buFont typeface="Arial"/>
              <a:buNone/>
            </a:pPr>
            <a:r>
              <a:rPr lang="en"/>
              <a:t>we used gradient shrinkage</a:t>
            </a:r>
            <a:endParaRPr/>
          </a:p>
          <a:p>
            <a:pPr marL="0" lvl="0" indent="0" algn="l" rtl="0">
              <a:spcBef>
                <a:spcPts val="0"/>
              </a:spcBef>
              <a:spcAft>
                <a:spcPts val="0"/>
              </a:spcAft>
              <a:buClr>
                <a:schemeClr val="dk1"/>
              </a:buClr>
              <a:buSzPts val="1100"/>
              <a:buFont typeface="Arial"/>
              <a:buNone/>
            </a:pPr>
            <a:r>
              <a:rPr lang="en"/>
              <a:t>conjugate gradient for image updates</a:t>
            </a:r>
            <a:endParaRPr/>
          </a:p>
          <a:p>
            <a:pPr marL="0" lvl="0" indent="0" algn="l" rtl="0">
              <a:spcBef>
                <a:spcPts val="0"/>
              </a:spcBef>
              <a:spcAft>
                <a:spcPts val="0"/>
              </a:spcAft>
              <a:buClr>
                <a:schemeClr val="dk1"/>
              </a:buClr>
              <a:buSzPts val="1100"/>
              <a:buFont typeface="Arial"/>
              <a:buNone/>
            </a:pPr>
            <a:r>
              <a:rPr lang="en"/>
              <a:t>and alternating minimization iterations</a:t>
            </a:r>
            <a:endParaRPr/>
          </a:p>
          <a:p>
            <a:pPr marL="0" lvl="0" indent="0" algn="l" rtl="0">
              <a:spcBef>
                <a:spcPts val="0"/>
              </a:spcBef>
              <a:spcAft>
                <a:spcPts val="0"/>
              </a:spcAft>
              <a:buClr>
                <a:schemeClr val="dk1"/>
              </a:buClr>
              <a:buSzPts val="1100"/>
              <a:buFont typeface="Arial"/>
              <a:buNone/>
            </a:pPr>
            <a:r>
              <a:rPr lang="en"/>
              <a:t>We evaluated performance using PSNR and SSIM, which measure reconstruction quality and structural similarity.”</a:t>
            </a:r>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e64b2b3c40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e64b2b3c40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“Now I will explain the dataset and setup for Paper 3 and our extension.</a:t>
            </a:r>
            <a:endParaRPr/>
          </a:p>
          <a:p>
            <a:pPr marL="0" lvl="0" indent="0" algn="l" rtl="0">
              <a:spcBef>
                <a:spcPts val="0"/>
              </a:spcBef>
              <a:spcAft>
                <a:spcPts val="0"/>
              </a:spcAft>
              <a:buClr>
                <a:schemeClr val="dk1"/>
              </a:buClr>
              <a:buSzPts val="1100"/>
              <a:buFont typeface="Arial"/>
              <a:buNone/>
            </a:pPr>
            <a:r>
              <a:rPr lang="en"/>
              <a:t>For Paper 3, we used two real test images and camera shake blur kernels.</a:t>
            </a:r>
            <a:endParaRPr/>
          </a:p>
          <a:p>
            <a:pPr marL="0" lvl="0" indent="0" algn="l" rtl="0">
              <a:spcBef>
                <a:spcPts val="0"/>
              </a:spcBef>
              <a:spcAft>
                <a:spcPts val="0"/>
              </a:spcAft>
              <a:buClr>
                <a:schemeClr val="dk1"/>
              </a:buClr>
              <a:buSzPts val="1100"/>
              <a:buFont typeface="Arial"/>
              <a:buNone/>
            </a:pPr>
            <a:r>
              <a:rPr lang="en"/>
              <a:t>The setup included:</a:t>
            </a:r>
            <a:endParaRPr/>
          </a:p>
          <a:p>
            <a:pPr marL="0" lvl="0" indent="0" algn="l" rtl="0">
              <a:spcBef>
                <a:spcPts val="0"/>
              </a:spcBef>
              <a:spcAft>
                <a:spcPts val="0"/>
              </a:spcAft>
              <a:buClr>
                <a:schemeClr val="dk1"/>
              </a:buClr>
              <a:buSzPts val="1100"/>
              <a:buFont typeface="Arial"/>
              <a:buNone/>
            </a:pPr>
            <a:r>
              <a:rPr lang="en"/>
              <a:t>Gaussian noise</a:t>
            </a:r>
            <a:endParaRPr/>
          </a:p>
          <a:p>
            <a:pPr marL="0" lvl="0" indent="0" algn="l" rtl="0">
              <a:spcBef>
                <a:spcPts val="0"/>
              </a:spcBef>
              <a:spcAft>
                <a:spcPts val="0"/>
              </a:spcAft>
              <a:buClr>
                <a:schemeClr val="dk1"/>
              </a:buClr>
              <a:buSzPts val="1100"/>
              <a:buFont typeface="Arial"/>
              <a:buNone/>
            </a:pPr>
            <a:r>
              <a:rPr lang="en"/>
              <a:t>and a fixed number of iterations</a:t>
            </a:r>
            <a:endParaRPr/>
          </a:p>
          <a:p>
            <a:pPr marL="0" lvl="0" indent="0" algn="l" rtl="0">
              <a:spcBef>
                <a:spcPts val="0"/>
              </a:spcBef>
              <a:spcAft>
                <a:spcPts val="0"/>
              </a:spcAft>
              <a:buClr>
                <a:schemeClr val="dk1"/>
              </a:buClr>
              <a:buSzPts val="1100"/>
              <a:buFont typeface="Arial"/>
              <a:buNone/>
            </a:pPr>
            <a:r>
              <a:rPr lang="en"/>
              <a:t>We evaluated results using multiple metrics such as PSNR, SSIM, EDR, and MHD.</a:t>
            </a:r>
            <a:endParaRPr/>
          </a:p>
          <a:p>
            <a:pPr marL="0" lvl="0" indent="0" algn="l" rtl="0">
              <a:spcBef>
                <a:spcPts val="0"/>
              </a:spcBef>
              <a:spcAft>
                <a:spcPts val="0"/>
              </a:spcAft>
              <a:buClr>
                <a:schemeClr val="dk1"/>
              </a:buClr>
              <a:buSzPts val="1100"/>
              <a:buFont typeface="Arial"/>
              <a:buNone/>
            </a:pPr>
            <a:r>
              <a:rPr lang="en"/>
              <a:t>In addition to literature experiments, we introduced our own synthetic benchmark.</a:t>
            </a:r>
            <a:endParaRPr/>
          </a:p>
          <a:p>
            <a:pPr marL="0" lvl="0" indent="0" algn="l" rtl="0">
              <a:spcBef>
                <a:spcPts val="0"/>
              </a:spcBef>
              <a:spcAft>
                <a:spcPts val="0"/>
              </a:spcAft>
              <a:buClr>
                <a:schemeClr val="dk1"/>
              </a:buClr>
              <a:buSzPts val="1100"/>
              <a:buFont typeface="Arial"/>
              <a:buNone/>
            </a:pPr>
            <a:r>
              <a:rPr lang="en"/>
              <a:t>We created different synthetic images like:</a:t>
            </a:r>
            <a:endParaRPr/>
          </a:p>
          <a:p>
            <a:pPr marL="0" lvl="0" indent="0" algn="l" rtl="0">
              <a:spcBef>
                <a:spcPts val="0"/>
              </a:spcBef>
              <a:spcAft>
                <a:spcPts val="0"/>
              </a:spcAft>
              <a:buClr>
                <a:schemeClr val="dk1"/>
              </a:buClr>
              <a:buSzPts val="1100"/>
              <a:buFont typeface="Arial"/>
              <a:buNone/>
            </a:pPr>
            <a:r>
              <a:rPr lang="en"/>
              <a:t>checkerboard</a:t>
            </a:r>
            <a:endParaRPr/>
          </a:p>
          <a:p>
            <a:pPr marL="0" lvl="0" indent="0" algn="l" rtl="0">
              <a:spcBef>
                <a:spcPts val="0"/>
              </a:spcBef>
              <a:spcAft>
                <a:spcPts val="0"/>
              </a:spcAft>
              <a:buClr>
                <a:schemeClr val="dk1"/>
              </a:buClr>
              <a:buSzPts val="1100"/>
              <a:buFont typeface="Arial"/>
              <a:buNone/>
            </a:pPr>
            <a:r>
              <a:rPr lang="en"/>
              <a:t>circular waves</a:t>
            </a:r>
            <a:endParaRPr/>
          </a:p>
          <a:p>
            <a:pPr marL="0" lvl="0" indent="0" algn="l" rtl="0">
              <a:spcBef>
                <a:spcPts val="0"/>
              </a:spcBef>
              <a:spcAft>
                <a:spcPts val="0"/>
              </a:spcAft>
              <a:buClr>
                <a:schemeClr val="dk1"/>
              </a:buClr>
              <a:buSzPts val="1100"/>
              <a:buFont typeface="Arial"/>
              <a:buNone/>
            </a:pPr>
            <a:r>
              <a:rPr lang="en"/>
              <a:t>rectangles</a:t>
            </a:r>
            <a:endParaRPr/>
          </a:p>
          <a:p>
            <a:pPr marL="0" lvl="0" indent="0" algn="l" rtl="0">
              <a:spcBef>
                <a:spcPts val="0"/>
              </a:spcBef>
              <a:spcAft>
                <a:spcPts val="0"/>
              </a:spcAft>
              <a:buClr>
                <a:schemeClr val="dk1"/>
              </a:buClr>
              <a:buSzPts val="1100"/>
              <a:buFont typeface="Arial"/>
              <a:buNone/>
            </a:pPr>
            <a:r>
              <a:rPr lang="en"/>
              <a:t>gradient</a:t>
            </a:r>
            <a:endParaRPr/>
          </a:p>
          <a:p>
            <a:pPr marL="0" lvl="0" indent="0" algn="l" rtl="0">
              <a:spcBef>
                <a:spcPts val="0"/>
              </a:spcBef>
              <a:spcAft>
                <a:spcPts val="0"/>
              </a:spcAft>
              <a:buClr>
                <a:schemeClr val="dk1"/>
              </a:buClr>
              <a:buSzPts val="1100"/>
              <a:buFont typeface="Arial"/>
              <a:buNone/>
            </a:pPr>
            <a:r>
              <a:rPr lang="en"/>
              <a:t>and random shapes</a:t>
            </a:r>
            <a:endParaRPr/>
          </a:p>
          <a:p>
            <a:pPr marL="0" lvl="0" indent="0" algn="l" rtl="0">
              <a:spcBef>
                <a:spcPts val="0"/>
              </a:spcBef>
              <a:spcAft>
                <a:spcPts val="0"/>
              </a:spcAft>
              <a:buClr>
                <a:schemeClr val="dk1"/>
              </a:buClr>
              <a:buSzPts val="1100"/>
              <a:buFont typeface="Arial"/>
              <a:buNone/>
            </a:pPr>
            <a:r>
              <a:rPr lang="en"/>
              <a:t>These were degraded using Gaussian blur and noise.</a:t>
            </a:r>
            <a:endParaRPr/>
          </a:p>
          <a:p>
            <a:pPr marL="0" lvl="0" indent="0" algn="l" rtl="0">
              <a:spcBef>
                <a:spcPts val="0"/>
              </a:spcBef>
              <a:spcAft>
                <a:spcPts val="0"/>
              </a:spcAft>
              <a:buClr>
                <a:schemeClr val="dk1"/>
              </a:buClr>
              <a:buSzPts val="1100"/>
              <a:buFont typeface="Arial"/>
              <a:buNone/>
            </a:pPr>
            <a:r>
              <a:rPr lang="en"/>
              <a:t>We tested multiple solvers including:</a:t>
            </a:r>
            <a:endParaRPr/>
          </a:p>
          <a:p>
            <a:pPr marL="0" lvl="0" indent="0" algn="l" rtl="0">
              <a:spcBef>
                <a:spcPts val="0"/>
              </a:spcBef>
              <a:spcAft>
                <a:spcPts val="0"/>
              </a:spcAft>
              <a:buClr>
                <a:schemeClr val="dk1"/>
              </a:buClr>
              <a:buSzPts val="1100"/>
              <a:buFont typeface="Arial"/>
              <a:buNone/>
            </a:pPr>
            <a:r>
              <a:rPr lang="en"/>
              <a:t>L2 methods like GD and FISTA</a:t>
            </a:r>
            <a:endParaRPr/>
          </a:p>
          <a:p>
            <a:pPr marL="0" lvl="0" indent="0" algn="l" rtl="0">
              <a:spcBef>
                <a:spcPts val="0"/>
              </a:spcBef>
              <a:spcAft>
                <a:spcPts val="0"/>
              </a:spcAft>
              <a:buClr>
                <a:schemeClr val="dk1"/>
              </a:buClr>
              <a:buSzPts val="1100"/>
              <a:buFont typeface="Arial"/>
              <a:buNone/>
            </a:pPr>
            <a:r>
              <a:rPr lang="en"/>
              <a:t>and TV-based methods like ADMM, FISTA, Primal-Dual, and Split Bregman</a:t>
            </a:r>
            <a:endParaRPr/>
          </a:p>
          <a:p>
            <a:pPr marL="0" lvl="0" indent="0" algn="l" rtl="0">
              <a:spcBef>
                <a:spcPts val="0"/>
              </a:spcBef>
              <a:spcAft>
                <a:spcPts val="0"/>
              </a:spcAft>
              <a:buClr>
                <a:schemeClr val="dk1"/>
              </a:buClr>
              <a:buSzPts val="1100"/>
              <a:buFont typeface="Arial"/>
              <a:buNone/>
            </a:pPr>
            <a:r>
              <a:rPr lang="en"/>
              <a:t>Finally, we evaluated all methods using:</a:t>
            </a:r>
            <a:endParaRPr/>
          </a:p>
          <a:p>
            <a:pPr marL="0" lvl="0" indent="0" algn="l" rtl="0">
              <a:spcBef>
                <a:spcPts val="0"/>
              </a:spcBef>
              <a:spcAft>
                <a:spcPts val="0"/>
              </a:spcAft>
              <a:buClr>
                <a:schemeClr val="dk1"/>
              </a:buClr>
              <a:buSzPts val="1100"/>
              <a:buFont typeface="Arial"/>
              <a:buNone/>
            </a:pPr>
            <a:r>
              <a:rPr lang="en"/>
              <a:t>PSNR</a:t>
            </a:r>
            <a:endParaRPr/>
          </a:p>
          <a:p>
            <a:pPr marL="0" lvl="0" indent="0" algn="l" rtl="0">
              <a:spcBef>
                <a:spcPts val="0"/>
              </a:spcBef>
              <a:spcAft>
                <a:spcPts val="0"/>
              </a:spcAft>
              <a:buClr>
                <a:schemeClr val="dk1"/>
              </a:buClr>
              <a:buSzPts val="1100"/>
              <a:buFont typeface="Arial"/>
              <a:buNone/>
            </a:pPr>
            <a:r>
              <a:rPr lang="en"/>
              <a:t>SSIM</a:t>
            </a:r>
            <a:endParaRPr/>
          </a:p>
          <a:p>
            <a:pPr marL="0" lvl="0" indent="0" algn="l" rtl="0">
              <a:spcBef>
                <a:spcPts val="0"/>
              </a:spcBef>
              <a:spcAft>
                <a:spcPts val="0"/>
              </a:spcAft>
              <a:buClr>
                <a:schemeClr val="dk1"/>
              </a:buClr>
              <a:buSzPts val="1100"/>
              <a:buFont typeface="Arial"/>
              <a:buNone/>
            </a:pPr>
            <a:r>
              <a:rPr lang="en"/>
              <a:t>convergence curves</a:t>
            </a:r>
            <a:endParaRPr/>
          </a:p>
          <a:p>
            <a:pPr marL="0" lvl="0" indent="0" algn="l" rtl="0">
              <a:spcBef>
                <a:spcPts val="0"/>
              </a:spcBef>
              <a:spcAft>
                <a:spcPts val="0"/>
              </a:spcAft>
              <a:buClr>
                <a:schemeClr val="dk1"/>
              </a:buClr>
              <a:buSzPts val="1100"/>
              <a:buFont typeface="Arial"/>
              <a:buNone/>
            </a:pPr>
            <a:r>
              <a:rPr lang="en"/>
              <a:t>and objective value reduction</a:t>
            </a:r>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e64b2b3c40_0_1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e64b2b3c40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9a599fdda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9a599fdda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2400"/>
              </a:spcBef>
              <a:spcAft>
                <a:spcPts val="0"/>
              </a:spcAft>
              <a:buClr>
                <a:schemeClr val="dk1"/>
              </a:buClr>
              <a:buSzPts val="1100"/>
              <a:buFont typeface="Arial"/>
              <a:buNone/>
            </a:pPr>
            <a:r>
              <a:rPr lang="en" sz="2300" b="1">
                <a:solidFill>
                  <a:schemeClr val="dk1"/>
                </a:solidFill>
              </a:rPr>
              <a:t>Why use primal-dual?</a:t>
            </a: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TV term is nonsmooth.                                                     </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Hard to optimize directly.</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Primal-dual handles: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nonsmoothness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constraints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large-scale convex problems</a:t>
            </a:r>
            <a:endParaRPr>
              <a:solidFill>
                <a:schemeClr val="dk1"/>
              </a:solidFill>
            </a:endParaRPr>
          </a:p>
          <a:p>
            <a:pPr marL="0" lvl="0" indent="0" algn="l" rtl="0">
              <a:lnSpc>
                <a:spcPct val="115000"/>
              </a:lnSpc>
              <a:spcBef>
                <a:spcPts val="1200"/>
              </a:spcBef>
              <a:spcAft>
                <a:spcPts val="0"/>
              </a:spcAft>
              <a:buNone/>
            </a:pPr>
            <a:r>
              <a:rPr lang="en">
                <a:solidFill>
                  <a:schemeClr val="dk1"/>
                </a:solidFill>
              </a:rPr>
              <a:t>Efficiently.  </a:t>
            </a: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800"/>
              </a:spcBef>
              <a:spcAft>
                <a:spcPts val="0"/>
              </a:spcAft>
              <a:buNone/>
            </a:pPr>
            <a:r>
              <a:rPr lang="en" sz="1700" b="1">
                <a:solidFill>
                  <a:schemeClr val="dk1"/>
                </a:solidFill>
              </a:rPr>
              <a:t>1 Dual update</a:t>
            </a:r>
            <a:endParaRPr sz="1700" b="1">
              <a:solidFill>
                <a:schemeClr val="dk1"/>
              </a:solidFill>
            </a:endParaRPr>
          </a:p>
          <a:p>
            <a:pPr marL="0" lvl="0" indent="0" algn="l" rtl="0">
              <a:lnSpc>
                <a:spcPct val="115000"/>
              </a:lnSpc>
              <a:spcBef>
                <a:spcPts val="1200"/>
              </a:spcBef>
              <a:spcAft>
                <a:spcPts val="0"/>
              </a:spcAft>
              <a:buNone/>
            </a:pPr>
            <a:r>
              <a:rPr lang="en">
                <a:solidFill>
                  <a:schemeClr val="dk1"/>
                </a:solidFill>
              </a:rPr>
              <a:t>Updates edge/dual variable.</a:t>
            </a:r>
            <a:endParaRPr>
              <a:solidFill>
                <a:schemeClr val="dk1"/>
              </a:solidFill>
            </a:endParaRPr>
          </a:p>
          <a:p>
            <a:pPr marL="0" lvl="0" indent="0" algn="l" rtl="0">
              <a:lnSpc>
                <a:spcPct val="115000"/>
              </a:lnSpc>
              <a:spcBef>
                <a:spcPts val="1200"/>
              </a:spcBef>
              <a:spcAft>
                <a:spcPts val="0"/>
              </a:spcAft>
              <a:buNone/>
            </a:pPr>
            <a:r>
              <a:rPr lang="en">
                <a:solidFill>
                  <a:schemeClr val="dk1"/>
                </a:solidFill>
              </a:rPr>
              <a:t>Projection enforces constraints</a:t>
            </a:r>
            <a:endParaRPr>
              <a:solidFill>
                <a:schemeClr val="dk1"/>
              </a:solidFill>
            </a:endParaRPr>
          </a:p>
          <a:p>
            <a:pPr marL="0" lvl="0" indent="0" algn="l" rtl="0">
              <a:lnSpc>
                <a:spcPct val="115000"/>
              </a:lnSpc>
              <a:spcBef>
                <a:spcPts val="1800"/>
              </a:spcBef>
              <a:spcAft>
                <a:spcPts val="0"/>
              </a:spcAft>
              <a:buNone/>
            </a:pPr>
            <a:r>
              <a:rPr lang="en" sz="1700" b="1">
                <a:solidFill>
                  <a:schemeClr val="dk1"/>
                </a:solidFill>
              </a:rPr>
              <a:t>2 Primal update</a:t>
            </a:r>
            <a:endParaRPr sz="1700" b="1">
              <a:solidFill>
                <a:schemeClr val="dk1"/>
              </a:solidFill>
            </a:endParaRPr>
          </a:p>
          <a:p>
            <a:pPr marL="0" lvl="0" indent="0" algn="l" rtl="0">
              <a:lnSpc>
                <a:spcPct val="115000"/>
              </a:lnSpc>
              <a:spcBef>
                <a:spcPts val="1200"/>
              </a:spcBef>
              <a:spcAft>
                <a:spcPts val="0"/>
              </a:spcAft>
              <a:buNone/>
            </a:pPr>
            <a:r>
              <a:rPr lang="en">
                <a:solidFill>
                  <a:schemeClr val="dk1"/>
                </a:solidFill>
              </a:rPr>
              <a:t>Updates reconstructed image.</a:t>
            </a:r>
            <a:endParaRPr>
              <a:solidFill>
                <a:schemeClr val="dk1"/>
              </a:solidFill>
            </a:endParaRPr>
          </a:p>
          <a:p>
            <a:pPr marL="0" lvl="0" indent="0" algn="l" rtl="0">
              <a:lnSpc>
                <a:spcPct val="115000"/>
              </a:lnSpc>
              <a:spcBef>
                <a:spcPts val="1800"/>
              </a:spcBef>
              <a:spcAft>
                <a:spcPts val="0"/>
              </a:spcAft>
              <a:buNone/>
            </a:pPr>
            <a:r>
              <a:rPr lang="en" sz="1700" b="1">
                <a:solidFill>
                  <a:schemeClr val="dk1"/>
                </a:solidFill>
              </a:rPr>
              <a:t>3 Extrapolation</a:t>
            </a:r>
            <a:endParaRPr sz="1700" b="1">
              <a:solidFill>
                <a:schemeClr val="dk1"/>
              </a:solidFill>
            </a:endParaRPr>
          </a:p>
          <a:p>
            <a:pPr marL="0" lvl="0" indent="0" algn="l" rtl="0">
              <a:lnSpc>
                <a:spcPct val="115000"/>
              </a:lnSpc>
              <a:spcBef>
                <a:spcPts val="1200"/>
              </a:spcBef>
              <a:spcAft>
                <a:spcPts val="0"/>
              </a:spcAft>
              <a:buNone/>
            </a:pPr>
            <a:r>
              <a:rPr lang="en">
                <a:solidFill>
                  <a:schemeClr val="dk1"/>
                </a:solidFill>
              </a:rPr>
              <a:t>Acceleration step.</a:t>
            </a:r>
            <a:endParaRPr>
              <a:solidFill>
                <a:schemeClr val="dk1"/>
              </a:solidFill>
            </a:endParaRPr>
          </a:p>
          <a:p>
            <a:pPr marL="0" lvl="0" indent="0" algn="l" rtl="0">
              <a:lnSpc>
                <a:spcPct val="115000"/>
              </a:lnSpc>
              <a:spcBef>
                <a:spcPts val="1200"/>
              </a:spcBef>
              <a:spcAft>
                <a:spcPts val="0"/>
              </a:spcAft>
              <a:buNone/>
            </a:pPr>
            <a:r>
              <a:rPr lang="en">
                <a:solidFill>
                  <a:schemeClr val="dk1"/>
                </a:solidFill>
              </a:rPr>
              <a:t>Repeat until convergence.</a:t>
            </a:r>
            <a:endParaRPr>
              <a:solidFill>
                <a:schemeClr val="dk1"/>
              </a:solidFill>
            </a:endParaRPr>
          </a:p>
          <a:p>
            <a:pPr marL="0" lvl="0" indent="0" algn="l" rtl="0">
              <a:lnSpc>
                <a:spcPct val="115000"/>
              </a:lnSpc>
              <a:spcBef>
                <a:spcPts val="1200"/>
              </a:spcBef>
              <a:spcAft>
                <a:spcPts val="0"/>
              </a:spcAft>
              <a:buNone/>
            </a:pPr>
            <a:r>
              <a:rPr lang="en">
                <a:solidFill>
                  <a:schemeClr val="dk1"/>
                </a:solidFill>
              </a:rPr>
              <a:t>That is the solve</a:t>
            </a:r>
            <a:endParaRPr>
              <a:solidFill>
                <a:schemeClr val="dk1"/>
              </a:solidFill>
            </a:endParaRPr>
          </a:p>
          <a:p>
            <a:pPr marL="0" lvl="0" indent="0" algn="l" rtl="0">
              <a:lnSpc>
                <a:spcPct val="115000"/>
              </a:lnSpc>
              <a:spcBef>
                <a:spcPts val="1200"/>
              </a:spcBef>
              <a:spcAft>
                <a:spcPts val="0"/>
              </a:spcAft>
              <a:buNone/>
            </a:pPr>
            <a:r>
              <a:rPr lang="en">
                <a:solidFill>
                  <a:schemeClr val="dk1"/>
                </a:solidFill>
              </a:rPr>
              <a:t>where we minimize over the primal variable and maximize over the dual variable.</a:t>
            </a:r>
            <a:br>
              <a:rPr lang="en">
                <a:solidFill>
                  <a:schemeClr val="dk1"/>
                </a:solidFill>
              </a:rPr>
            </a:br>
            <a:r>
              <a:rPr lang="en">
                <a:solidFill>
                  <a:schemeClr val="dk1"/>
                </a:solidFill>
              </a:rPr>
              <a:t> The primal is minimized because it is the original reconstruction objective, while the dual is maximized to enforce constraints through duality.</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A </a:t>
            </a:r>
            <a:r>
              <a:rPr lang="en" b="1">
                <a:solidFill>
                  <a:schemeClr val="dk1"/>
                </a:solidFill>
              </a:rPr>
              <a:t>saddle point</a:t>
            </a:r>
            <a:r>
              <a:rPr lang="en">
                <a:solidFill>
                  <a:schemeClr val="dk1"/>
                </a:solidFill>
              </a:rPr>
              <a:t> is the equilibrium where the image reconstruction objective is minimized while the dual constraints are maximized; Chambolle–Pock iteratively finds this point.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Main update steps are: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dual projection update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primal image update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extrapolation (acceleration) step</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This method is useful because it handles </a:t>
            </a:r>
            <a:r>
              <a:rPr lang="en" b="1">
                <a:solidFill>
                  <a:schemeClr val="dk1"/>
                </a:solidFill>
              </a:rPr>
              <a:t>nonsmooth convex optimization</a:t>
            </a:r>
            <a:r>
              <a:rPr lang="en">
                <a:solidFill>
                  <a:schemeClr val="dk1"/>
                </a:solidFill>
              </a:rPr>
              <a:t>, especially TV regularization, very efficiently.</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We added this as an extension to compare another modern first-order solver against ADMM, FISTA, and Split Bregman.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From our results, TV + Primal-Dual gave stable performance and served as a strong benchmark, though TV-FISTA achieved better PSNR and SSIM.</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Key takeaway:</a:t>
            </a:r>
            <a:br>
              <a:rPr lang="en">
                <a:solidFill>
                  <a:schemeClr val="dk1"/>
                </a:solidFill>
              </a:rPr>
            </a:br>
            <a:r>
              <a:rPr lang="en">
                <a:solidFill>
                  <a:schemeClr val="dk1"/>
                </a:solidFill>
              </a:rPr>
              <a:t> </a:t>
            </a:r>
            <a:r>
              <a:rPr lang="en" b="1">
                <a:solidFill>
                  <a:schemeClr val="dk1"/>
                </a:solidFill>
              </a:rPr>
              <a:t>Primal variable reconstructs the image, dual variable enforces edge regularization, and their coupled saddle-point optimization gives an efficient solver for TV deblurring.</a:t>
            </a:r>
            <a:endParaRPr b="1">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9a599fddad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39a599fdda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Perfect — use these in speaker notes:</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Why TV-FISTA Performs Best</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Edge-preserving TV regularization</a:t>
            </a:r>
            <a:r>
              <a:rPr lang="en">
                <a:solidFill>
                  <a:schemeClr val="dk1"/>
                </a:solidFill>
              </a:rPr>
              <a:t> promotes sparse gradients and preserves important image details better than L2 methods.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FISTA’s accelerated convergence</a:t>
            </a:r>
            <a:r>
              <a:rPr lang="en">
                <a:solidFill>
                  <a:schemeClr val="dk1"/>
                </a:solidFill>
              </a:rPr>
              <a:t> ((O(1/k^2))) reaches high-quality solutions faster than standard gradient-based methods.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Combination of strong regularizer and efficient solver</a:t>
            </a:r>
            <a:r>
              <a:rPr lang="en">
                <a:solidFill>
                  <a:schemeClr val="dk1"/>
                </a:solidFill>
              </a:rPr>
              <a:t> creates a synergistic effect, improving both reconstruction quality and convergence.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Proximal updates in FISTA handle the nonsmooth TV term effectively</a:t>
            </a:r>
            <a:r>
              <a:rPr lang="en">
                <a:solidFill>
                  <a:schemeClr val="dk1"/>
                </a:solidFill>
              </a:rPr>
              <a:t>, leading to stable optimization and reduced artifacts.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Higher PSNR and SSIM in our results</a:t>
            </a:r>
            <a:r>
              <a:rPr lang="en">
                <a:solidFill>
                  <a:schemeClr val="dk1"/>
                </a:solidFill>
              </a:rPr>
              <a:t> show TV-FISTA achieves the best balance between noise suppression, edge preservation, and computational efficiency.</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e64b2b3c40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e64b2b3c40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e64b2b3c40_0_1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e64b2b3c40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e6342ee061_0_2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e6342ee061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e6342ee061_0_3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e6342ee061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sz="3600">
                <a:latin typeface="Cambria"/>
                <a:ea typeface="Cambria"/>
                <a:cs typeface="Cambria"/>
                <a:sym typeface="Cambria"/>
              </a:rPr>
              <a:t>Comparative Analysis of Convex Regularization and First-Order Optimization Methods for Image Deblurring </a:t>
            </a:r>
            <a:endParaRPr sz="3600">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p:nvPr/>
        </p:nvSpPr>
        <p:spPr>
          <a:xfrm>
            <a:off x="381000" y="285750"/>
            <a:ext cx="8382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3200" b="1">
                <a:solidFill>
                  <a:srgbClr val="212121"/>
                </a:solidFill>
                <a:latin typeface="Arial"/>
                <a:ea typeface="Arial"/>
                <a:cs typeface="Arial"/>
                <a:sym typeface="Arial"/>
              </a:rPr>
              <a:t>Introduction to Image Deblurring</a:t>
            </a:r>
            <a:endParaRPr sz="3200" b="1">
              <a:solidFill>
                <a:srgbClr val="212121"/>
              </a:solidFill>
              <a:latin typeface="Arial"/>
              <a:ea typeface="Arial"/>
              <a:cs typeface="Arial"/>
              <a:sym typeface="Arial"/>
            </a:endParaRPr>
          </a:p>
        </p:txBody>
      </p:sp>
      <p:grpSp>
        <p:nvGrpSpPr>
          <p:cNvPr id="61" name="Google Shape;61;p14"/>
          <p:cNvGrpSpPr/>
          <p:nvPr/>
        </p:nvGrpSpPr>
        <p:grpSpPr>
          <a:xfrm>
            <a:off x="381000" y="1047750"/>
            <a:ext cx="4000500" cy="1714500"/>
            <a:chOff x="381000" y="1047750"/>
            <a:chExt cx="4000500" cy="1714500"/>
          </a:xfrm>
        </p:grpSpPr>
        <p:sp>
          <p:nvSpPr>
            <p:cNvPr id="62" name="Google Shape;62;p14"/>
            <p:cNvSpPr/>
            <p:nvPr/>
          </p:nvSpPr>
          <p:spPr>
            <a:xfrm>
              <a:off x="381000" y="1047750"/>
              <a:ext cx="4000500" cy="1714500"/>
            </a:xfrm>
            <a:prstGeom prst="roundRect">
              <a:avLst>
                <a:gd name="adj" fmla="val 6666"/>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 name="Google Shape;63;p14"/>
            <p:cNvSpPr txBox="1"/>
            <p:nvPr/>
          </p:nvSpPr>
          <p:spPr>
            <a:xfrm>
              <a:off x="571500" y="1238250"/>
              <a:ext cx="3619500" cy="1333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90" b="1">
                  <a:solidFill>
                    <a:srgbClr val="1A73E8"/>
                  </a:solidFill>
                  <a:latin typeface="Arial"/>
                  <a:ea typeface="Arial"/>
                  <a:cs typeface="Arial"/>
                  <a:sym typeface="Arial"/>
                </a:rPr>
                <a:t>Core Concept</a:t>
              </a:r>
              <a:endParaRPr sz="1190" b="1">
                <a:solidFill>
                  <a:srgbClr val="1A73E8"/>
                </a:solidFill>
                <a:latin typeface="Arial"/>
                <a:ea typeface="Arial"/>
                <a:cs typeface="Arial"/>
                <a:sym typeface="Arial"/>
              </a:endParaRPr>
            </a:p>
            <a:p>
              <a:pPr marL="0" lvl="0" indent="0" algn="l" rtl="0">
                <a:spcBef>
                  <a:spcPts val="900"/>
                </a:spcBef>
                <a:spcAft>
                  <a:spcPts val="0"/>
                </a:spcAft>
                <a:buNone/>
              </a:pPr>
              <a:r>
                <a:rPr lang="en" sz="1190">
                  <a:solidFill>
                    <a:srgbClr val="424242"/>
                  </a:solidFill>
                  <a:latin typeface="Arial"/>
                  <a:ea typeface="Arial"/>
                  <a:cs typeface="Arial"/>
                  <a:sym typeface="Arial"/>
                </a:rPr>
                <a:t>Image deblurring is a classical </a:t>
              </a:r>
              <a:r>
                <a:rPr lang="en" sz="1190" b="1">
                  <a:solidFill>
                    <a:srgbClr val="D93025"/>
                  </a:solidFill>
                  <a:latin typeface="Arial"/>
                  <a:ea typeface="Arial"/>
                  <a:cs typeface="Arial"/>
                  <a:sym typeface="Arial"/>
                </a:rPr>
                <a:t>ill-posed inverse problem</a:t>
              </a:r>
              <a:r>
                <a:rPr lang="en" sz="1190">
                  <a:solidFill>
                    <a:srgbClr val="424242"/>
                  </a:solidFill>
                  <a:latin typeface="Arial"/>
                  <a:ea typeface="Arial"/>
                  <a:cs typeface="Arial"/>
                  <a:sym typeface="Arial"/>
                </a:rPr>
                <a:t>.</a:t>
              </a:r>
              <a:endParaRPr sz="1190">
                <a:solidFill>
                  <a:srgbClr val="424242"/>
                </a:solidFill>
                <a:latin typeface="Arial"/>
                <a:ea typeface="Arial"/>
                <a:cs typeface="Arial"/>
                <a:sym typeface="Arial"/>
              </a:endParaRPr>
            </a:p>
            <a:p>
              <a:pPr marL="0" lvl="0" indent="0" algn="l" rtl="0">
                <a:spcBef>
                  <a:spcPts val="750"/>
                </a:spcBef>
                <a:spcAft>
                  <a:spcPts val="0"/>
                </a:spcAft>
                <a:buNone/>
              </a:pPr>
              <a:r>
                <a:rPr lang="en" sz="1190" b="1">
                  <a:solidFill>
                    <a:srgbClr val="424242"/>
                  </a:solidFill>
                  <a:latin typeface="Arial"/>
                  <a:ea typeface="Arial"/>
                  <a:cs typeface="Arial"/>
                  <a:sym typeface="Arial"/>
                </a:rPr>
                <a:t>Goal:</a:t>
              </a:r>
              <a:endParaRPr sz="1190" b="1">
                <a:solidFill>
                  <a:srgbClr val="424242"/>
                </a:solidFill>
                <a:latin typeface="Arial"/>
                <a:ea typeface="Arial"/>
                <a:cs typeface="Arial"/>
                <a:sym typeface="Arial"/>
              </a:endParaRPr>
            </a:p>
            <a:p>
              <a:pPr marL="0" lvl="0" indent="0" algn="l" rtl="0">
                <a:spcBef>
                  <a:spcPts val="0"/>
                </a:spcBef>
                <a:spcAft>
                  <a:spcPts val="0"/>
                </a:spcAft>
                <a:buNone/>
              </a:pPr>
              <a:r>
                <a:rPr lang="en" sz="1190">
                  <a:solidFill>
                    <a:srgbClr val="424242"/>
                  </a:solidFill>
                  <a:latin typeface="Arial"/>
                  <a:ea typeface="Arial"/>
                  <a:cs typeface="Arial"/>
                  <a:sym typeface="Arial"/>
                </a:rPr>
                <a:t>Recover sharp image from blurred and noisy observation.</a:t>
              </a:r>
              <a:endParaRPr sz="1190">
                <a:solidFill>
                  <a:srgbClr val="424242"/>
                </a:solidFill>
                <a:latin typeface="Arial"/>
                <a:ea typeface="Arial"/>
                <a:cs typeface="Arial"/>
                <a:sym typeface="Arial"/>
              </a:endParaRPr>
            </a:p>
          </p:txBody>
        </p:sp>
      </p:grpSp>
      <p:grpSp>
        <p:nvGrpSpPr>
          <p:cNvPr id="64" name="Google Shape;64;p14"/>
          <p:cNvGrpSpPr/>
          <p:nvPr/>
        </p:nvGrpSpPr>
        <p:grpSpPr>
          <a:xfrm>
            <a:off x="381000" y="2952750"/>
            <a:ext cx="4000500" cy="1333500"/>
            <a:chOff x="381000" y="2952750"/>
            <a:chExt cx="4000500" cy="952500"/>
          </a:xfrm>
        </p:grpSpPr>
        <p:sp>
          <p:nvSpPr>
            <p:cNvPr id="65" name="Google Shape;65;p14"/>
            <p:cNvSpPr/>
            <p:nvPr/>
          </p:nvSpPr>
          <p:spPr>
            <a:xfrm>
              <a:off x="381000" y="2952750"/>
              <a:ext cx="4000500" cy="952500"/>
            </a:xfrm>
            <a:prstGeom prst="roundRect">
              <a:avLst>
                <a:gd name="adj" fmla="val 12000"/>
              </a:avLst>
            </a:prstGeom>
            <a:solidFill>
              <a:srgbClr val="E8F0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 name="Google Shape;66;p14"/>
            <p:cNvSpPr txBox="1"/>
            <p:nvPr/>
          </p:nvSpPr>
          <p:spPr>
            <a:xfrm>
              <a:off x="571500" y="3095625"/>
              <a:ext cx="3619500" cy="666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0">
                  <a:solidFill>
                    <a:srgbClr val="5F6368"/>
                  </a:solidFill>
                  <a:latin typeface="Arial"/>
                  <a:ea typeface="Arial"/>
                  <a:cs typeface="Arial"/>
                  <a:sym typeface="Arial"/>
                </a:rPr>
                <a:t>Forward Model</a:t>
              </a:r>
              <a:endParaRPr sz="1200" b="0">
                <a:solidFill>
                  <a:srgbClr val="5F6368"/>
                </a:solidFill>
                <a:latin typeface="Arial"/>
                <a:ea typeface="Arial"/>
                <a:cs typeface="Arial"/>
                <a:sym typeface="Arial"/>
              </a:endParaRPr>
            </a:p>
            <a:p>
              <a:pPr marL="0" lvl="0" indent="0" algn="ctr" rtl="0">
                <a:spcBef>
                  <a:spcPts val="300"/>
                </a:spcBef>
                <a:spcAft>
                  <a:spcPts val="0"/>
                </a:spcAft>
                <a:buNone/>
              </a:pPr>
              <a:r>
                <a:rPr lang="en" sz="2400" b="1">
                  <a:solidFill>
                    <a:srgbClr val="1A73E8"/>
                  </a:solidFill>
                  <a:latin typeface="Arial"/>
                  <a:ea typeface="Arial"/>
                  <a:cs typeface="Arial"/>
                  <a:sym typeface="Arial"/>
                </a:rPr>
                <a:t>F= Ku + n</a:t>
              </a:r>
              <a:endParaRPr sz="2400" b="1">
                <a:solidFill>
                  <a:srgbClr val="1A73E8"/>
                </a:solidFill>
                <a:latin typeface="Arial"/>
                <a:ea typeface="Arial"/>
                <a:cs typeface="Arial"/>
                <a:sym typeface="Arial"/>
              </a:endParaRPr>
            </a:p>
            <a:p>
              <a:pPr marL="0" lvl="0" indent="0" algn="ctr" rtl="0">
                <a:spcBef>
                  <a:spcPts val="0"/>
                </a:spcBef>
                <a:spcAft>
                  <a:spcPts val="0"/>
                </a:spcAft>
                <a:buNone/>
              </a:pPr>
              <a:endParaRPr sz="2400" b="1">
                <a:solidFill>
                  <a:srgbClr val="1A73E8"/>
                </a:solidFill>
                <a:latin typeface="Arial"/>
                <a:ea typeface="Arial"/>
                <a:cs typeface="Arial"/>
                <a:sym typeface="Arial"/>
              </a:endParaRPr>
            </a:p>
            <a:p>
              <a:pPr marL="0" lvl="0" indent="0" algn="ctr" rtl="0">
                <a:spcBef>
                  <a:spcPts val="0"/>
                </a:spcBef>
                <a:spcAft>
                  <a:spcPts val="0"/>
                </a:spcAft>
                <a:buNone/>
              </a:pPr>
              <a:r>
                <a:rPr lang="en" sz="2400" b="1">
                  <a:solidFill>
                    <a:srgbClr val="1A73E8"/>
                  </a:solidFill>
                  <a:latin typeface="Arial"/>
                  <a:ea typeface="Arial"/>
                  <a:cs typeface="Arial"/>
                  <a:sym typeface="Arial"/>
                </a:rPr>
                <a:t>u=K^−1(f−n) </a:t>
              </a:r>
              <a:endParaRPr sz="2400" b="1">
                <a:solidFill>
                  <a:srgbClr val="1A73E8"/>
                </a:solidFill>
                <a:latin typeface="Arial"/>
                <a:ea typeface="Arial"/>
                <a:cs typeface="Arial"/>
                <a:sym typeface="Arial"/>
              </a:endParaRPr>
            </a:p>
          </p:txBody>
        </p:sp>
      </p:grpSp>
      <p:grpSp>
        <p:nvGrpSpPr>
          <p:cNvPr id="67" name="Google Shape;67;p14"/>
          <p:cNvGrpSpPr/>
          <p:nvPr/>
        </p:nvGrpSpPr>
        <p:grpSpPr>
          <a:xfrm>
            <a:off x="4572000" y="1047750"/>
            <a:ext cx="4191000" cy="3238500"/>
            <a:chOff x="4572000" y="1047750"/>
            <a:chExt cx="4191000" cy="3238500"/>
          </a:xfrm>
        </p:grpSpPr>
        <p:sp>
          <p:nvSpPr>
            <p:cNvPr id="68" name="Google Shape;68;p14"/>
            <p:cNvSpPr/>
            <p:nvPr/>
          </p:nvSpPr>
          <p:spPr>
            <a:xfrm>
              <a:off x="4572000" y="1047750"/>
              <a:ext cx="4191000" cy="3238500"/>
            </a:xfrm>
            <a:prstGeom prst="roundRect">
              <a:avLst>
                <a:gd name="adj" fmla="val 3529"/>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 name="Google Shape;69;p14"/>
            <p:cNvSpPr txBox="1"/>
            <p:nvPr/>
          </p:nvSpPr>
          <p:spPr>
            <a:xfrm>
              <a:off x="4762500" y="1190625"/>
              <a:ext cx="1143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a:solidFill>
                    <a:srgbClr val="757575"/>
                  </a:solidFill>
                  <a:latin typeface="Arial"/>
                  <a:ea typeface="Arial"/>
                  <a:cs typeface="Arial"/>
                  <a:sym typeface="Arial"/>
                </a:rPr>
                <a:t>Original</a:t>
              </a:r>
              <a:endParaRPr sz="1200" b="1">
                <a:solidFill>
                  <a:srgbClr val="757575"/>
                </a:solidFill>
                <a:latin typeface="Arial"/>
                <a:ea typeface="Arial"/>
                <a:cs typeface="Arial"/>
                <a:sym typeface="Arial"/>
              </a:endParaRPr>
            </a:p>
          </p:txBody>
        </p:sp>
        <p:sp>
          <p:nvSpPr>
            <p:cNvPr id="70" name="Google Shape;70;p14"/>
            <p:cNvSpPr txBox="1"/>
            <p:nvPr/>
          </p:nvSpPr>
          <p:spPr>
            <a:xfrm>
              <a:off x="6096000" y="1190625"/>
              <a:ext cx="1143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a:solidFill>
                    <a:srgbClr val="757575"/>
                  </a:solidFill>
                  <a:latin typeface="Arial"/>
                  <a:ea typeface="Arial"/>
                  <a:cs typeface="Arial"/>
                  <a:sym typeface="Arial"/>
                </a:rPr>
                <a:t>Blurred</a:t>
              </a:r>
              <a:endParaRPr sz="1200" b="1">
                <a:solidFill>
                  <a:srgbClr val="757575"/>
                </a:solidFill>
                <a:latin typeface="Arial"/>
                <a:ea typeface="Arial"/>
                <a:cs typeface="Arial"/>
                <a:sym typeface="Arial"/>
              </a:endParaRPr>
            </a:p>
          </p:txBody>
        </p:sp>
        <p:sp>
          <p:nvSpPr>
            <p:cNvPr id="71" name="Google Shape;71;p14"/>
            <p:cNvSpPr txBox="1"/>
            <p:nvPr/>
          </p:nvSpPr>
          <p:spPr>
            <a:xfrm>
              <a:off x="7429500" y="1190625"/>
              <a:ext cx="1143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a:solidFill>
                    <a:srgbClr val="757575"/>
                  </a:solidFill>
                  <a:latin typeface="Arial"/>
                  <a:ea typeface="Arial"/>
                  <a:cs typeface="Arial"/>
                  <a:sym typeface="Arial"/>
                </a:rPr>
                <a:t>Deblurred</a:t>
              </a:r>
              <a:endParaRPr sz="1200" b="1">
                <a:solidFill>
                  <a:srgbClr val="757575"/>
                </a:solidFill>
                <a:latin typeface="Arial"/>
                <a:ea typeface="Arial"/>
                <a:cs typeface="Arial"/>
                <a:sym typeface="Arial"/>
              </a:endParaRPr>
            </a:p>
          </p:txBody>
        </p:sp>
      </p:grpSp>
      <p:pic>
        <p:nvPicPr>
          <p:cNvPr id="72" name="Google Shape;72;p14"/>
          <p:cNvPicPr preferRelativeResize="0"/>
          <p:nvPr/>
        </p:nvPicPr>
        <p:blipFill rotWithShape="1">
          <a:blip r:embed="rId4">
            <a:alphaModFix/>
          </a:blip>
          <a:srcRect l="7169" r="7178"/>
          <a:stretch/>
        </p:blipFill>
        <p:spPr>
          <a:xfrm>
            <a:off x="4733925" y="1524000"/>
            <a:ext cx="3867300" cy="1600200"/>
          </a:xfrm>
          <a:prstGeom prst="rect">
            <a:avLst/>
          </a:prstGeom>
          <a:noFill/>
          <a:ln>
            <a:noFill/>
          </a:ln>
        </p:spPr>
      </p:pic>
      <p:sp>
        <p:nvSpPr>
          <p:cNvPr id="73" name="Google Shape;73;p14"/>
          <p:cNvSpPr txBox="1"/>
          <p:nvPr/>
        </p:nvSpPr>
        <p:spPr>
          <a:xfrm>
            <a:off x="4572000" y="3238500"/>
            <a:ext cx="4191000" cy="571500"/>
          </a:xfrm>
          <a:prstGeom prst="rect">
            <a:avLst/>
          </a:prstGeom>
          <a:noFill/>
          <a:ln>
            <a:noFill/>
          </a:ln>
        </p:spPr>
        <p:txBody>
          <a:bodyPr spcFirstLastPara="1" wrap="square" lIns="190500" tIns="0" rIns="190500" bIns="0" anchor="ctr" anchorCtr="0">
            <a:noAutofit/>
          </a:bodyPr>
          <a:lstStyle/>
          <a:p>
            <a:pPr marL="0" lvl="0" indent="0" algn="ctr" rtl="0">
              <a:spcBef>
                <a:spcPts val="0"/>
              </a:spcBef>
              <a:spcAft>
                <a:spcPts val="0"/>
              </a:spcAft>
              <a:buNone/>
            </a:pPr>
            <a:r>
              <a:rPr lang="en" sz="1000">
                <a:solidFill>
                  <a:srgbClr val="9E9E9E"/>
                </a:solidFill>
                <a:latin typeface="Arial"/>
                <a:ea typeface="Arial"/>
                <a:cs typeface="Arial"/>
                <a:sym typeface="Arial"/>
              </a:rPr>
              <a:t>(a) Sharp ground truth image | (b) Degraded observation with blur and noise | (c) Reconstructed result using inverse methods</a:t>
            </a:r>
            <a:endParaRPr sz="1000">
              <a:solidFill>
                <a:srgbClr val="9E9E9E"/>
              </a:solidFill>
              <a:latin typeface="Arial"/>
              <a:ea typeface="Arial"/>
              <a:cs typeface="Arial"/>
              <a:sym typeface="Arial"/>
            </a:endParaRPr>
          </a:p>
        </p:txBody>
      </p:sp>
      <p:sp>
        <p:nvSpPr>
          <p:cNvPr id="74" name="Google Shape;74;p14"/>
          <p:cNvSpPr txBox="1"/>
          <p:nvPr/>
        </p:nvSpPr>
        <p:spPr>
          <a:xfrm>
            <a:off x="795325" y="3665019"/>
            <a:ext cx="30000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300"/>
              </a:spcAft>
              <a:buNone/>
            </a:pPr>
            <a:r>
              <a:rPr lang="en" sz="1200">
                <a:solidFill>
                  <a:srgbClr val="5F6368"/>
                </a:solidFill>
              </a:rPr>
              <a:t> Model</a:t>
            </a:r>
            <a:endParaRPr sz="1200">
              <a:solidFill>
                <a:srgbClr val="5F636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381000" y="285750"/>
            <a:ext cx="8382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3200" b="1">
                <a:solidFill>
                  <a:srgbClr val="212121"/>
                </a:solidFill>
                <a:latin typeface="Arial"/>
                <a:ea typeface="Arial"/>
                <a:cs typeface="Arial"/>
                <a:sym typeface="Arial"/>
              </a:rPr>
              <a:t>Problem Statement</a:t>
            </a:r>
            <a:endParaRPr sz="3200" b="1">
              <a:solidFill>
                <a:srgbClr val="212121"/>
              </a:solidFill>
              <a:latin typeface="Arial"/>
              <a:ea typeface="Arial"/>
              <a:cs typeface="Arial"/>
              <a:sym typeface="Arial"/>
            </a:endParaRPr>
          </a:p>
        </p:txBody>
      </p:sp>
      <p:grpSp>
        <p:nvGrpSpPr>
          <p:cNvPr id="80" name="Google Shape;80;p15"/>
          <p:cNvGrpSpPr/>
          <p:nvPr/>
        </p:nvGrpSpPr>
        <p:grpSpPr>
          <a:xfrm>
            <a:off x="381000" y="1047750"/>
            <a:ext cx="4000500" cy="3619500"/>
            <a:chOff x="381000" y="1047750"/>
            <a:chExt cx="4000500" cy="3619500"/>
          </a:xfrm>
        </p:grpSpPr>
        <p:sp>
          <p:nvSpPr>
            <p:cNvPr id="81" name="Google Shape;81;p15"/>
            <p:cNvSpPr/>
            <p:nvPr/>
          </p:nvSpPr>
          <p:spPr>
            <a:xfrm>
              <a:off x="381000" y="1047750"/>
              <a:ext cx="4000500" cy="3619500"/>
            </a:xfrm>
            <a:prstGeom prst="roundRect">
              <a:avLst>
                <a:gd name="adj" fmla="val 3157"/>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 name="Google Shape;82;p15"/>
            <p:cNvSpPr txBox="1"/>
            <p:nvPr/>
          </p:nvSpPr>
          <p:spPr>
            <a:xfrm>
              <a:off x="571500" y="1238250"/>
              <a:ext cx="3619500" cy="3238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Forward Imaging Model</a:t>
              </a:r>
              <a:endParaRPr sz="1400" b="1">
                <a:solidFill>
                  <a:srgbClr val="1A73E8"/>
                </a:solidFill>
                <a:latin typeface="Arial"/>
                <a:ea typeface="Arial"/>
                <a:cs typeface="Arial"/>
                <a:sym typeface="Arial"/>
              </a:endParaRPr>
            </a:p>
            <a:p>
              <a:pPr marL="0" lvl="0" indent="0" algn="l" rtl="0">
                <a:spcBef>
                  <a:spcPts val="800"/>
                </a:spcBef>
                <a:spcAft>
                  <a:spcPts val="0"/>
                </a:spcAft>
                <a:buNone/>
              </a:pPr>
              <a:r>
                <a:rPr lang="en" sz="1100" b="0">
                  <a:solidFill>
                    <a:srgbClr val="424242"/>
                  </a:solidFill>
                  <a:latin typeface="Arial"/>
                  <a:ea typeface="Arial"/>
                  <a:cs typeface="Arial"/>
                  <a:sym typeface="Arial"/>
                </a:rPr>
                <a:t>Degraded observation model:</a:t>
              </a:r>
              <a:endParaRPr sz="1100" b="0">
                <a:solidFill>
                  <a:srgbClr val="424242"/>
                </a:solidFill>
                <a:latin typeface="Arial"/>
                <a:ea typeface="Arial"/>
                <a:cs typeface="Arial"/>
                <a:sym typeface="Arial"/>
              </a:endParaRPr>
            </a:p>
            <a:p>
              <a:pPr marL="0" lvl="0" indent="0" algn="ctr" rtl="0">
                <a:spcBef>
                  <a:spcPts val="1200"/>
                </a:spcBef>
                <a:spcAft>
                  <a:spcPts val="0"/>
                </a:spcAft>
                <a:buNone/>
              </a:pPr>
              <a:r>
                <a:rPr lang="en" sz="2000" b="1">
                  <a:solidFill>
                    <a:srgbClr val="000000"/>
                  </a:solidFill>
                  <a:highlight>
                    <a:srgbClr val="F8F9FA"/>
                  </a:highlight>
                  <a:latin typeface="Arial"/>
                  <a:ea typeface="Arial"/>
                  <a:cs typeface="Arial"/>
                  <a:sym typeface="Arial"/>
                </a:rPr>
                <a:t>f = Ku + n</a:t>
              </a:r>
              <a:endParaRPr sz="2000" b="1">
                <a:solidFill>
                  <a:srgbClr val="000000"/>
                </a:solidFill>
                <a:highlight>
                  <a:srgbClr val="F8F9FA"/>
                </a:highlight>
                <a:latin typeface="Arial"/>
                <a:ea typeface="Arial"/>
                <a:cs typeface="Arial"/>
                <a:sym typeface="Arial"/>
              </a:endParaRPr>
            </a:p>
            <a:p>
              <a:pPr marL="457200" lvl="0" indent="-292100" algn="l" rtl="0">
                <a:spcBef>
                  <a:spcPts val="1125"/>
                </a:spcBef>
                <a:spcAft>
                  <a:spcPts val="0"/>
                </a:spcAft>
                <a:buClr>
                  <a:srgbClr val="5F6368"/>
                </a:buClr>
                <a:buSzPts val="1000"/>
                <a:buFont typeface="Arial"/>
                <a:buChar char="●"/>
              </a:pPr>
              <a:r>
                <a:rPr lang="en" sz="1000" b="1">
                  <a:solidFill>
                    <a:srgbClr val="212121"/>
                  </a:solidFill>
                  <a:latin typeface="Arial"/>
                  <a:ea typeface="Arial"/>
                  <a:cs typeface="Arial"/>
                  <a:sym typeface="Arial"/>
                </a:rPr>
                <a:t>u</a:t>
              </a:r>
              <a:r>
                <a:rPr lang="en" sz="1000" b="0">
                  <a:solidFill>
                    <a:srgbClr val="5F6368"/>
                  </a:solidFill>
                  <a:latin typeface="Arial"/>
                  <a:ea typeface="Arial"/>
                  <a:cs typeface="Arial"/>
                  <a:sym typeface="Arial"/>
                </a:rPr>
                <a:t>: Sharp, unknown image</a:t>
              </a:r>
              <a:endParaRPr sz="1000" b="0">
                <a:solidFill>
                  <a:srgbClr val="5F6368"/>
                </a:solidFill>
                <a:latin typeface="Arial"/>
                <a:ea typeface="Arial"/>
                <a:cs typeface="Arial"/>
                <a:sym typeface="Arial"/>
              </a:endParaRPr>
            </a:p>
            <a:p>
              <a:pPr marL="457200" lvl="0" indent="-292100" algn="l" rtl="0">
                <a:spcBef>
                  <a:spcPts val="600"/>
                </a:spcBef>
                <a:spcAft>
                  <a:spcPts val="0"/>
                </a:spcAft>
                <a:buClr>
                  <a:srgbClr val="5F6368"/>
                </a:buClr>
                <a:buSzPts val="1000"/>
                <a:buFont typeface="Arial"/>
                <a:buChar char="●"/>
              </a:pPr>
              <a:r>
                <a:rPr lang="en" sz="1000" b="1">
                  <a:solidFill>
                    <a:srgbClr val="212121"/>
                  </a:solidFill>
                  <a:latin typeface="Arial"/>
                  <a:ea typeface="Arial"/>
                  <a:cs typeface="Arial"/>
                  <a:sym typeface="Arial"/>
                </a:rPr>
                <a:t>K</a:t>
              </a:r>
              <a:r>
                <a:rPr lang="en" sz="1000" b="0">
                  <a:solidFill>
                    <a:srgbClr val="5F6368"/>
                  </a:solidFill>
                  <a:latin typeface="Arial"/>
                  <a:ea typeface="Arial"/>
                  <a:cs typeface="Arial"/>
                  <a:sym typeface="Arial"/>
                </a:rPr>
                <a:t>: Blur operator (convolution)</a:t>
              </a:r>
              <a:endParaRPr sz="1000" b="0">
                <a:solidFill>
                  <a:srgbClr val="5F6368"/>
                </a:solidFill>
                <a:latin typeface="Arial"/>
                <a:ea typeface="Arial"/>
                <a:cs typeface="Arial"/>
                <a:sym typeface="Arial"/>
              </a:endParaRPr>
            </a:p>
            <a:p>
              <a:pPr marL="457200" lvl="0" indent="-292100" algn="l" rtl="0">
                <a:spcBef>
                  <a:spcPts val="600"/>
                </a:spcBef>
                <a:spcAft>
                  <a:spcPts val="0"/>
                </a:spcAft>
                <a:buClr>
                  <a:srgbClr val="5F6368"/>
                </a:buClr>
                <a:buSzPts val="1000"/>
                <a:buFont typeface="Arial"/>
                <a:buChar char="●"/>
              </a:pPr>
              <a:r>
                <a:rPr lang="en" sz="1000" b="1">
                  <a:solidFill>
                    <a:srgbClr val="212121"/>
                  </a:solidFill>
                  <a:latin typeface="Arial"/>
                  <a:ea typeface="Arial"/>
                  <a:cs typeface="Arial"/>
                  <a:sym typeface="Arial"/>
                </a:rPr>
                <a:t>n</a:t>
              </a:r>
              <a:r>
                <a:rPr lang="en" sz="1000" b="0">
                  <a:solidFill>
                    <a:srgbClr val="5F6368"/>
                  </a:solidFill>
                  <a:latin typeface="Arial"/>
                  <a:ea typeface="Arial"/>
                  <a:cs typeface="Arial"/>
                  <a:sym typeface="Arial"/>
                </a:rPr>
                <a:t>: Additive noise</a:t>
              </a:r>
              <a:endParaRPr sz="1000" b="0">
                <a:solidFill>
                  <a:srgbClr val="5F6368"/>
                </a:solidFill>
                <a:latin typeface="Arial"/>
                <a:ea typeface="Arial"/>
                <a:cs typeface="Arial"/>
                <a:sym typeface="Arial"/>
              </a:endParaRPr>
            </a:p>
            <a:p>
              <a:pPr marL="457200" lvl="0" indent="-292100" algn="l" rtl="0">
                <a:spcBef>
                  <a:spcPts val="600"/>
                </a:spcBef>
                <a:spcAft>
                  <a:spcPts val="0"/>
                </a:spcAft>
                <a:buClr>
                  <a:srgbClr val="5F6368"/>
                </a:buClr>
                <a:buSzPts val="1000"/>
                <a:buFont typeface="Arial"/>
                <a:buChar char="●"/>
              </a:pPr>
              <a:r>
                <a:rPr lang="en" sz="1000" b="1">
                  <a:solidFill>
                    <a:srgbClr val="212121"/>
                  </a:solidFill>
                  <a:latin typeface="Arial"/>
                  <a:ea typeface="Arial"/>
                  <a:cs typeface="Arial"/>
                  <a:sym typeface="Arial"/>
                </a:rPr>
                <a:t>f</a:t>
              </a:r>
              <a:r>
                <a:rPr lang="en" sz="1000" b="0">
                  <a:solidFill>
                    <a:srgbClr val="5F6368"/>
                  </a:solidFill>
                  <a:latin typeface="Arial"/>
                  <a:ea typeface="Arial"/>
                  <a:cs typeface="Arial"/>
                  <a:sym typeface="Arial"/>
                </a:rPr>
                <a:t>: Degraded observation</a:t>
              </a:r>
              <a:endParaRPr sz="1000" b="0">
                <a:solidFill>
                  <a:srgbClr val="5F6368"/>
                </a:solidFill>
                <a:latin typeface="Arial"/>
                <a:ea typeface="Arial"/>
                <a:cs typeface="Arial"/>
                <a:sym typeface="Arial"/>
              </a:endParaRPr>
            </a:p>
            <a:p>
              <a:pPr marL="0" lvl="0" indent="0" algn="l" rtl="0">
                <a:spcBef>
                  <a:spcPts val="1500"/>
                </a:spcBef>
                <a:spcAft>
                  <a:spcPts val="0"/>
                </a:spcAft>
                <a:buNone/>
              </a:pPr>
              <a:r>
                <a:rPr lang="en" sz="1400" b="1">
                  <a:solidFill>
                    <a:srgbClr val="1A73E8"/>
                  </a:solidFill>
                  <a:latin typeface="Arial"/>
                  <a:ea typeface="Arial"/>
                  <a:cs typeface="Arial"/>
                  <a:sym typeface="Arial"/>
                </a:rPr>
                <a:t>Objective</a:t>
              </a:r>
              <a:endParaRPr sz="1400" b="1">
                <a:solidFill>
                  <a:srgbClr val="1A73E8"/>
                </a:solidFill>
                <a:latin typeface="Arial"/>
                <a:ea typeface="Arial"/>
                <a:cs typeface="Arial"/>
                <a:sym typeface="Arial"/>
              </a:endParaRPr>
            </a:p>
            <a:p>
              <a:pPr marL="0" lvl="0" indent="0" algn="l" rtl="0">
                <a:spcBef>
                  <a:spcPts val="800"/>
                </a:spcBef>
                <a:spcAft>
                  <a:spcPts val="750"/>
                </a:spcAft>
                <a:buNone/>
              </a:pPr>
              <a:r>
                <a:rPr lang="en" sz="1100" b="0">
                  <a:solidFill>
                    <a:srgbClr val="424242"/>
                  </a:solidFill>
                  <a:latin typeface="Arial"/>
                  <a:ea typeface="Arial"/>
                  <a:cs typeface="Arial"/>
                  <a:sym typeface="Arial"/>
                </a:rPr>
                <a:t>Solve inverse problem for </a:t>
              </a:r>
              <a:r>
                <a:rPr lang="en" sz="1100" b="1">
                  <a:solidFill>
                    <a:srgbClr val="424242"/>
                  </a:solidFill>
                  <a:latin typeface="Arial"/>
                  <a:ea typeface="Arial"/>
                  <a:cs typeface="Arial"/>
                  <a:sym typeface="Arial"/>
                </a:rPr>
                <a:t>u</a:t>
              </a:r>
              <a:r>
                <a:rPr lang="en" sz="1100" b="0">
                  <a:solidFill>
                    <a:srgbClr val="424242"/>
                  </a:solidFill>
                  <a:latin typeface="Arial"/>
                  <a:ea typeface="Arial"/>
                  <a:cs typeface="Arial"/>
                  <a:sym typeface="Arial"/>
                </a:rPr>
                <a:t>. Direct inversion is ill-posed:</a:t>
              </a:r>
              <a:endParaRPr sz="1100" b="0">
                <a:solidFill>
                  <a:srgbClr val="424242"/>
                </a:solidFill>
                <a:latin typeface="Arial"/>
                <a:ea typeface="Arial"/>
                <a:cs typeface="Arial"/>
                <a:sym typeface="Arial"/>
              </a:endParaRPr>
            </a:p>
          </p:txBody>
        </p:sp>
      </p:grpSp>
      <p:grpSp>
        <p:nvGrpSpPr>
          <p:cNvPr id="83" name="Google Shape;83;p15"/>
          <p:cNvGrpSpPr/>
          <p:nvPr/>
        </p:nvGrpSpPr>
        <p:grpSpPr>
          <a:xfrm>
            <a:off x="4572000" y="1047750"/>
            <a:ext cx="4191000" cy="3619500"/>
            <a:chOff x="4572000" y="1047750"/>
            <a:chExt cx="4191000" cy="3619500"/>
          </a:xfrm>
        </p:grpSpPr>
        <p:sp>
          <p:nvSpPr>
            <p:cNvPr id="84" name="Google Shape;84;p15"/>
            <p:cNvSpPr/>
            <p:nvPr/>
          </p:nvSpPr>
          <p:spPr>
            <a:xfrm>
              <a:off x="4572000" y="1047750"/>
              <a:ext cx="4191000" cy="3619500"/>
            </a:xfrm>
            <a:prstGeom prst="roundRect">
              <a:avLst>
                <a:gd name="adj" fmla="val 3157"/>
              </a:avLst>
            </a:prstGeom>
            <a:solidFill>
              <a:srgbClr val="E8F0FE"/>
            </a:solidFill>
            <a:ln w="9525" cap="flat" cmpd="sng">
              <a:solidFill>
                <a:srgbClr val="D2E3F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5" name="Google Shape;85;p15"/>
            <p:cNvSpPr txBox="1"/>
            <p:nvPr/>
          </p:nvSpPr>
          <p:spPr>
            <a:xfrm>
              <a:off x="4762500" y="1238250"/>
              <a:ext cx="3810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General Optimization Formulation</a:t>
              </a:r>
              <a:endParaRPr sz="1400" b="1">
                <a:solidFill>
                  <a:srgbClr val="1A73E8"/>
                </a:solidFill>
                <a:latin typeface="Arial"/>
                <a:ea typeface="Arial"/>
                <a:cs typeface="Arial"/>
                <a:sym typeface="Arial"/>
              </a:endParaRPr>
            </a:p>
          </p:txBody>
        </p:sp>
      </p:grpSp>
      <p:pic>
        <p:nvPicPr>
          <p:cNvPr id="86" name="Google Shape;86;p15"/>
          <p:cNvPicPr preferRelativeResize="0"/>
          <p:nvPr/>
        </p:nvPicPr>
        <p:blipFill rotWithShape="1">
          <a:blip r:embed="rId4">
            <a:alphaModFix/>
          </a:blip>
          <a:srcRect l="20" r="20"/>
          <a:stretch/>
        </p:blipFill>
        <p:spPr>
          <a:xfrm>
            <a:off x="1333500" y="3905250"/>
            <a:ext cx="843000" cy="213300"/>
          </a:xfrm>
          <a:prstGeom prst="rect">
            <a:avLst/>
          </a:prstGeom>
          <a:noFill/>
          <a:ln>
            <a:noFill/>
          </a:ln>
        </p:spPr>
      </p:pic>
      <p:sp>
        <p:nvSpPr>
          <p:cNvPr id="87" name="Google Shape;87;p15"/>
          <p:cNvSpPr txBox="1"/>
          <p:nvPr/>
        </p:nvSpPr>
        <p:spPr>
          <a:xfrm>
            <a:off x="571500" y="4238625"/>
            <a:ext cx="36195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b="1">
                <a:solidFill>
                  <a:srgbClr val="D93025"/>
                </a:solidFill>
                <a:latin typeface="Arial"/>
                <a:ea typeface="Arial"/>
                <a:cs typeface="Arial"/>
                <a:sym typeface="Arial"/>
              </a:rPr>
              <a:t>→ Need regularized reconstruction</a:t>
            </a:r>
            <a:endParaRPr sz="1100" b="1">
              <a:solidFill>
                <a:srgbClr val="D93025"/>
              </a:solidFill>
              <a:latin typeface="Arial"/>
              <a:ea typeface="Arial"/>
              <a:cs typeface="Arial"/>
              <a:sym typeface="Arial"/>
            </a:endParaRPr>
          </a:p>
        </p:txBody>
      </p:sp>
      <p:pic>
        <p:nvPicPr>
          <p:cNvPr id="88" name="Google Shape;88;p15"/>
          <p:cNvPicPr preferRelativeResize="0"/>
          <p:nvPr/>
        </p:nvPicPr>
        <p:blipFill rotWithShape="1">
          <a:blip r:embed="rId5">
            <a:alphaModFix/>
          </a:blip>
          <a:srcRect t="17240" b="17233"/>
          <a:stretch/>
        </p:blipFill>
        <p:spPr>
          <a:xfrm>
            <a:off x="5191125" y="1666875"/>
            <a:ext cx="2952900" cy="607800"/>
          </a:xfrm>
          <a:prstGeom prst="rect">
            <a:avLst/>
          </a:prstGeom>
          <a:noFill/>
          <a:ln>
            <a:noFill/>
          </a:ln>
        </p:spPr>
      </p:pic>
      <p:grpSp>
        <p:nvGrpSpPr>
          <p:cNvPr id="89" name="Google Shape;89;p15"/>
          <p:cNvGrpSpPr/>
          <p:nvPr/>
        </p:nvGrpSpPr>
        <p:grpSpPr>
          <a:xfrm>
            <a:off x="4762500" y="2428875"/>
            <a:ext cx="1714500" cy="1571700"/>
            <a:chOff x="4762500" y="2428875"/>
            <a:chExt cx="1714500" cy="1571700"/>
          </a:xfrm>
        </p:grpSpPr>
        <p:sp>
          <p:nvSpPr>
            <p:cNvPr id="90" name="Google Shape;90;p15"/>
            <p:cNvSpPr txBox="1"/>
            <p:nvPr/>
          </p:nvSpPr>
          <p:spPr>
            <a:xfrm>
              <a:off x="4762500" y="2428875"/>
              <a:ext cx="1143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rgbClr val="1A73E8"/>
                  </a:solidFill>
                  <a:latin typeface="Arial"/>
                  <a:ea typeface="Arial"/>
                  <a:cs typeface="Arial"/>
                  <a:sym typeface="Arial"/>
                </a:rPr>
                <a:t>L2 Regularization</a:t>
              </a:r>
              <a:endParaRPr sz="1000" b="1">
                <a:solidFill>
                  <a:srgbClr val="1A73E8"/>
                </a:solidFill>
                <a:latin typeface="Arial"/>
                <a:ea typeface="Arial"/>
                <a:cs typeface="Arial"/>
                <a:sym typeface="Arial"/>
              </a:endParaRPr>
            </a:p>
          </p:txBody>
        </p:sp>
        <p:sp>
          <p:nvSpPr>
            <p:cNvPr id="91" name="Google Shape;91;p15"/>
            <p:cNvSpPr txBox="1"/>
            <p:nvPr/>
          </p:nvSpPr>
          <p:spPr>
            <a:xfrm>
              <a:off x="4762500" y="3095625"/>
              <a:ext cx="1143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rgbClr val="1A73E8"/>
                  </a:solidFill>
                  <a:latin typeface="Arial"/>
                  <a:ea typeface="Arial"/>
                  <a:cs typeface="Arial"/>
                  <a:sym typeface="Arial"/>
                </a:rPr>
                <a:t>TV Regularization</a:t>
              </a:r>
              <a:endParaRPr sz="1000" b="1">
                <a:solidFill>
                  <a:srgbClr val="1A73E8"/>
                </a:solidFill>
                <a:latin typeface="Arial"/>
                <a:ea typeface="Arial"/>
                <a:cs typeface="Arial"/>
                <a:sym typeface="Arial"/>
              </a:endParaRPr>
            </a:p>
          </p:txBody>
        </p:sp>
        <p:sp>
          <p:nvSpPr>
            <p:cNvPr id="92" name="Google Shape;92;p15"/>
            <p:cNvSpPr txBox="1"/>
            <p:nvPr/>
          </p:nvSpPr>
          <p:spPr>
            <a:xfrm>
              <a:off x="4762500" y="3762375"/>
              <a:ext cx="17145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rgbClr val="1A73E8"/>
                  </a:solidFill>
                  <a:latin typeface="Arial"/>
                  <a:ea typeface="Arial"/>
                  <a:cs typeface="Arial"/>
                  <a:sym typeface="Arial"/>
                </a:rPr>
                <a:t>Non-convex sparse prior</a:t>
              </a:r>
              <a:endParaRPr sz="1000" b="1">
                <a:solidFill>
                  <a:srgbClr val="1A73E8"/>
                </a:solidFill>
                <a:latin typeface="Arial"/>
                <a:ea typeface="Arial"/>
                <a:cs typeface="Arial"/>
                <a:sym typeface="Arial"/>
              </a:endParaRPr>
            </a:p>
          </p:txBody>
        </p:sp>
      </p:grpSp>
      <p:pic>
        <p:nvPicPr>
          <p:cNvPr id="93" name="Google Shape;93;p15"/>
          <p:cNvPicPr preferRelativeResize="0"/>
          <p:nvPr/>
        </p:nvPicPr>
        <p:blipFill rotWithShape="1">
          <a:blip r:embed="rId6">
            <a:alphaModFix/>
          </a:blip>
          <a:srcRect l="10" r="20"/>
          <a:stretch/>
        </p:blipFill>
        <p:spPr>
          <a:xfrm>
            <a:off x="6048375" y="3000375"/>
            <a:ext cx="2047800" cy="468600"/>
          </a:xfrm>
          <a:prstGeom prst="rect">
            <a:avLst/>
          </a:prstGeom>
          <a:noFill/>
          <a:ln>
            <a:noFill/>
          </a:ln>
        </p:spPr>
      </p:pic>
      <p:pic>
        <p:nvPicPr>
          <p:cNvPr id="94" name="Google Shape;94;p15"/>
          <p:cNvPicPr preferRelativeResize="0"/>
          <p:nvPr/>
        </p:nvPicPr>
        <p:blipFill rotWithShape="1">
          <a:blip r:embed="rId7">
            <a:alphaModFix/>
          </a:blip>
          <a:srcRect l="30" r="40"/>
          <a:stretch/>
        </p:blipFill>
        <p:spPr>
          <a:xfrm>
            <a:off x="6403350" y="3650850"/>
            <a:ext cx="2028900" cy="467700"/>
          </a:xfrm>
          <a:prstGeom prst="rect">
            <a:avLst/>
          </a:prstGeom>
          <a:noFill/>
          <a:ln>
            <a:noFill/>
          </a:ln>
        </p:spPr>
      </p:pic>
      <p:pic>
        <p:nvPicPr>
          <p:cNvPr id="95" name="Google Shape;95;p15" descr="correct the || in this formula, make them of same length"/>
          <p:cNvPicPr preferRelativeResize="0"/>
          <p:nvPr/>
        </p:nvPicPr>
        <p:blipFill>
          <a:blip r:embed="rId8">
            <a:alphaModFix/>
          </a:blip>
          <a:stretch>
            <a:fillRect/>
          </a:stretch>
        </p:blipFill>
        <p:spPr>
          <a:xfrm>
            <a:off x="5938600" y="2274675"/>
            <a:ext cx="2493640" cy="725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16"/>
          <p:cNvSpPr txBox="1">
            <a:spLocks noGrp="1"/>
          </p:cNvSpPr>
          <p:nvPr>
            <p:ph type="title"/>
          </p:nvPr>
        </p:nvSpPr>
        <p:spPr>
          <a:xfrm>
            <a:off x="381000" y="285750"/>
            <a:ext cx="8382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3200" b="1">
                <a:solidFill>
                  <a:srgbClr val="212121"/>
                </a:solidFill>
                <a:latin typeface="Arial"/>
                <a:ea typeface="Arial"/>
                <a:cs typeface="Arial"/>
                <a:sym typeface="Arial"/>
              </a:rPr>
              <a:t>Motivation</a:t>
            </a:r>
            <a:endParaRPr sz="3200" b="1">
              <a:solidFill>
                <a:srgbClr val="212121"/>
              </a:solidFill>
              <a:latin typeface="Arial"/>
              <a:ea typeface="Arial"/>
              <a:cs typeface="Arial"/>
              <a:sym typeface="Arial"/>
            </a:endParaRPr>
          </a:p>
        </p:txBody>
      </p:sp>
      <p:grpSp>
        <p:nvGrpSpPr>
          <p:cNvPr id="101" name="Google Shape;101;p16"/>
          <p:cNvGrpSpPr/>
          <p:nvPr/>
        </p:nvGrpSpPr>
        <p:grpSpPr>
          <a:xfrm>
            <a:off x="381000" y="1047750"/>
            <a:ext cx="4000500" cy="1428900"/>
            <a:chOff x="381000" y="1047750"/>
            <a:chExt cx="4000500" cy="1428900"/>
          </a:xfrm>
        </p:grpSpPr>
        <p:sp>
          <p:nvSpPr>
            <p:cNvPr id="102" name="Google Shape;102;p16"/>
            <p:cNvSpPr/>
            <p:nvPr/>
          </p:nvSpPr>
          <p:spPr>
            <a:xfrm>
              <a:off x="381000" y="1047750"/>
              <a:ext cx="4000500" cy="1428900"/>
            </a:xfrm>
            <a:prstGeom prst="roundRect">
              <a:avLst>
                <a:gd name="adj" fmla="val 8000"/>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3" name="Google Shape;103;p16"/>
            <p:cNvSpPr txBox="1"/>
            <p:nvPr/>
          </p:nvSpPr>
          <p:spPr>
            <a:xfrm>
              <a:off x="571500" y="1190625"/>
              <a:ext cx="3619500" cy="114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Regularization Models</a:t>
              </a:r>
              <a:endParaRPr sz="1400" b="1">
                <a:solidFill>
                  <a:srgbClr val="1A73E8"/>
                </a:solidFill>
                <a:latin typeface="Arial"/>
                <a:ea typeface="Arial"/>
                <a:cs typeface="Arial"/>
                <a:sym typeface="Arial"/>
              </a:endParaRPr>
            </a:p>
            <a:p>
              <a:pPr marL="0" lvl="0" indent="0" algn="l" rtl="0">
                <a:spcBef>
                  <a:spcPts val="600"/>
                </a:spcBef>
                <a:spcAft>
                  <a:spcPts val="0"/>
                </a:spcAft>
                <a:buNone/>
              </a:pPr>
              <a:r>
                <a:rPr lang="en" sz="1000" b="0">
                  <a:solidFill>
                    <a:srgbClr val="424242"/>
                  </a:solidFill>
                  <a:latin typeface="Arial"/>
                  <a:ea typeface="Arial"/>
                  <a:cs typeface="Arial"/>
                  <a:sym typeface="Arial"/>
                </a:rPr>
                <a:t>Produce different restoration behaviors:</a:t>
              </a:r>
              <a:endParaRPr sz="1000" b="0">
                <a:solidFill>
                  <a:srgbClr val="424242"/>
                </a:solidFill>
                <a:latin typeface="Arial"/>
                <a:ea typeface="Arial"/>
                <a:cs typeface="Arial"/>
                <a:sym typeface="Arial"/>
              </a:endParaRPr>
            </a:p>
            <a:p>
              <a:pPr marL="457200" lvl="0" indent="-298450" algn="l" rtl="0">
                <a:spcBef>
                  <a:spcPts val="600"/>
                </a:spcBef>
                <a:spcAft>
                  <a:spcPts val="0"/>
                </a:spcAft>
                <a:buClr>
                  <a:srgbClr val="5F6368"/>
                </a:buClr>
                <a:buSzPts val="1100"/>
                <a:buFont typeface="Arial"/>
                <a:buChar char="●"/>
              </a:pPr>
              <a:r>
                <a:rPr lang="en" sz="1100" b="0">
                  <a:solidFill>
                    <a:srgbClr val="5F6368"/>
                  </a:solidFill>
                  <a:latin typeface="Arial"/>
                  <a:ea typeface="Arial"/>
                  <a:cs typeface="Arial"/>
                  <a:sym typeface="Arial"/>
                </a:rPr>
                <a:t>L2 regularization</a:t>
              </a:r>
              <a:endParaRPr sz="1100" b="0">
                <a:solidFill>
                  <a:srgbClr val="5F6368"/>
                </a:solidFill>
                <a:latin typeface="Arial"/>
                <a:ea typeface="Arial"/>
                <a:cs typeface="Arial"/>
                <a:sym typeface="Arial"/>
              </a:endParaRPr>
            </a:p>
            <a:p>
              <a:pPr marL="457200" lvl="0" indent="-298450" algn="l" rtl="0">
                <a:spcBef>
                  <a:spcPts val="300"/>
                </a:spcBef>
                <a:spcAft>
                  <a:spcPts val="0"/>
                </a:spcAft>
                <a:buClr>
                  <a:srgbClr val="5F6368"/>
                </a:buClr>
                <a:buSzPts val="1100"/>
                <a:buFont typeface="Arial"/>
                <a:buChar char="●"/>
              </a:pPr>
              <a:r>
                <a:rPr lang="en" sz="1100" b="0">
                  <a:solidFill>
                    <a:srgbClr val="5F6368"/>
                  </a:solidFill>
                  <a:latin typeface="Arial"/>
                  <a:ea typeface="Arial"/>
                  <a:cs typeface="Arial"/>
                  <a:sym typeface="Arial"/>
                </a:rPr>
                <a:t>Total Variation (TV)</a:t>
              </a:r>
              <a:endParaRPr sz="1100" b="0">
                <a:solidFill>
                  <a:srgbClr val="5F6368"/>
                </a:solidFill>
                <a:latin typeface="Arial"/>
                <a:ea typeface="Arial"/>
                <a:cs typeface="Arial"/>
                <a:sym typeface="Arial"/>
              </a:endParaRPr>
            </a:p>
            <a:p>
              <a:pPr marL="457200" lvl="0" indent="-298450" algn="l" rtl="0">
                <a:spcBef>
                  <a:spcPts val="300"/>
                </a:spcBef>
                <a:spcAft>
                  <a:spcPts val="0"/>
                </a:spcAft>
                <a:buClr>
                  <a:srgbClr val="5F6368"/>
                </a:buClr>
                <a:buSzPts val="1100"/>
                <a:buFont typeface="Arial"/>
                <a:buChar char="●"/>
              </a:pPr>
              <a:r>
                <a:rPr lang="en" sz="1100" b="0">
                  <a:solidFill>
                    <a:srgbClr val="5F6368"/>
                  </a:solidFill>
                  <a:latin typeface="Arial"/>
                  <a:ea typeface="Arial"/>
                  <a:cs typeface="Arial"/>
                  <a:sym typeface="Arial"/>
                </a:rPr>
                <a:t>Sparse / non-convex models</a:t>
              </a:r>
              <a:endParaRPr sz="1100" b="0">
                <a:solidFill>
                  <a:srgbClr val="5F6368"/>
                </a:solidFill>
                <a:latin typeface="Arial"/>
                <a:ea typeface="Arial"/>
                <a:cs typeface="Arial"/>
                <a:sym typeface="Arial"/>
              </a:endParaRPr>
            </a:p>
          </p:txBody>
        </p:sp>
      </p:grpSp>
      <p:grpSp>
        <p:nvGrpSpPr>
          <p:cNvPr id="104" name="Google Shape;104;p16"/>
          <p:cNvGrpSpPr/>
          <p:nvPr/>
        </p:nvGrpSpPr>
        <p:grpSpPr>
          <a:xfrm>
            <a:off x="381000" y="2619375"/>
            <a:ext cx="4000500" cy="1809600"/>
            <a:chOff x="381000" y="2619375"/>
            <a:chExt cx="4000500" cy="1809600"/>
          </a:xfrm>
        </p:grpSpPr>
        <p:sp>
          <p:nvSpPr>
            <p:cNvPr id="105" name="Google Shape;105;p16"/>
            <p:cNvSpPr/>
            <p:nvPr/>
          </p:nvSpPr>
          <p:spPr>
            <a:xfrm>
              <a:off x="381000" y="2619375"/>
              <a:ext cx="4000500" cy="1809600"/>
            </a:xfrm>
            <a:prstGeom prst="roundRect">
              <a:avLst>
                <a:gd name="adj" fmla="val 6315"/>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6" name="Google Shape;106;p16"/>
            <p:cNvSpPr txBox="1"/>
            <p:nvPr/>
          </p:nvSpPr>
          <p:spPr>
            <a:xfrm>
              <a:off x="571500" y="2762250"/>
              <a:ext cx="3619500" cy="15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Optimization Solvers</a:t>
              </a:r>
              <a:endParaRPr sz="1400" b="1">
                <a:solidFill>
                  <a:srgbClr val="1A73E8"/>
                </a:solidFill>
                <a:latin typeface="Arial"/>
                <a:ea typeface="Arial"/>
                <a:cs typeface="Arial"/>
                <a:sym typeface="Arial"/>
              </a:endParaRPr>
            </a:p>
            <a:p>
              <a:pPr marL="0" lvl="0" indent="0" algn="l" rtl="0">
                <a:spcBef>
                  <a:spcPts val="600"/>
                </a:spcBef>
                <a:spcAft>
                  <a:spcPts val="0"/>
                </a:spcAft>
                <a:buNone/>
              </a:pPr>
              <a:r>
                <a:rPr lang="en" sz="1000" b="0">
                  <a:solidFill>
                    <a:srgbClr val="424242"/>
                  </a:solidFill>
                  <a:latin typeface="Arial"/>
                  <a:ea typeface="Arial"/>
                  <a:cs typeface="Arial"/>
                  <a:sym typeface="Arial"/>
                </a:rPr>
                <a:t>Solve the same model differently:</a:t>
              </a:r>
              <a:endParaRPr sz="1000" b="0">
                <a:solidFill>
                  <a:srgbClr val="424242"/>
                </a:solidFill>
                <a:latin typeface="Arial"/>
                <a:ea typeface="Arial"/>
                <a:cs typeface="Arial"/>
                <a:sym typeface="Arial"/>
              </a:endParaRPr>
            </a:p>
            <a:p>
              <a:pPr marL="457200" lvl="0" indent="-298450" algn="l" rtl="0">
                <a:spcBef>
                  <a:spcPts val="600"/>
                </a:spcBef>
                <a:spcAft>
                  <a:spcPts val="0"/>
                </a:spcAft>
                <a:buClr>
                  <a:srgbClr val="5F6368"/>
                </a:buClr>
                <a:buSzPts val="1100"/>
                <a:buFont typeface="Arial"/>
                <a:buChar char="●"/>
              </a:pPr>
              <a:r>
                <a:rPr lang="en" sz="1100" b="0">
                  <a:solidFill>
                    <a:srgbClr val="5F6368"/>
                  </a:solidFill>
                  <a:latin typeface="Arial"/>
                  <a:ea typeface="Arial"/>
                  <a:cs typeface="Arial"/>
                  <a:sym typeface="Arial"/>
                </a:rPr>
                <a:t>Gradient Descent &amp; FISTA</a:t>
              </a:r>
              <a:endParaRPr sz="1100" b="0">
                <a:solidFill>
                  <a:srgbClr val="5F6368"/>
                </a:solidFill>
                <a:latin typeface="Arial"/>
                <a:ea typeface="Arial"/>
                <a:cs typeface="Arial"/>
                <a:sym typeface="Arial"/>
              </a:endParaRPr>
            </a:p>
            <a:p>
              <a:pPr marL="457200" lvl="0" indent="-298450" algn="l" rtl="0">
                <a:spcBef>
                  <a:spcPts val="300"/>
                </a:spcBef>
                <a:spcAft>
                  <a:spcPts val="0"/>
                </a:spcAft>
                <a:buClr>
                  <a:srgbClr val="5F6368"/>
                </a:buClr>
                <a:buSzPts val="1100"/>
                <a:buFont typeface="Arial"/>
                <a:buChar char="●"/>
              </a:pPr>
              <a:r>
                <a:rPr lang="en" sz="1100" b="0">
                  <a:solidFill>
                    <a:srgbClr val="5F6368"/>
                  </a:solidFill>
                  <a:latin typeface="Arial"/>
                  <a:ea typeface="Arial"/>
                  <a:cs typeface="Arial"/>
                  <a:sym typeface="Arial"/>
                </a:rPr>
                <a:t>ADMM</a:t>
              </a:r>
              <a:endParaRPr sz="1100" b="0">
                <a:solidFill>
                  <a:srgbClr val="5F6368"/>
                </a:solidFill>
                <a:latin typeface="Arial"/>
                <a:ea typeface="Arial"/>
                <a:cs typeface="Arial"/>
                <a:sym typeface="Arial"/>
              </a:endParaRPr>
            </a:p>
            <a:p>
              <a:pPr marL="457200" lvl="0" indent="-298450" algn="l" rtl="0">
                <a:spcBef>
                  <a:spcPts val="300"/>
                </a:spcBef>
                <a:spcAft>
                  <a:spcPts val="0"/>
                </a:spcAft>
                <a:buClr>
                  <a:srgbClr val="5F6368"/>
                </a:buClr>
                <a:buSzPts val="1100"/>
                <a:buFont typeface="Arial"/>
                <a:buChar char="●"/>
              </a:pPr>
              <a:r>
                <a:rPr lang="en" sz="1100" b="0">
                  <a:solidFill>
                    <a:srgbClr val="5F6368"/>
                  </a:solidFill>
                  <a:latin typeface="Arial"/>
                  <a:ea typeface="Arial"/>
                  <a:cs typeface="Arial"/>
                  <a:sym typeface="Arial"/>
                </a:rPr>
                <a:t>Primal-Dual</a:t>
              </a:r>
              <a:endParaRPr sz="1100" b="0">
                <a:solidFill>
                  <a:srgbClr val="5F6368"/>
                </a:solidFill>
                <a:latin typeface="Arial"/>
                <a:ea typeface="Arial"/>
                <a:cs typeface="Arial"/>
                <a:sym typeface="Arial"/>
              </a:endParaRPr>
            </a:p>
            <a:p>
              <a:pPr marL="457200" lvl="0" indent="-298450" algn="l" rtl="0">
                <a:spcBef>
                  <a:spcPts val="300"/>
                </a:spcBef>
                <a:spcAft>
                  <a:spcPts val="0"/>
                </a:spcAft>
                <a:buClr>
                  <a:srgbClr val="5F6368"/>
                </a:buClr>
                <a:buSzPts val="1100"/>
                <a:buFont typeface="Arial"/>
                <a:buChar char="●"/>
              </a:pPr>
              <a:r>
                <a:rPr lang="en" sz="1100" b="0">
                  <a:solidFill>
                    <a:srgbClr val="5F6368"/>
                  </a:solidFill>
                  <a:latin typeface="Arial"/>
                  <a:ea typeface="Arial"/>
                  <a:cs typeface="Arial"/>
                  <a:sym typeface="Arial"/>
                </a:rPr>
                <a:t>Split Bregman</a:t>
              </a:r>
              <a:endParaRPr sz="1100" b="0">
                <a:solidFill>
                  <a:srgbClr val="5F6368"/>
                </a:solidFill>
                <a:latin typeface="Arial"/>
                <a:ea typeface="Arial"/>
                <a:cs typeface="Arial"/>
                <a:sym typeface="Arial"/>
              </a:endParaRPr>
            </a:p>
          </p:txBody>
        </p:sp>
      </p:grpSp>
      <p:grpSp>
        <p:nvGrpSpPr>
          <p:cNvPr id="107" name="Google Shape;107;p16"/>
          <p:cNvGrpSpPr/>
          <p:nvPr/>
        </p:nvGrpSpPr>
        <p:grpSpPr>
          <a:xfrm>
            <a:off x="4762500" y="1047750"/>
            <a:ext cx="4000500" cy="3381300"/>
            <a:chOff x="4762500" y="1047750"/>
            <a:chExt cx="4000500" cy="3381300"/>
          </a:xfrm>
        </p:grpSpPr>
        <p:sp>
          <p:nvSpPr>
            <p:cNvPr id="108" name="Google Shape;108;p16"/>
            <p:cNvSpPr/>
            <p:nvPr/>
          </p:nvSpPr>
          <p:spPr>
            <a:xfrm>
              <a:off x="4762500" y="1047750"/>
              <a:ext cx="4000500" cy="3381300"/>
            </a:xfrm>
            <a:prstGeom prst="roundRect">
              <a:avLst>
                <a:gd name="adj" fmla="val 3380"/>
              </a:avLst>
            </a:prstGeom>
            <a:solidFill>
              <a:srgbClr val="E8F0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9" name="Google Shape;109;p16"/>
            <p:cNvSpPr txBox="1"/>
            <p:nvPr/>
          </p:nvSpPr>
          <p:spPr>
            <a:xfrm>
              <a:off x="4953000" y="1238250"/>
              <a:ext cx="3619500" cy="3000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00" b="1">
                  <a:solidFill>
                    <a:srgbClr val="1A73E8"/>
                  </a:solidFill>
                  <a:latin typeface="Arial"/>
                  <a:ea typeface="Arial"/>
                  <a:cs typeface="Arial"/>
                  <a:sym typeface="Arial"/>
                </a:rPr>
                <a:t>Project Objective</a:t>
              </a:r>
              <a:endParaRPr sz="1600" b="1">
                <a:solidFill>
                  <a:srgbClr val="1A73E8"/>
                </a:solidFill>
                <a:latin typeface="Arial"/>
                <a:ea typeface="Arial"/>
                <a:cs typeface="Arial"/>
                <a:sym typeface="Arial"/>
              </a:endParaRPr>
            </a:p>
            <a:p>
              <a:pPr marL="0" lvl="0" indent="0" algn="l" rtl="0">
                <a:spcBef>
                  <a:spcPts val="1125"/>
                </a:spcBef>
                <a:spcAft>
                  <a:spcPts val="0"/>
                </a:spcAft>
                <a:buNone/>
              </a:pPr>
              <a:r>
                <a:rPr lang="en" sz="1100" b="0">
                  <a:solidFill>
                    <a:srgbClr val="424242"/>
                  </a:solidFill>
                  <a:latin typeface="Arial"/>
                  <a:ea typeface="Arial"/>
                  <a:cs typeface="Arial"/>
                  <a:sym typeface="Arial"/>
                </a:rPr>
                <a:t>Study the critical trade-offs between regularization choices and solver efficiency.</a:t>
              </a:r>
              <a:endParaRPr sz="1100" b="0">
                <a:solidFill>
                  <a:srgbClr val="424242"/>
                </a:solidFill>
                <a:latin typeface="Arial"/>
                <a:ea typeface="Arial"/>
                <a:cs typeface="Arial"/>
                <a:sym typeface="Arial"/>
              </a:endParaRPr>
            </a:p>
            <a:p>
              <a:pPr marL="0" lvl="0" indent="0" algn="l" rtl="0">
                <a:spcBef>
                  <a:spcPts val="1125"/>
                </a:spcBef>
                <a:spcAft>
                  <a:spcPts val="0"/>
                </a:spcAft>
                <a:buNone/>
              </a:pPr>
              <a:r>
                <a:rPr lang="en" sz="1200" b="1">
                  <a:solidFill>
                    <a:srgbClr val="1A73E8"/>
                  </a:solidFill>
                  <a:highlight>
                    <a:srgbClr val="FFFFFF"/>
                  </a:highlight>
                  <a:latin typeface="Arial"/>
                  <a:ea typeface="Arial"/>
                  <a:cs typeface="Arial"/>
                  <a:sym typeface="Arial"/>
                </a:rPr>
                <a:t>Study Trade-offs:</a:t>
              </a:r>
              <a:endParaRPr sz="1200" b="1">
                <a:solidFill>
                  <a:srgbClr val="1A73E8"/>
                </a:solidFill>
                <a:highlight>
                  <a:srgbClr val="FFFFFF"/>
                </a:highlight>
                <a:latin typeface="Arial"/>
                <a:ea typeface="Arial"/>
                <a:cs typeface="Arial"/>
                <a:sym typeface="Arial"/>
              </a:endParaRPr>
            </a:p>
            <a:p>
              <a:pPr marL="457200" lvl="0" indent="-298450" algn="l" rtl="0">
                <a:spcBef>
                  <a:spcPts val="750"/>
                </a:spcBef>
                <a:spcAft>
                  <a:spcPts val="0"/>
                </a:spcAft>
                <a:buClr>
                  <a:srgbClr val="5F6368"/>
                </a:buClr>
                <a:buSzPts val="1100"/>
                <a:buFont typeface="Arial"/>
                <a:buChar char="●"/>
              </a:pPr>
              <a:r>
                <a:rPr lang="en" sz="1100" b="1">
                  <a:solidFill>
                    <a:srgbClr val="5F6368"/>
                  </a:solidFill>
                  <a:highlight>
                    <a:srgbClr val="FFFFFF"/>
                  </a:highlight>
                  <a:latin typeface="Arial"/>
                  <a:ea typeface="Arial"/>
                  <a:cs typeface="Arial"/>
                  <a:sym typeface="Arial"/>
                </a:rPr>
                <a:t>Quality</a:t>
              </a:r>
              <a:r>
                <a:rPr lang="en" sz="1100" b="0">
                  <a:solidFill>
                    <a:srgbClr val="5F6368"/>
                  </a:solidFill>
                  <a:highlight>
                    <a:srgbClr val="FFFFFF"/>
                  </a:highlight>
                  <a:latin typeface="Arial"/>
                  <a:ea typeface="Arial"/>
                  <a:cs typeface="Arial"/>
                  <a:sym typeface="Arial"/>
                </a:rPr>
                <a:t> of image reconstruction</a:t>
              </a:r>
              <a:endParaRPr sz="1100" b="0">
                <a:solidFill>
                  <a:srgbClr val="5F6368"/>
                </a:solidFill>
                <a:highlight>
                  <a:srgbClr val="FFFFFF"/>
                </a:highlight>
                <a:latin typeface="Arial"/>
                <a:ea typeface="Arial"/>
                <a:cs typeface="Arial"/>
                <a:sym typeface="Arial"/>
              </a:endParaRPr>
            </a:p>
            <a:p>
              <a:pPr marL="457200" lvl="0" indent="-298450" algn="l" rtl="0">
                <a:spcBef>
                  <a:spcPts val="750"/>
                </a:spcBef>
                <a:spcAft>
                  <a:spcPts val="0"/>
                </a:spcAft>
                <a:buClr>
                  <a:srgbClr val="5F6368"/>
                </a:buClr>
                <a:buSzPts val="1100"/>
                <a:buFont typeface="Arial"/>
                <a:buChar char="●"/>
              </a:pPr>
              <a:r>
                <a:rPr lang="en" sz="1100" b="1">
                  <a:solidFill>
                    <a:srgbClr val="5F6368"/>
                  </a:solidFill>
                  <a:highlight>
                    <a:srgbClr val="FFFFFF"/>
                  </a:highlight>
                  <a:latin typeface="Arial"/>
                  <a:ea typeface="Arial"/>
                  <a:cs typeface="Arial"/>
                  <a:sym typeface="Arial"/>
                </a:rPr>
                <a:t>Speed</a:t>
              </a:r>
              <a:r>
                <a:rPr lang="en" sz="1100" b="0">
                  <a:solidFill>
                    <a:srgbClr val="5F6368"/>
                  </a:solidFill>
                  <a:highlight>
                    <a:srgbClr val="FFFFFF"/>
                  </a:highlight>
                  <a:latin typeface="Arial"/>
                  <a:ea typeface="Arial"/>
                  <a:cs typeface="Arial"/>
                  <a:sym typeface="Arial"/>
                </a:rPr>
                <a:t> of algorithmic convergence</a:t>
              </a:r>
              <a:endParaRPr sz="1100" b="0">
                <a:solidFill>
                  <a:srgbClr val="5F6368"/>
                </a:solidFill>
                <a:highlight>
                  <a:srgbClr val="FFFFFF"/>
                </a:highlight>
                <a:latin typeface="Arial"/>
                <a:ea typeface="Arial"/>
                <a:cs typeface="Arial"/>
                <a:sym typeface="Arial"/>
              </a:endParaRPr>
            </a:p>
            <a:p>
              <a:pPr marL="457200" lvl="0" indent="-298450" algn="l" rtl="0">
                <a:spcBef>
                  <a:spcPts val="750"/>
                </a:spcBef>
                <a:spcAft>
                  <a:spcPts val="0"/>
                </a:spcAft>
                <a:buClr>
                  <a:srgbClr val="5F6368"/>
                </a:buClr>
                <a:buSzPts val="1100"/>
                <a:buFont typeface="Arial"/>
                <a:buChar char="●"/>
              </a:pPr>
              <a:r>
                <a:rPr lang="en" sz="1100" b="1">
                  <a:solidFill>
                    <a:srgbClr val="5F6368"/>
                  </a:solidFill>
                  <a:highlight>
                    <a:srgbClr val="FFFFFF"/>
                  </a:highlight>
                  <a:latin typeface="Arial"/>
                  <a:ea typeface="Arial"/>
                  <a:cs typeface="Arial"/>
                  <a:sym typeface="Arial"/>
                </a:rPr>
                <a:t>Efficiency</a:t>
              </a:r>
              <a:r>
                <a:rPr lang="en" sz="1100" b="0">
                  <a:solidFill>
                    <a:srgbClr val="5F6368"/>
                  </a:solidFill>
                  <a:highlight>
                    <a:srgbClr val="FFFFFF"/>
                  </a:highlight>
                  <a:latin typeface="Arial"/>
                  <a:ea typeface="Arial"/>
                  <a:cs typeface="Arial"/>
                  <a:sym typeface="Arial"/>
                </a:rPr>
                <a:t> in overall computation</a:t>
              </a:r>
              <a:endParaRPr sz="1100" b="0">
                <a:solidFill>
                  <a:srgbClr val="5F6368"/>
                </a:solidFill>
                <a:highlight>
                  <a:srgbClr val="FFFFFF"/>
                </a:highlight>
                <a:latin typeface="Arial"/>
                <a:ea typeface="Arial"/>
                <a:cs typeface="Arial"/>
                <a:sym typeface="Arial"/>
              </a:endParaRPr>
            </a:p>
          </p:txBody>
        </p:sp>
      </p:grpSp>
      <p:pic>
        <p:nvPicPr>
          <p:cNvPr id="110" name="Google Shape;110;p16"/>
          <p:cNvPicPr preferRelativeResize="0"/>
          <p:nvPr/>
        </p:nvPicPr>
        <p:blipFill rotWithShape="1">
          <a:blip r:embed="rId4">
            <a:alphaModFix/>
          </a:blip>
          <a:srcRect/>
          <a:stretch/>
        </p:blipFill>
        <p:spPr>
          <a:xfrm>
            <a:off x="6286500" y="4048125"/>
            <a:ext cx="762000" cy="381000"/>
          </a:xfrm>
          <a:prstGeom prst="rect">
            <a:avLst/>
          </a:prstGeom>
          <a:noFill/>
          <a:ln>
            <a:noFill/>
          </a:ln>
        </p:spPr>
      </p:pic>
      <p:sp>
        <p:nvSpPr>
          <p:cNvPr id="111" name="Google Shape;111;p16"/>
          <p:cNvSpPr/>
          <p:nvPr/>
        </p:nvSpPr>
        <p:spPr>
          <a:xfrm>
            <a:off x="6286500" y="3428850"/>
            <a:ext cx="952500" cy="857400"/>
          </a:xfrm>
          <a:prstGeom prst="triangle">
            <a:avLst>
              <a:gd name="adj" fmla="val 50000"/>
            </a:avLst>
          </a:prstGeom>
          <a:solidFill>
            <a:srgbClr val="1A73E8">
              <a:alpha val="10000"/>
            </a:srgbClr>
          </a:solidFill>
          <a:ln w="19050" cap="flat" cmpd="sng">
            <a:solidFill>
              <a:srgbClr val="1A73E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2" name="Google Shape;112;p16"/>
          <p:cNvSpPr txBox="1"/>
          <p:nvPr/>
        </p:nvSpPr>
        <p:spPr>
          <a:xfrm>
            <a:off x="7048500" y="3569525"/>
            <a:ext cx="1428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000" b="1">
                <a:solidFill>
                  <a:srgbClr val="1A73E8"/>
                </a:solidFill>
                <a:latin typeface="Arial"/>
                <a:ea typeface="Arial"/>
                <a:cs typeface="Arial"/>
                <a:sym typeface="Arial"/>
              </a:rPr>
              <a:t>Regularization</a:t>
            </a:r>
            <a:endParaRPr sz="1000" b="1">
              <a:solidFill>
                <a:srgbClr val="1A73E8"/>
              </a:solidFill>
              <a:latin typeface="Arial"/>
              <a:ea typeface="Arial"/>
              <a:cs typeface="Arial"/>
              <a:sym typeface="Arial"/>
            </a:endParaRPr>
          </a:p>
        </p:txBody>
      </p:sp>
      <p:sp>
        <p:nvSpPr>
          <p:cNvPr id="113" name="Google Shape;113;p16"/>
          <p:cNvSpPr txBox="1"/>
          <p:nvPr/>
        </p:nvSpPr>
        <p:spPr>
          <a:xfrm>
            <a:off x="6048375" y="4286250"/>
            <a:ext cx="1428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000" b="1">
                <a:solidFill>
                  <a:srgbClr val="5F6368"/>
                </a:solidFill>
                <a:latin typeface="Arial"/>
                <a:ea typeface="Arial"/>
                <a:cs typeface="Arial"/>
                <a:sym typeface="Arial"/>
              </a:rPr>
              <a:t>Image Quality</a:t>
            </a:r>
            <a:endParaRPr sz="1000" b="1">
              <a:solidFill>
                <a:srgbClr val="5F6368"/>
              </a:solidFill>
              <a:latin typeface="Arial"/>
              <a:ea typeface="Arial"/>
              <a:cs typeface="Arial"/>
              <a:sym typeface="Arial"/>
            </a:endParaRPr>
          </a:p>
        </p:txBody>
      </p:sp>
      <p:sp>
        <p:nvSpPr>
          <p:cNvPr id="114" name="Google Shape;114;p16"/>
          <p:cNvSpPr txBox="1"/>
          <p:nvPr/>
        </p:nvSpPr>
        <p:spPr>
          <a:xfrm>
            <a:off x="5288725" y="3569525"/>
            <a:ext cx="11430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rgbClr val="1A73E8"/>
                </a:solidFill>
                <a:latin typeface="Arial"/>
                <a:ea typeface="Arial"/>
                <a:cs typeface="Arial"/>
                <a:sym typeface="Arial"/>
              </a:rPr>
              <a:t>Optimization</a:t>
            </a:r>
            <a:endParaRPr sz="1000" b="1">
              <a:solidFill>
                <a:srgbClr val="1A73E8"/>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8"/>
        <p:cNvGrpSpPr/>
        <p:nvPr/>
      </p:nvGrpSpPr>
      <p:grpSpPr>
        <a:xfrm>
          <a:off x="0" y="0"/>
          <a:ext cx="0" cy="0"/>
          <a:chOff x="0" y="0"/>
          <a:chExt cx="0" cy="0"/>
        </a:xfrm>
      </p:grpSpPr>
      <p:sp>
        <p:nvSpPr>
          <p:cNvPr id="119" name="Google Shape;119;p17"/>
          <p:cNvSpPr txBox="1">
            <a:spLocks noGrp="1"/>
          </p:cNvSpPr>
          <p:nvPr>
            <p:ph type="title"/>
          </p:nvPr>
        </p:nvSpPr>
        <p:spPr>
          <a:xfrm>
            <a:off x="381000" y="285750"/>
            <a:ext cx="8382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3200" b="1">
                <a:solidFill>
                  <a:srgbClr val="212121"/>
                </a:solidFill>
                <a:latin typeface="Arial"/>
                <a:ea typeface="Arial"/>
                <a:cs typeface="Arial"/>
                <a:sym typeface="Arial"/>
              </a:rPr>
              <a:t>Assumptions and Optimization Setting</a:t>
            </a:r>
            <a:endParaRPr sz="3200" b="1">
              <a:solidFill>
                <a:srgbClr val="212121"/>
              </a:solidFill>
              <a:latin typeface="Arial"/>
              <a:ea typeface="Arial"/>
              <a:cs typeface="Arial"/>
              <a:sym typeface="Arial"/>
            </a:endParaRPr>
          </a:p>
        </p:txBody>
      </p:sp>
      <p:grpSp>
        <p:nvGrpSpPr>
          <p:cNvPr id="120" name="Google Shape;120;p17"/>
          <p:cNvGrpSpPr/>
          <p:nvPr/>
        </p:nvGrpSpPr>
        <p:grpSpPr>
          <a:xfrm>
            <a:off x="381000" y="1047750"/>
            <a:ext cx="4095900" cy="3238500"/>
            <a:chOff x="381000" y="1047750"/>
            <a:chExt cx="4095900" cy="3238500"/>
          </a:xfrm>
        </p:grpSpPr>
        <p:sp>
          <p:nvSpPr>
            <p:cNvPr id="121" name="Google Shape;121;p17"/>
            <p:cNvSpPr/>
            <p:nvPr/>
          </p:nvSpPr>
          <p:spPr>
            <a:xfrm>
              <a:off x="381000" y="1047750"/>
              <a:ext cx="4095900" cy="3238500"/>
            </a:xfrm>
            <a:prstGeom prst="roundRect">
              <a:avLst>
                <a:gd name="adj" fmla="val 3529"/>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2" name="Google Shape;122;p17"/>
            <p:cNvSpPr txBox="1"/>
            <p:nvPr/>
          </p:nvSpPr>
          <p:spPr>
            <a:xfrm>
              <a:off x="571500" y="1238250"/>
              <a:ext cx="37149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00" b="1">
                  <a:solidFill>
                    <a:srgbClr val="1A73E8"/>
                  </a:solidFill>
                  <a:latin typeface="Arial"/>
                  <a:ea typeface="Arial"/>
                  <a:cs typeface="Arial"/>
                  <a:sym typeface="Arial"/>
                </a:rPr>
                <a:t>Key Assumptions</a:t>
              </a:r>
              <a:endParaRPr sz="1600" b="1">
                <a:solidFill>
                  <a:srgbClr val="1A73E8"/>
                </a:solidFill>
                <a:latin typeface="Arial"/>
                <a:ea typeface="Arial"/>
                <a:cs typeface="Arial"/>
                <a:sym typeface="Arial"/>
              </a:endParaRPr>
            </a:p>
            <a:p>
              <a:pPr marL="457200" lvl="0" indent="-304800" algn="l" rtl="0">
                <a:spcBef>
                  <a:spcPts val="1125"/>
                </a:spcBef>
                <a:spcAft>
                  <a:spcPts val="0"/>
                </a:spcAft>
                <a:buClr>
                  <a:srgbClr val="424242"/>
                </a:buClr>
                <a:buSzPts val="1200"/>
                <a:buFont typeface="Arial"/>
                <a:buChar char="●"/>
              </a:pPr>
              <a:r>
                <a:rPr lang="en" sz="1200" b="0">
                  <a:solidFill>
                    <a:srgbClr val="424242"/>
                  </a:solidFill>
                  <a:latin typeface="Arial"/>
                  <a:ea typeface="Arial"/>
                  <a:cs typeface="Arial"/>
                  <a:sym typeface="Arial"/>
                </a:rPr>
                <a:t>Blur is spatially invariant</a:t>
              </a:r>
              <a:endParaRPr sz="1200" b="0">
                <a:solidFill>
                  <a:srgbClr val="424242"/>
                </a:solidFill>
                <a:latin typeface="Arial"/>
                <a:ea typeface="Arial"/>
                <a:cs typeface="Arial"/>
                <a:sym typeface="Arial"/>
              </a:endParaRPr>
            </a:p>
            <a:p>
              <a:pPr marL="457200" lvl="0" indent="-304800" algn="l" rtl="0">
                <a:spcBef>
                  <a:spcPts val="900"/>
                </a:spcBef>
                <a:spcAft>
                  <a:spcPts val="0"/>
                </a:spcAft>
                <a:buClr>
                  <a:srgbClr val="424242"/>
                </a:buClr>
                <a:buSzPts val="1200"/>
                <a:buFont typeface="Arial"/>
                <a:buChar char="●"/>
              </a:pPr>
              <a:r>
                <a:rPr lang="en" sz="1200" b="0">
                  <a:solidFill>
                    <a:srgbClr val="424242"/>
                  </a:solidFill>
                  <a:latin typeface="Arial"/>
                  <a:ea typeface="Arial"/>
                  <a:cs typeface="Arial"/>
                  <a:sym typeface="Arial"/>
                </a:rPr>
                <a:t>Blur kernel K known (non-blind deblurring)</a:t>
              </a:r>
              <a:endParaRPr sz="1200" b="0">
                <a:solidFill>
                  <a:srgbClr val="424242"/>
                </a:solidFill>
                <a:latin typeface="Arial"/>
                <a:ea typeface="Arial"/>
                <a:cs typeface="Arial"/>
                <a:sym typeface="Arial"/>
              </a:endParaRPr>
            </a:p>
            <a:p>
              <a:pPr marL="457200" lvl="0" indent="-304800" algn="l" rtl="0">
                <a:spcBef>
                  <a:spcPts val="900"/>
                </a:spcBef>
                <a:spcAft>
                  <a:spcPts val="0"/>
                </a:spcAft>
                <a:buClr>
                  <a:srgbClr val="424242"/>
                </a:buClr>
                <a:buSzPts val="1200"/>
                <a:buFont typeface="Arial"/>
                <a:buChar char="●"/>
              </a:pPr>
              <a:r>
                <a:rPr lang="en" sz="1200" b="0">
                  <a:solidFill>
                    <a:srgbClr val="424242"/>
                  </a:solidFill>
                  <a:latin typeface="Arial"/>
                  <a:ea typeface="Arial"/>
                  <a:cs typeface="Arial"/>
                  <a:sym typeface="Arial"/>
                </a:rPr>
                <a:t>Additive Gaussian noise</a:t>
              </a:r>
              <a:endParaRPr sz="1200" b="0">
                <a:solidFill>
                  <a:srgbClr val="424242"/>
                </a:solidFill>
                <a:latin typeface="Arial"/>
                <a:ea typeface="Arial"/>
                <a:cs typeface="Arial"/>
                <a:sym typeface="Arial"/>
              </a:endParaRPr>
            </a:p>
            <a:p>
              <a:pPr marL="457200" lvl="0" indent="-304800" algn="l" rtl="0">
                <a:spcBef>
                  <a:spcPts val="900"/>
                </a:spcBef>
                <a:spcAft>
                  <a:spcPts val="0"/>
                </a:spcAft>
                <a:buClr>
                  <a:srgbClr val="424242"/>
                </a:buClr>
                <a:buSzPts val="1200"/>
                <a:buFont typeface="Arial"/>
                <a:buChar char="●"/>
              </a:pPr>
              <a:r>
                <a:rPr lang="en" sz="1200" b="0">
                  <a:solidFill>
                    <a:srgbClr val="424242"/>
                  </a:solidFill>
                  <a:latin typeface="Arial"/>
                  <a:ea typeface="Arial"/>
                  <a:cs typeface="Arial"/>
                  <a:sym typeface="Arial"/>
                </a:rPr>
                <a:t>Images modeled as piecewise smooth</a:t>
              </a:r>
              <a:endParaRPr sz="1200" b="0">
                <a:solidFill>
                  <a:srgbClr val="424242"/>
                </a:solidFill>
                <a:latin typeface="Arial"/>
                <a:ea typeface="Arial"/>
                <a:cs typeface="Arial"/>
                <a:sym typeface="Arial"/>
              </a:endParaRPr>
            </a:p>
            <a:p>
              <a:pPr marL="457200" lvl="0" indent="-304800" algn="l" rtl="0">
                <a:spcBef>
                  <a:spcPts val="900"/>
                </a:spcBef>
                <a:spcAft>
                  <a:spcPts val="0"/>
                </a:spcAft>
                <a:buClr>
                  <a:srgbClr val="424242"/>
                </a:buClr>
                <a:buSzPts val="1200"/>
                <a:buFont typeface="Arial"/>
                <a:buChar char="●"/>
              </a:pPr>
              <a:r>
                <a:rPr lang="en" sz="1200" b="0">
                  <a:solidFill>
                    <a:srgbClr val="424242"/>
                  </a:solidFill>
                  <a:latin typeface="Arial"/>
                  <a:ea typeface="Arial"/>
                  <a:cs typeface="Arial"/>
                  <a:sym typeface="Arial"/>
                </a:rPr>
                <a:t>Gradient sparsity prior holds</a:t>
              </a:r>
              <a:endParaRPr sz="1200" b="0">
                <a:solidFill>
                  <a:srgbClr val="424242"/>
                </a:solidFill>
                <a:latin typeface="Arial"/>
                <a:ea typeface="Arial"/>
                <a:cs typeface="Arial"/>
                <a:sym typeface="Arial"/>
              </a:endParaRPr>
            </a:p>
          </p:txBody>
        </p:sp>
      </p:grpSp>
      <p:grpSp>
        <p:nvGrpSpPr>
          <p:cNvPr id="123" name="Google Shape;123;p17"/>
          <p:cNvGrpSpPr/>
          <p:nvPr/>
        </p:nvGrpSpPr>
        <p:grpSpPr>
          <a:xfrm>
            <a:off x="4667250" y="1047750"/>
            <a:ext cx="4095900" cy="3238500"/>
            <a:chOff x="4667250" y="1047750"/>
            <a:chExt cx="4095900" cy="3238500"/>
          </a:xfrm>
        </p:grpSpPr>
        <p:sp>
          <p:nvSpPr>
            <p:cNvPr id="124" name="Google Shape;124;p17"/>
            <p:cNvSpPr/>
            <p:nvPr/>
          </p:nvSpPr>
          <p:spPr>
            <a:xfrm>
              <a:off x="4667250" y="1047750"/>
              <a:ext cx="4095900" cy="3238500"/>
            </a:xfrm>
            <a:prstGeom prst="roundRect">
              <a:avLst>
                <a:gd name="adj" fmla="val 3529"/>
              </a:avLst>
            </a:prstGeom>
            <a:solidFill>
              <a:srgbClr val="E8F0FE"/>
            </a:solidFill>
            <a:ln w="9525" cap="flat" cmpd="sng">
              <a:solidFill>
                <a:srgbClr val="D2E3F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5" name="Google Shape;125;p17"/>
            <p:cNvSpPr txBox="1"/>
            <p:nvPr/>
          </p:nvSpPr>
          <p:spPr>
            <a:xfrm>
              <a:off x="4857750" y="1238250"/>
              <a:ext cx="37149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00" b="1">
                  <a:solidFill>
                    <a:srgbClr val="1A73E8"/>
                  </a:solidFill>
                  <a:latin typeface="Arial"/>
                  <a:ea typeface="Arial"/>
                  <a:cs typeface="Arial"/>
                  <a:sym typeface="Arial"/>
                </a:rPr>
                <a:t>Solvers Investigated</a:t>
              </a:r>
              <a:endParaRPr sz="1600" b="1">
                <a:solidFill>
                  <a:srgbClr val="1A73E8"/>
                </a:solidFill>
                <a:latin typeface="Arial"/>
                <a:ea typeface="Arial"/>
                <a:cs typeface="Arial"/>
                <a:sym typeface="Arial"/>
              </a:endParaRPr>
            </a:p>
            <a:p>
              <a:pPr marL="457200" lvl="0" indent="-304800" algn="l" rtl="0">
                <a:spcBef>
                  <a:spcPts val="1125"/>
                </a:spcBef>
                <a:spcAft>
                  <a:spcPts val="0"/>
                </a:spcAft>
                <a:buClr>
                  <a:srgbClr val="1A73E8"/>
                </a:buClr>
                <a:buSzPts val="1200"/>
                <a:buFont typeface="Arial"/>
                <a:buChar char="●"/>
              </a:pPr>
              <a:r>
                <a:rPr lang="en" sz="1200" b="0">
                  <a:solidFill>
                    <a:srgbClr val="424242"/>
                  </a:solidFill>
                  <a:latin typeface="Arial"/>
                  <a:ea typeface="Arial"/>
                  <a:cs typeface="Arial"/>
                  <a:sym typeface="Arial"/>
                </a:rPr>
                <a:t>Gradient Descent</a:t>
              </a:r>
              <a:endParaRPr sz="1200" b="0">
                <a:solidFill>
                  <a:srgbClr val="424242"/>
                </a:solidFill>
                <a:latin typeface="Arial"/>
                <a:ea typeface="Arial"/>
                <a:cs typeface="Arial"/>
                <a:sym typeface="Arial"/>
              </a:endParaRPr>
            </a:p>
            <a:p>
              <a:pPr marL="457200" lvl="0" indent="-304800" algn="l" rtl="0">
                <a:spcBef>
                  <a:spcPts val="600"/>
                </a:spcBef>
                <a:spcAft>
                  <a:spcPts val="0"/>
                </a:spcAft>
                <a:buClr>
                  <a:srgbClr val="1A73E8"/>
                </a:buClr>
                <a:buSzPts val="1200"/>
                <a:buFont typeface="Arial"/>
                <a:buChar char="●"/>
              </a:pPr>
              <a:r>
                <a:rPr lang="en" sz="1200" b="0">
                  <a:solidFill>
                    <a:srgbClr val="424242"/>
                  </a:solidFill>
                  <a:latin typeface="Arial"/>
                  <a:ea typeface="Arial"/>
                  <a:cs typeface="Arial"/>
                  <a:sym typeface="Arial"/>
                </a:rPr>
                <a:t>FISTA</a:t>
              </a:r>
              <a:endParaRPr sz="1200" b="0">
                <a:solidFill>
                  <a:srgbClr val="424242"/>
                </a:solidFill>
                <a:latin typeface="Arial"/>
                <a:ea typeface="Arial"/>
                <a:cs typeface="Arial"/>
                <a:sym typeface="Arial"/>
              </a:endParaRPr>
            </a:p>
            <a:p>
              <a:pPr marL="457200" lvl="0" indent="-304800" algn="l" rtl="0">
                <a:spcBef>
                  <a:spcPts val="600"/>
                </a:spcBef>
                <a:spcAft>
                  <a:spcPts val="0"/>
                </a:spcAft>
                <a:buClr>
                  <a:srgbClr val="1A73E8"/>
                </a:buClr>
                <a:buSzPts val="1200"/>
                <a:buFont typeface="Arial"/>
                <a:buChar char="●"/>
              </a:pPr>
              <a:r>
                <a:rPr lang="en" sz="1200" b="0">
                  <a:solidFill>
                    <a:srgbClr val="424242"/>
                  </a:solidFill>
                  <a:latin typeface="Arial"/>
                  <a:ea typeface="Arial"/>
                  <a:cs typeface="Arial"/>
                  <a:sym typeface="Arial"/>
                </a:rPr>
                <a:t>ADMM</a:t>
              </a:r>
              <a:endParaRPr sz="1200" b="0">
                <a:solidFill>
                  <a:srgbClr val="424242"/>
                </a:solidFill>
                <a:latin typeface="Arial"/>
                <a:ea typeface="Arial"/>
                <a:cs typeface="Arial"/>
                <a:sym typeface="Arial"/>
              </a:endParaRPr>
            </a:p>
            <a:p>
              <a:pPr marL="457200" lvl="0" indent="-304800" algn="l" rtl="0">
                <a:spcBef>
                  <a:spcPts val="600"/>
                </a:spcBef>
                <a:spcAft>
                  <a:spcPts val="0"/>
                </a:spcAft>
                <a:buClr>
                  <a:srgbClr val="1A73E8"/>
                </a:buClr>
                <a:buSzPts val="1200"/>
                <a:buFont typeface="Arial"/>
                <a:buChar char="●"/>
              </a:pPr>
              <a:r>
                <a:rPr lang="en" sz="1200" b="0">
                  <a:solidFill>
                    <a:srgbClr val="424242"/>
                  </a:solidFill>
                  <a:latin typeface="Arial"/>
                  <a:ea typeface="Arial"/>
                  <a:cs typeface="Arial"/>
                  <a:sym typeface="Arial"/>
                </a:rPr>
                <a:t>Primal-Dual</a:t>
              </a:r>
              <a:endParaRPr sz="1200" b="0">
                <a:solidFill>
                  <a:srgbClr val="424242"/>
                </a:solidFill>
                <a:latin typeface="Arial"/>
                <a:ea typeface="Arial"/>
                <a:cs typeface="Arial"/>
                <a:sym typeface="Arial"/>
              </a:endParaRPr>
            </a:p>
            <a:p>
              <a:pPr marL="457200" lvl="0" indent="-304800" algn="l" rtl="0">
                <a:spcBef>
                  <a:spcPts val="600"/>
                </a:spcBef>
                <a:spcAft>
                  <a:spcPts val="0"/>
                </a:spcAft>
                <a:buClr>
                  <a:srgbClr val="1A73E8"/>
                </a:buClr>
                <a:buSzPts val="1200"/>
                <a:buFont typeface="Arial"/>
                <a:buChar char="●"/>
              </a:pPr>
              <a:r>
                <a:rPr lang="en" sz="1200" b="0">
                  <a:solidFill>
                    <a:srgbClr val="424242"/>
                  </a:solidFill>
                  <a:latin typeface="Arial"/>
                  <a:ea typeface="Arial"/>
                  <a:cs typeface="Arial"/>
                  <a:sym typeface="Arial"/>
                </a:rPr>
                <a:t>Split Bregman</a:t>
              </a:r>
              <a:endParaRPr sz="1200" b="0">
                <a:solidFill>
                  <a:srgbClr val="424242"/>
                </a:solidFill>
                <a:latin typeface="Arial"/>
                <a:ea typeface="Arial"/>
                <a:cs typeface="Arial"/>
                <a:sym typeface="Arial"/>
              </a:endParaRPr>
            </a:p>
            <a:p>
              <a:pPr marL="457200" lvl="0" indent="-304800" algn="l" rtl="0">
                <a:spcBef>
                  <a:spcPts val="600"/>
                </a:spcBef>
                <a:spcAft>
                  <a:spcPts val="0"/>
                </a:spcAft>
                <a:buClr>
                  <a:schemeClr val="dk1"/>
                </a:buClr>
                <a:buSzPts val="1200"/>
                <a:buFont typeface="Arial"/>
                <a:buChar char="●"/>
              </a:pPr>
              <a:r>
                <a:rPr lang="en" sz="1200">
                  <a:solidFill>
                    <a:schemeClr val="dk1"/>
                  </a:solidFill>
                </a:rPr>
                <a:t>PIRL1-AM / APIRL1-AM</a:t>
              </a:r>
              <a:endParaRPr sz="1200">
                <a:solidFill>
                  <a:schemeClr val="dk1"/>
                </a:solidFill>
              </a:endParaRPr>
            </a:p>
          </p:txBody>
        </p:sp>
      </p:grpSp>
      <p:sp>
        <p:nvSpPr>
          <p:cNvPr id="126" name="Google Shape;126;p17"/>
          <p:cNvSpPr txBox="1"/>
          <p:nvPr/>
        </p:nvSpPr>
        <p:spPr>
          <a:xfrm>
            <a:off x="381000" y="4429125"/>
            <a:ext cx="8382000" cy="476400"/>
          </a:xfrm>
          <a:prstGeom prst="rect">
            <a:avLst/>
          </a:prstGeom>
          <a:solidFill>
            <a:srgbClr val="FFFFFF">
              <a:alpha val="8000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400" b="1">
                <a:solidFill>
                  <a:srgbClr val="212121"/>
                </a:solidFill>
                <a:latin typeface="Arial"/>
                <a:ea typeface="Arial"/>
                <a:cs typeface="Arial"/>
                <a:sym typeface="Arial"/>
              </a:rPr>
              <a:t>Goal: </a:t>
            </a:r>
            <a:r>
              <a:rPr lang="en" sz="1400" b="0">
                <a:solidFill>
                  <a:srgbClr val="5F6368"/>
                </a:solidFill>
                <a:latin typeface="Arial"/>
                <a:ea typeface="Arial"/>
                <a:cs typeface="Arial"/>
                <a:sym typeface="Arial"/>
              </a:rPr>
              <a:t>Compare how regularization and optimization methods influence deblurring performance.</a:t>
            </a:r>
            <a:endParaRPr sz="1400" b="1">
              <a:solidFill>
                <a:srgbClr val="21212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0"/>
        <p:cNvGrpSpPr/>
        <p:nvPr/>
      </p:nvGrpSpPr>
      <p:grpSpPr>
        <a:xfrm>
          <a:off x="0" y="0"/>
          <a:ext cx="0" cy="0"/>
          <a:chOff x="0" y="0"/>
          <a:chExt cx="0" cy="0"/>
        </a:xfrm>
      </p:grpSpPr>
      <p:sp>
        <p:nvSpPr>
          <p:cNvPr id="131" name="Google Shape;131;p18"/>
          <p:cNvSpPr txBox="1"/>
          <p:nvPr/>
        </p:nvSpPr>
        <p:spPr>
          <a:xfrm>
            <a:off x="381000" y="238125"/>
            <a:ext cx="8382000" cy="666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040" b="1">
                <a:solidFill>
                  <a:srgbClr val="212121"/>
                </a:solidFill>
                <a:latin typeface="Arial"/>
                <a:ea typeface="Arial"/>
                <a:cs typeface="Arial"/>
                <a:sym typeface="Arial"/>
              </a:rPr>
              <a:t>Paper 1: Hybrid Convex TV Regularization for Non-Blind Deblurring</a:t>
            </a:r>
            <a:endParaRPr sz="2040" b="1">
              <a:solidFill>
                <a:srgbClr val="212121"/>
              </a:solidFill>
              <a:latin typeface="Arial"/>
              <a:ea typeface="Arial"/>
              <a:cs typeface="Arial"/>
              <a:sym typeface="Arial"/>
            </a:endParaRPr>
          </a:p>
        </p:txBody>
      </p:sp>
      <p:grpSp>
        <p:nvGrpSpPr>
          <p:cNvPr id="132" name="Google Shape;132;p18"/>
          <p:cNvGrpSpPr/>
          <p:nvPr/>
        </p:nvGrpSpPr>
        <p:grpSpPr>
          <a:xfrm>
            <a:off x="381000" y="1047750"/>
            <a:ext cx="8382000" cy="1333500"/>
            <a:chOff x="381000" y="1047750"/>
            <a:chExt cx="8382000" cy="1333500"/>
          </a:xfrm>
        </p:grpSpPr>
        <p:sp>
          <p:nvSpPr>
            <p:cNvPr id="133" name="Google Shape;133;p18"/>
            <p:cNvSpPr/>
            <p:nvPr/>
          </p:nvSpPr>
          <p:spPr>
            <a:xfrm>
              <a:off x="381000" y="1047750"/>
              <a:ext cx="8382000" cy="1333500"/>
            </a:xfrm>
            <a:prstGeom prst="roundRect">
              <a:avLst>
                <a:gd name="adj" fmla="val 8571"/>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4" name="Google Shape;134;p18"/>
            <p:cNvSpPr txBox="1"/>
            <p:nvPr/>
          </p:nvSpPr>
          <p:spPr>
            <a:xfrm>
              <a:off x="571500" y="1190625"/>
              <a:ext cx="1905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Optimization Model</a:t>
              </a:r>
              <a:endParaRPr sz="1400" b="1">
                <a:solidFill>
                  <a:srgbClr val="1A73E8"/>
                </a:solidFill>
                <a:latin typeface="Arial"/>
                <a:ea typeface="Arial"/>
                <a:cs typeface="Arial"/>
                <a:sym typeface="Arial"/>
              </a:endParaRPr>
            </a:p>
          </p:txBody>
        </p:sp>
      </p:grpSp>
      <p:grpSp>
        <p:nvGrpSpPr>
          <p:cNvPr id="135" name="Google Shape;135;p18"/>
          <p:cNvGrpSpPr/>
          <p:nvPr/>
        </p:nvGrpSpPr>
        <p:grpSpPr>
          <a:xfrm>
            <a:off x="381000" y="2476500"/>
            <a:ext cx="3333900" cy="2428800"/>
            <a:chOff x="381000" y="2476500"/>
            <a:chExt cx="3333900" cy="2428800"/>
          </a:xfrm>
        </p:grpSpPr>
        <p:sp>
          <p:nvSpPr>
            <p:cNvPr id="136" name="Google Shape;136;p18"/>
            <p:cNvSpPr/>
            <p:nvPr/>
          </p:nvSpPr>
          <p:spPr>
            <a:xfrm>
              <a:off x="381000" y="2476500"/>
              <a:ext cx="3333900" cy="2428800"/>
            </a:xfrm>
            <a:prstGeom prst="roundRect">
              <a:avLst>
                <a:gd name="adj" fmla="val 4705"/>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7" name="Google Shape;137;p18"/>
            <p:cNvSpPr txBox="1"/>
            <p:nvPr/>
          </p:nvSpPr>
          <p:spPr>
            <a:xfrm>
              <a:off x="571500" y="2619375"/>
              <a:ext cx="2952900" cy="2143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Variable Definitions</a:t>
              </a:r>
              <a:endParaRPr sz="1400" b="1">
                <a:solidFill>
                  <a:srgbClr val="1A73E8"/>
                </a:solidFill>
                <a:latin typeface="Arial"/>
                <a:ea typeface="Arial"/>
                <a:cs typeface="Arial"/>
                <a:sym typeface="Arial"/>
              </a:endParaRPr>
            </a:p>
            <a:p>
              <a:pPr marL="457200" lvl="0" indent="-298450" algn="l" rtl="0">
                <a:spcBef>
                  <a:spcPts val="750"/>
                </a:spcBef>
                <a:spcAft>
                  <a:spcPts val="0"/>
                </a:spcAft>
                <a:buClr>
                  <a:srgbClr val="424242"/>
                </a:buClr>
                <a:buSzPts val="1100"/>
                <a:buFont typeface="Arial"/>
                <a:buChar char="●"/>
              </a:pPr>
              <a:r>
                <a:rPr lang="en" sz="1100" b="1">
                  <a:solidFill>
                    <a:srgbClr val="424242"/>
                  </a:solidFill>
                  <a:latin typeface="Arial"/>
                  <a:ea typeface="Arial"/>
                  <a:cs typeface="Arial"/>
                  <a:sym typeface="Arial"/>
                </a:rPr>
                <a:t>v</a:t>
              </a:r>
              <a:r>
                <a:rPr lang="en" sz="1100" b="0">
                  <a:solidFill>
                    <a:srgbClr val="424242"/>
                  </a:solidFill>
                  <a:latin typeface="Arial"/>
                  <a:ea typeface="Arial"/>
                  <a:cs typeface="Arial"/>
                  <a:sym typeface="Arial"/>
                </a:rPr>
                <a:t> : restored image</a:t>
              </a:r>
              <a:endParaRPr sz="1100" b="0">
                <a:solidFill>
                  <a:srgbClr val="424242"/>
                </a:solidFill>
                <a:latin typeface="Arial"/>
                <a:ea typeface="Arial"/>
                <a:cs typeface="Arial"/>
                <a:sym typeface="Arial"/>
              </a:endParaRPr>
            </a:p>
            <a:p>
              <a:pPr marL="457200" lvl="0" indent="-298450" algn="l" rtl="0">
                <a:spcBef>
                  <a:spcPts val="600"/>
                </a:spcBef>
                <a:spcAft>
                  <a:spcPts val="0"/>
                </a:spcAft>
                <a:buClr>
                  <a:srgbClr val="424242"/>
                </a:buClr>
                <a:buSzPts val="1100"/>
                <a:buFont typeface="Arial"/>
                <a:buChar char="●"/>
              </a:pPr>
              <a:r>
                <a:rPr lang="en" sz="1100" b="1">
                  <a:solidFill>
                    <a:srgbClr val="424242"/>
                  </a:solidFill>
                  <a:latin typeface="Arial"/>
                  <a:ea typeface="Arial"/>
                  <a:cs typeface="Arial"/>
                  <a:sym typeface="Arial"/>
                </a:rPr>
                <a:t>K</a:t>
              </a:r>
              <a:r>
                <a:rPr lang="en" sz="1100" b="0">
                  <a:solidFill>
                    <a:srgbClr val="424242"/>
                  </a:solidFill>
                  <a:latin typeface="Arial"/>
                  <a:ea typeface="Arial"/>
                  <a:cs typeface="Arial"/>
                  <a:sym typeface="Arial"/>
                </a:rPr>
                <a:t> : blur operator</a:t>
              </a:r>
              <a:endParaRPr sz="1100" b="0">
                <a:solidFill>
                  <a:srgbClr val="424242"/>
                </a:solidFill>
                <a:latin typeface="Arial"/>
                <a:ea typeface="Arial"/>
                <a:cs typeface="Arial"/>
                <a:sym typeface="Arial"/>
              </a:endParaRPr>
            </a:p>
            <a:p>
              <a:pPr marL="457200" lvl="0" indent="-298450" algn="l" rtl="0">
                <a:spcBef>
                  <a:spcPts val="600"/>
                </a:spcBef>
                <a:spcAft>
                  <a:spcPts val="0"/>
                </a:spcAft>
                <a:buClr>
                  <a:srgbClr val="424242"/>
                </a:buClr>
                <a:buSzPts val="1100"/>
                <a:buFont typeface="Arial"/>
                <a:buChar char="●"/>
              </a:pPr>
              <a:r>
                <a:rPr lang="en" sz="1100" b="1">
                  <a:solidFill>
                    <a:srgbClr val="424242"/>
                  </a:solidFill>
                  <a:latin typeface="Arial"/>
                  <a:ea typeface="Arial"/>
                  <a:cs typeface="Arial"/>
                  <a:sym typeface="Arial"/>
                </a:rPr>
                <a:t>f</a:t>
              </a:r>
              <a:r>
                <a:rPr lang="en" sz="1100" b="0">
                  <a:solidFill>
                    <a:srgbClr val="424242"/>
                  </a:solidFill>
                  <a:latin typeface="Arial"/>
                  <a:ea typeface="Arial"/>
                  <a:cs typeface="Arial"/>
                  <a:sym typeface="Arial"/>
                </a:rPr>
                <a:t> : observed blurred image</a:t>
              </a:r>
              <a:endParaRPr sz="1100" b="0">
                <a:solidFill>
                  <a:srgbClr val="424242"/>
                </a:solidFill>
                <a:latin typeface="Arial"/>
                <a:ea typeface="Arial"/>
                <a:cs typeface="Arial"/>
                <a:sym typeface="Arial"/>
              </a:endParaRPr>
            </a:p>
            <a:p>
              <a:pPr marL="457200" lvl="0" indent="-298450" algn="l" rtl="0">
                <a:spcBef>
                  <a:spcPts val="600"/>
                </a:spcBef>
                <a:spcAft>
                  <a:spcPts val="0"/>
                </a:spcAft>
                <a:buClr>
                  <a:srgbClr val="424242"/>
                </a:buClr>
                <a:buSzPts val="1100"/>
                <a:buFont typeface="Arial"/>
                <a:buChar char="●"/>
              </a:pPr>
              <a:r>
                <a:rPr lang="en" sz="1100" b="1">
                  <a:solidFill>
                    <a:srgbClr val="424242"/>
                  </a:solidFill>
                  <a:latin typeface="Arial"/>
                  <a:ea typeface="Arial"/>
                  <a:cs typeface="Arial"/>
                  <a:sym typeface="Arial"/>
                </a:rPr>
                <a:t>D</a:t>
              </a:r>
              <a:r>
                <a:rPr lang="en" sz="1100" b="0">
                  <a:solidFill>
                    <a:srgbClr val="424242"/>
                  </a:solidFill>
                  <a:latin typeface="Arial"/>
                  <a:ea typeface="Arial"/>
                  <a:cs typeface="Arial"/>
                  <a:sym typeface="Arial"/>
                </a:rPr>
                <a:t> : discrete gradient operator</a:t>
              </a:r>
              <a:endParaRPr sz="1100" b="0">
                <a:solidFill>
                  <a:srgbClr val="424242"/>
                </a:solidFill>
                <a:latin typeface="Arial"/>
                <a:ea typeface="Arial"/>
                <a:cs typeface="Arial"/>
                <a:sym typeface="Arial"/>
              </a:endParaRPr>
            </a:p>
            <a:p>
              <a:pPr marL="457200" lvl="0" indent="-298450" algn="l" rtl="0">
                <a:spcBef>
                  <a:spcPts val="600"/>
                </a:spcBef>
                <a:spcAft>
                  <a:spcPts val="0"/>
                </a:spcAft>
                <a:buClr>
                  <a:srgbClr val="424242"/>
                </a:buClr>
                <a:buSzPts val="1100"/>
                <a:buFont typeface="Arial"/>
                <a:buChar char="●"/>
              </a:pPr>
              <a:r>
                <a:rPr lang="en" sz="1100" b="1">
                  <a:solidFill>
                    <a:srgbClr val="424242"/>
                  </a:solidFill>
                  <a:latin typeface="Arial"/>
                  <a:ea typeface="Arial"/>
                  <a:cs typeface="Arial"/>
                  <a:sym typeface="Arial"/>
                </a:rPr>
                <a:t>w, θ</a:t>
              </a:r>
              <a:r>
                <a:rPr lang="en" sz="1100" b="0">
                  <a:solidFill>
                    <a:srgbClr val="424242"/>
                  </a:solidFill>
                  <a:latin typeface="Arial"/>
                  <a:ea typeface="Arial"/>
                  <a:cs typeface="Arial"/>
                  <a:sym typeface="Arial"/>
                </a:rPr>
                <a:t> : regularization parameters</a:t>
              </a:r>
              <a:endParaRPr sz="1100" b="0">
                <a:solidFill>
                  <a:srgbClr val="424242"/>
                </a:solidFill>
                <a:latin typeface="Arial"/>
                <a:ea typeface="Arial"/>
                <a:cs typeface="Arial"/>
                <a:sym typeface="Arial"/>
              </a:endParaRPr>
            </a:p>
          </p:txBody>
        </p:sp>
      </p:grpSp>
      <p:pic>
        <p:nvPicPr>
          <p:cNvPr id="138" name="Google Shape;138;p18"/>
          <p:cNvPicPr preferRelativeResize="0"/>
          <p:nvPr/>
        </p:nvPicPr>
        <p:blipFill rotWithShape="1">
          <a:blip r:embed="rId4">
            <a:alphaModFix/>
          </a:blip>
          <a:srcRect t="10" b="20"/>
          <a:stretch/>
        </p:blipFill>
        <p:spPr>
          <a:xfrm>
            <a:off x="1296813" y="4183250"/>
            <a:ext cx="1285800" cy="639000"/>
          </a:xfrm>
          <a:prstGeom prst="rect">
            <a:avLst/>
          </a:prstGeom>
          <a:noFill/>
          <a:ln>
            <a:noFill/>
          </a:ln>
        </p:spPr>
      </p:pic>
      <p:grpSp>
        <p:nvGrpSpPr>
          <p:cNvPr id="139" name="Google Shape;139;p18"/>
          <p:cNvGrpSpPr/>
          <p:nvPr/>
        </p:nvGrpSpPr>
        <p:grpSpPr>
          <a:xfrm>
            <a:off x="3905250" y="2476500"/>
            <a:ext cx="2428800" cy="2428800"/>
            <a:chOff x="3905250" y="2476500"/>
            <a:chExt cx="2428800" cy="2428800"/>
          </a:xfrm>
        </p:grpSpPr>
        <p:sp>
          <p:nvSpPr>
            <p:cNvPr id="140" name="Google Shape;140;p18"/>
            <p:cNvSpPr/>
            <p:nvPr/>
          </p:nvSpPr>
          <p:spPr>
            <a:xfrm>
              <a:off x="3905250" y="2476500"/>
              <a:ext cx="2428800" cy="2428800"/>
            </a:xfrm>
            <a:prstGeom prst="roundRect">
              <a:avLst>
                <a:gd name="adj" fmla="val 4705"/>
              </a:avLst>
            </a:prstGeom>
            <a:solidFill>
              <a:srgbClr val="E8F0FE"/>
            </a:solidFill>
            <a:ln w="9525" cap="flat" cmpd="sng">
              <a:solidFill>
                <a:srgbClr val="D2E3F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1" name="Google Shape;141;p18"/>
            <p:cNvSpPr txBox="1"/>
            <p:nvPr/>
          </p:nvSpPr>
          <p:spPr>
            <a:xfrm>
              <a:off x="4095750" y="2619375"/>
              <a:ext cx="2047800" cy="2143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1">
                  <a:solidFill>
                    <a:srgbClr val="1A73E8"/>
                  </a:solidFill>
                  <a:latin typeface="Arial"/>
                  <a:ea typeface="Arial"/>
                  <a:cs typeface="Arial"/>
                  <a:sym typeface="Arial"/>
                </a:rPr>
                <a:t>Data Fidelity</a:t>
              </a:r>
              <a:endParaRPr sz="1300" b="1">
                <a:solidFill>
                  <a:srgbClr val="1A73E8"/>
                </a:solidFill>
                <a:latin typeface="Arial"/>
                <a:ea typeface="Arial"/>
                <a:cs typeface="Arial"/>
                <a:sym typeface="Arial"/>
              </a:endParaRPr>
            </a:p>
            <a:p>
              <a:pPr marL="0" lvl="0" indent="0" algn="l" rtl="0">
                <a:spcBef>
                  <a:spcPts val="750"/>
                </a:spcBef>
                <a:spcAft>
                  <a:spcPts val="0"/>
                </a:spcAft>
                <a:buNone/>
              </a:pPr>
              <a:r>
                <a:rPr lang="en" sz="1100" b="0">
                  <a:solidFill>
                    <a:srgbClr val="424242"/>
                  </a:solidFill>
                  <a:latin typeface="Arial"/>
                  <a:ea typeface="Arial"/>
                  <a:cs typeface="Arial"/>
                  <a:sym typeface="Arial"/>
                </a:rPr>
                <a:t>Objective term ensuring the model matches observations.</a:t>
              </a:r>
              <a:endParaRPr sz="1100" b="0">
                <a:solidFill>
                  <a:srgbClr val="424242"/>
                </a:solidFill>
                <a:latin typeface="Arial"/>
                <a:ea typeface="Arial"/>
                <a:cs typeface="Arial"/>
                <a:sym typeface="Arial"/>
              </a:endParaRPr>
            </a:p>
            <a:p>
              <a:pPr marL="457200" lvl="0" indent="-292100" algn="l" rtl="0">
                <a:spcBef>
                  <a:spcPts val="4500"/>
                </a:spcBef>
                <a:spcAft>
                  <a:spcPts val="0"/>
                </a:spcAft>
                <a:buClr>
                  <a:srgbClr val="5F6368"/>
                </a:buClr>
                <a:buSzPts val="1000"/>
                <a:buFont typeface="Arial"/>
                <a:buChar char="●"/>
              </a:pPr>
              <a:r>
                <a:rPr lang="en" sz="1000" b="0">
                  <a:solidFill>
                    <a:srgbClr val="5F6368"/>
                  </a:solidFill>
                  <a:latin typeface="Arial"/>
                  <a:ea typeface="Arial"/>
                  <a:cs typeface="Arial"/>
                  <a:sym typeface="Arial"/>
                </a:rPr>
                <a:t>Matches reconstruction to observations</a:t>
              </a:r>
              <a:endParaRPr sz="1000" b="0">
                <a:solidFill>
                  <a:srgbClr val="5F6368"/>
                </a:solidFill>
                <a:latin typeface="Arial"/>
                <a:ea typeface="Arial"/>
                <a:cs typeface="Arial"/>
                <a:sym typeface="Arial"/>
              </a:endParaRPr>
            </a:p>
          </p:txBody>
        </p:sp>
      </p:grpSp>
      <p:grpSp>
        <p:nvGrpSpPr>
          <p:cNvPr id="142" name="Google Shape;142;p18"/>
          <p:cNvGrpSpPr/>
          <p:nvPr/>
        </p:nvGrpSpPr>
        <p:grpSpPr>
          <a:xfrm>
            <a:off x="6429375" y="2476500"/>
            <a:ext cx="2333700" cy="2428800"/>
            <a:chOff x="6429375" y="2476500"/>
            <a:chExt cx="2333700" cy="2428800"/>
          </a:xfrm>
        </p:grpSpPr>
        <p:sp>
          <p:nvSpPr>
            <p:cNvPr id="143" name="Google Shape;143;p18"/>
            <p:cNvSpPr/>
            <p:nvPr/>
          </p:nvSpPr>
          <p:spPr>
            <a:xfrm>
              <a:off x="6429375" y="2476500"/>
              <a:ext cx="2333700" cy="2428800"/>
            </a:xfrm>
            <a:prstGeom prst="roundRect">
              <a:avLst>
                <a:gd name="adj" fmla="val 4897"/>
              </a:avLst>
            </a:prstGeom>
            <a:solidFill>
              <a:srgbClr val="E6F4EA"/>
            </a:solidFill>
            <a:ln w="9525" cap="flat" cmpd="sng">
              <a:solidFill>
                <a:srgbClr val="CEEAD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4" name="Google Shape;144;p18"/>
            <p:cNvSpPr txBox="1"/>
            <p:nvPr/>
          </p:nvSpPr>
          <p:spPr>
            <a:xfrm>
              <a:off x="6619875" y="2619375"/>
              <a:ext cx="1952700" cy="2143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1">
                  <a:solidFill>
                    <a:srgbClr val="188038"/>
                  </a:solidFill>
                  <a:latin typeface="Arial"/>
                  <a:ea typeface="Arial"/>
                  <a:cs typeface="Arial"/>
                  <a:sym typeface="Arial"/>
                </a:rPr>
                <a:t>Hybrid Convex TV</a:t>
              </a:r>
              <a:endParaRPr sz="1300" b="1">
                <a:solidFill>
                  <a:srgbClr val="188038"/>
                </a:solidFill>
                <a:latin typeface="Arial"/>
                <a:ea typeface="Arial"/>
                <a:cs typeface="Arial"/>
                <a:sym typeface="Arial"/>
              </a:endParaRPr>
            </a:p>
            <a:p>
              <a:pPr marL="0" lvl="0" indent="0" algn="l" rtl="0">
                <a:spcBef>
                  <a:spcPts val="750"/>
                </a:spcBef>
                <a:spcAft>
                  <a:spcPts val="0"/>
                </a:spcAft>
                <a:buNone/>
              </a:pPr>
              <a:r>
                <a:rPr lang="en" sz="1100" b="0">
                  <a:solidFill>
                    <a:srgbClr val="424242"/>
                  </a:solidFill>
                  <a:latin typeface="Arial"/>
                  <a:ea typeface="Arial"/>
                  <a:cs typeface="Arial"/>
                  <a:sym typeface="Arial"/>
                </a:rPr>
                <a:t>Advanced penalty term for noise suppression.</a:t>
              </a:r>
              <a:endParaRPr sz="1100" b="0">
                <a:solidFill>
                  <a:srgbClr val="424242"/>
                </a:solidFill>
                <a:latin typeface="Arial"/>
                <a:ea typeface="Arial"/>
                <a:cs typeface="Arial"/>
                <a:sym typeface="Arial"/>
              </a:endParaRPr>
            </a:p>
            <a:p>
              <a:pPr marL="457200" lvl="0" indent="-292100" algn="l" rtl="0">
                <a:spcBef>
                  <a:spcPts val="4875"/>
                </a:spcBef>
                <a:spcAft>
                  <a:spcPts val="0"/>
                </a:spcAft>
                <a:buClr>
                  <a:srgbClr val="5F6368"/>
                </a:buClr>
                <a:buSzPts val="1000"/>
                <a:buFont typeface="Arial"/>
                <a:buChar char="●"/>
              </a:pPr>
              <a:r>
                <a:rPr lang="en" sz="1000" b="0">
                  <a:solidFill>
                    <a:srgbClr val="5F6368"/>
                  </a:solidFill>
                  <a:latin typeface="Arial"/>
                  <a:ea typeface="Arial"/>
                  <a:cs typeface="Arial"/>
                  <a:sym typeface="Arial"/>
                </a:rPr>
                <a:t>Promotes edge preservation</a:t>
              </a:r>
              <a:endParaRPr sz="1000" b="0">
                <a:solidFill>
                  <a:srgbClr val="5F6368"/>
                </a:solidFill>
                <a:latin typeface="Arial"/>
                <a:ea typeface="Arial"/>
                <a:cs typeface="Arial"/>
                <a:sym typeface="Arial"/>
              </a:endParaRPr>
            </a:p>
            <a:p>
              <a:pPr marL="457200" lvl="0" indent="-292100" algn="l" rtl="0">
                <a:spcBef>
                  <a:spcPts val="375"/>
                </a:spcBef>
                <a:spcAft>
                  <a:spcPts val="0"/>
                </a:spcAft>
                <a:buClr>
                  <a:srgbClr val="5F6368"/>
                </a:buClr>
                <a:buSzPts val="1000"/>
                <a:buFont typeface="Arial"/>
                <a:buChar char="●"/>
              </a:pPr>
              <a:r>
                <a:rPr lang="en" sz="1000" b="0">
                  <a:solidFill>
                    <a:srgbClr val="5F6368"/>
                  </a:solidFill>
                  <a:latin typeface="Arial"/>
                  <a:ea typeface="Arial"/>
                  <a:cs typeface="Arial"/>
                  <a:sym typeface="Arial"/>
                </a:rPr>
                <a:t>Suppresses artifacts</a:t>
              </a:r>
              <a:endParaRPr sz="1000" b="0">
                <a:solidFill>
                  <a:srgbClr val="5F6368"/>
                </a:solidFill>
                <a:latin typeface="Arial"/>
                <a:ea typeface="Arial"/>
                <a:cs typeface="Arial"/>
                <a:sym typeface="Arial"/>
              </a:endParaRPr>
            </a:p>
            <a:p>
              <a:pPr marL="457200" lvl="0" indent="-292100" algn="l" rtl="0">
                <a:spcBef>
                  <a:spcPts val="375"/>
                </a:spcBef>
                <a:spcAft>
                  <a:spcPts val="0"/>
                </a:spcAft>
                <a:buClr>
                  <a:srgbClr val="5F6368"/>
                </a:buClr>
                <a:buSzPts val="1000"/>
                <a:buFont typeface="Arial"/>
                <a:buChar char="●"/>
              </a:pPr>
              <a:r>
                <a:rPr lang="en" sz="1000" b="0">
                  <a:solidFill>
                    <a:srgbClr val="5F6368"/>
                  </a:solidFill>
                  <a:latin typeface="Arial"/>
                  <a:ea typeface="Arial"/>
                  <a:cs typeface="Arial"/>
                  <a:sym typeface="Arial"/>
                </a:rPr>
                <a:t>Convex hybrid TV penalty</a:t>
              </a:r>
              <a:endParaRPr sz="1000" b="0">
                <a:solidFill>
                  <a:srgbClr val="5F6368"/>
                </a:solidFill>
                <a:latin typeface="Arial"/>
                <a:ea typeface="Arial"/>
                <a:cs typeface="Arial"/>
                <a:sym typeface="Arial"/>
              </a:endParaRPr>
            </a:p>
          </p:txBody>
        </p:sp>
      </p:grpSp>
      <p:pic>
        <p:nvPicPr>
          <p:cNvPr id="145" name="Google Shape;145;p18" descr="correct the formula by keeping || in correct places. make all of them of same lenght"/>
          <p:cNvPicPr preferRelativeResize="0"/>
          <p:nvPr/>
        </p:nvPicPr>
        <p:blipFill>
          <a:blip r:embed="rId5">
            <a:alphaModFix/>
          </a:blip>
          <a:stretch>
            <a:fillRect/>
          </a:stretch>
        </p:blipFill>
        <p:spPr>
          <a:xfrm>
            <a:off x="2138363" y="1594616"/>
            <a:ext cx="4867275" cy="638175"/>
          </a:xfrm>
          <a:prstGeom prst="rect">
            <a:avLst/>
          </a:prstGeom>
          <a:noFill/>
          <a:ln>
            <a:noFill/>
          </a:ln>
        </p:spPr>
      </p:pic>
      <p:pic>
        <p:nvPicPr>
          <p:cNvPr id="146" name="Google Shape;146;p18" descr="correct this one too"/>
          <p:cNvPicPr preferRelativeResize="0"/>
          <p:nvPr/>
        </p:nvPicPr>
        <p:blipFill>
          <a:blip r:embed="rId6">
            <a:alphaModFix/>
          </a:blip>
          <a:stretch>
            <a:fillRect/>
          </a:stretch>
        </p:blipFill>
        <p:spPr>
          <a:xfrm>
            <a:off x="3988475" y="3363125"/>
            <a:ext cx="2262350" cy="340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0"/>
        <p:cNvGrpSpPr/>
        <p:nvPr/>
      </p:nvGrpSpPr>
      <p:grpSpPr>
        <a:xfrm>
          <a:off x="0" y="0"/>
          <a:ext cx="0" cy="0"/>
          <a:chOff x="0" y="0"/>
          <a:chExt cx="0" cy="0"/>
        </a:xfrm>
      </p:grpSpPr>
      <p:sp>
        <p:nvSpPr>
          <p:cNvPr id="151" name="Google Shape;151;p19"/>
          <p:cNvSpPr txBox="1">
            <a:spLocks noGrp="1"/>
          </p:cNvSpPr>
          <p:nvPr>
            <p:ph type="title"/>
          </p:nvPr>
        </p:nvSpPr>
        <p:spPr>
          <a:xfrm>
            <a:off x="311700" y="190500"/>
            <a:ext cx="85206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2040" b="1">
                <a:solidFill>
                  <a:schemeClr val="accent2"/>
                </a:solidFill>
                <a:latin typeface="Arial"/>
                <a:ea typeface="Arial"/>
                <a:cs typeface="Arial"/>
                <a:sym typeface="Arial"/>
              </a:rPr>
              <a:t>Paper 2: Accelerated Proximal Iterative Reweighted ℓ1 Alternating Minimization</a:t>
            </a:r>
            <a:endParaRPr sz="2400" b="1">
              <a:solidFill>
                <a:srgbClr val="1E293B"/>
              </a:solidFill>
              <a:latin typeface="Arial"/>
              <a:ea typeface="Arial"/>
              <a:cs typeface="Arial"/>
              <a:sym typeface="Arial"/>
            </a:endParaRPr>
          </a:p>
        </p:txBody>
      </p:sp>
      <p:sp>
        <p:nvSpPr>
          <p:cNvPr id="152" name="Google Shape;152;p19"/>
          <p:cNvSpPr/>
          <p:nvPr/>
        </p:nvSpPr>
        <p:spPr>
          <a:xfrm>
            <a:off x="285750" y="952500"/>
            <a:ext cx="4191000" cy="1905000"/>
          </a:xfrm>
          <a:prstGeom prst="roundRect">
            <a:avLst>
              <a:gd name="adj" fmla="val 6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53" name="Google Shape;153;p19"/>
          <p:cNvGrpSpPr/>
          <p:nvPr/>
        </p:nvGrpSpPr>
        <p:grpSpPr>
          <a:xfrm>
            <a:off x="4667250" y="952500"/>
            <a:ext cx="4191000" cy="1905000"/>
            <a:chOff x="4667250" y="952500"/>
            <a:chExt cx="4191000" cy="1905000"/>
          </a:xfrm>
        </p:grpSpPr>
        <p:sp>
          <p:nvSpPr>
            <p:cNvPr id="154" name="Google Shape;154;p19"/>
            <p:cNvSpPr/>
            <p:nvPr/>
          </p:nvSpPr>
          <p:spPr>
            <a:xfrm>
              <a:off x="4667250" y="952500"/>
              <a:ext cx="4191000" cy="1905000"/>
            </a:xfrm>
            <a:prstGeom prst="roundRect">
              <a:avLst>
                <a:gd name="adj" fmla="val 6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5" name="Google Shape;155;p19"/>
            <p:cNvSpPr txBox="1"/>
            <p:nvPr/>
          </p:nvSpPr>
          <p:spPr>
            <a:xfrm>
              <a:off x="4810125" y="1095375"/>
              <a:ext cx="3905400" cy="161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b="1">
                  <a:solidFill>
                    <a:srgbClr val="1A73E8"/>
                  </a:solidFill>
                  <a:latin typeface="Arial"/>
                  <a:ea typeface="Arial"/>
                  <a:cs typeface="Arial"/>
                  <a:sym typeface="Arial"/>
                </a:rPr>
                <a:t>Optimization Model</a:t>
              </a:r>
              <a:endParaRPr b="1">
                <a:solidFill>
                  <a:srgbClr val="1A73E8"/>
                </a:solidFill>
                <a:latin typeface="Arial"/>
                <a:ea typeface="Arial"/>
                <a:cs typeface="Arial"/>
                <a:sym typeface="Arial"/>
              </a:endParaRPr>
            </a:p>
            <a:p>
              <a:pPr marL="0" lvl="0" indent="0" algn="l" rtl="0">
                <a:spcBef>
                  <a:spcPts val="0"/>
                </a:spcBef>
                <a:spcAft>
                  <a:spcPts val="0"/>
                </a:spcAft>
                <a:buNone/>
              </a:pPr>
              <a:endParaRPr sz="400" b="1">
                <a:solidFill>
                  <a:srgbClr val="1A73E8"/>
                </a:solidFill>
                <a:latin typeface="Arial"/>
                <a:ea typeface="Arial"/>
                <a:cs typeface="Arial"/>
                <a:sym typeface="Arial"/>
              </a:endParaRPr>
            </a:p>
            <a:p>
              <a:pPr marL="457200" lvl="0" indent="-304800" algn="l" rtl="0">
                <a:spcBef>
                  <a:spcPts val="0"/>
                </a:spcBef>
                <a:spcAft>
                  <a:spcPts val="0"/>
                </a:spcAft>
                <a:buClr>
                  <a:srgbClr val="424242"/>
                </a:buClr>
                <a:buSzPts val="1200"/>
                <a:buFont typeface="Arial"/>
                <a:buChar char="●"/>
              </a:pPr>
              <a:r>
                <a:rPr lang="en" sz="1200">
                  <a:solidFill>
                    <a:srgbClr val="424242"/>
                  </a:solidFill>
                </a:rPr>
                <a:t>One way to solve </a:t>
              </a:r>
              <a:r>
                <a:rPr lang="en" sz="1200" b="1">
                  <a:solidFill>
                    <a:srgbClr val="424242"/>
                  </a:solidFill>
                </a:rPr>
                <a:t>Model </a:t>
              </a:r>
              <a:r>
                <a:rPr lang="en" sz="1200">
                  <a:solidFill>
                    <a:srgbClr val="424242"/>
                  </a:solidFill>
                </a:rPr>
                <a:t>for the image u is by minimizing the nonconvex nonsmooth composite optimization problem </a:t>
              </a:r>
              <a:endParaRPr sz="1200">
                <a:solidFill>
                  <a:srgbClr val="424242"/>
                </a:solidFill>
                <a:latin typeface="Arial"/>
                <a:ea typeface="Arial"/>
                <a:cs typeface="Arial"/>
                <a:sym typeface="Arial"/>
              </a:endParaRPr>
            </a:p>
          </p:txBody>
        </p:sp>
      </p:grpSp>
      <p:sp>
        <p:nvSpPr>
          <p:cNvPr id="156" name="Google Shape;156;p19"/>
          <p:cNvSpPr/>
          <p:nvPr/>
        </p:nvSpPr>
        <p:spPr>
          <a:xfrm>
            <a:off x="285750" y="3048000"/>
            <a:ext cx="4191000" cy="1714500"/>
          </a:xfrm>
          <a:prstGeom prst="roundRect">
            <a:avLst>
              <a:gd name="adj" fmla="val 6666"/>
            </a:avLst>
          </a:prstGeom>
          <a:solidFill>
            <a:srgbClr val="E8F0FE"/>
          </a:solidFill>
          <a:ln w="9525" cap="flat" cmpd="sng">
            <a:solidFill>
              <a:srgbClr val="1A73E8">
                <a:alpha val="30000"/>
              </a:srgbClr>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7" name="Google Shape;157;p19"/>
          <p:cNvSpPr/>
          <p:nvPr/>
        </p:nvSpPr>
        <p:spPr>
          <a:xfrm>
            <a:off x="4667250" y="3048000"/>
            <a:ext cx="4191000" cy="1714500"/>
          </a:xfrm>
          <a:prstGeom prst="roundRect">
            <a:avLst>
              <a:gd name="adj" fmla="val 666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8" name="Google Shape;158;p19"/>
          <p:cNvSpPr txBox="1"/>
          <p:nvPr/>
        </p:nvSpPr>
        <p:spPr>
          <a:xfrm>
            <a:off x="571500" y="1085875"/>
            <a:ext cx="3714900" cy="114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Problem Addressed</a:t>
            </a:r>
            <a:endParaRPr sz="1400" b="1">
              <a:solidFill>
                <a:srgbClr val="1A73E8"/>
              </a:solidFill>
              <a:latin typeface="Arial"/>
              <a:ea typeface="Arial"/>
              <a:cs typeface="Arial"/>
              <a:sym typeface="Arial"/>
            </a:endParaRPr>
          </a:p>
          <a:p>
            <a:pPr marL="457200" lvl="0" indent="-304800" algn="l" rtl="0">
              <a:spcBef>
                <a:spcPts val="600"/>
              </a:spcBef>
              <a:spcAft>
                <a:spcPts val="0"/>
              </a:spcAft>
              <a:buClr>
                <a:srgbClr val="424242"/>
              </a:buClr>
              <a:buSzPts val="1200"/>
              <a:buChar char="●"/>
            </a:pPr>
            <a:r>
              <a:rPr lang="en" sz="1200">
                <a:solidFill>
                  <a:srgbClr val="424242"/>
                </a:solidFill>
              </a:rPr>
              <a:t>Non-convex image deblurring using sparse regularization</a:t>
            </a:r>
            <a:endParaRPr sz="1200">
              <a:solidFill>
                <a:srgbClr val="424242"/>
              </a:solidFill>
            </a:endParaRPr>
          </a:p>
          <a:p>
            <a:pPr marL="457200" lvl="0" indent="-304800" algn="l" rtl="0">
              <a:spcBef>
                <a:spcPts val="0"/>
              </a:spcBef>
              <a:spcAft>
                <a:spcPts val="0"/>
              </a:spcAft>
              <a:buClr>
                <a:srgbClr val="424242"/>
              </a:buClr>
              <a:buSzPts val="1200"/>
              <a:buChar char="●"/>
            </a:pPr>
            <a:r>
              <a:rPr lang="en" sz="1200">
                <a:solidFill>
                  <a:srgbClr val="424242"/>
                </a:solidFill>
              </a:rPr>
              <a:t>Goal: Recover sharp image u from blurred observation </a:t>
            </a:r>
            <a:endParaRPr sz="1200">
              <a:solidFill>
                <a:srgbClr val="424242"/>
              </a:solidFill>
            </a:endParaRPr>
          </a:p>
          <a:p>
            <a:pPr marL="0" lvl="0" indent="0" algn="l" rtl="0">
              <a:spcBef>
                <a:spcPts val="1125"/>
              </a:spcBef>
              <a:spcAft>
                <a:spcPts val="0"/>
              </a:spcAft>
              <a:buNone/>
            </a:pPr>
            <a:endParaRPr sz="1100" b="1">
              <a:solidFill>
                <a:srgbClr val="5F6368"/>
              </a:solidFill>
              <a:latin typeface="Arial"/>
              <a:ea typeface="Arial"/>
              <a:cs typeface="Arial"/>
              <a:sym typeface="Arial"/>
            </a:endParaRPr>
          </a:p>
        </p:txBody>
      </p:sp>
      <p:pic>
        <p:nvPicPr>
          <p:cNvPr id="159" name="Google Shape;159;p19"/>
          <p:cNvPicPr preferRelativeResize="0"/>
          <p:nvPr/>
        </p:nvPicPr>
        <p:blipFill rotWithShape="1">
          <a:blip r:embed="rId3">
            <a:alphaModFix/>
          </a:blip>
          <a:srcRect t="10563" r="3204"/>
          <a:stretch/>
        </p:blipFill>
        <p:spPr>
          <a:xfrm>
            <a:off x="1904225" y="2148887"/>
            <a:ext cx="1049440" cy="571500"/>
          </a:xfrm>
          <a:prstGeom prst="rect">
            <a:avLst/>
          </a:prstGeom>
          <a:noFill/>
          <a:ln>
            <a:noFill/>
          </a:ln>
        </p:spPr>
      </p:pic>
      <p:pic>
        <p:nvPicPr>
          <p:cNvPr id="160" name="Google Shape;160;p19"/>
          <p:cNvPicPr preferRelativeResize="0"/>
          <p:nvPr/>
        </p:nvPicPr>
        <p:blipFill rotWithShape="1">
          <a:blip r:embed="rId4">
            <a:alphaModFix/>
          </a:blip>
          <a:srcRect t="-15527" r="-3114"/>
          <a:stretch/>
        </p:blipFill>
        <p:spPr>
          <a:xfrm>
            <a:off x="5628900" y="2043150"/>
            <a:ext cx="2142000" cy="528600"/>
          </a:xfrm>
          <a:prstGeom prst="rect">
            <a:avLst/>
          </a:prstGeom>
          <a:noFill/>
          <a:ln>
            <a:noFill/>
          </a:ln>
        </p:spPr>
      </p:pic>
      <p:sp>
        <p:nvSpPr>
          <p:cNvPr id="161" name="Google Shape;161;p19"/>
          <p:cNvSpPr txBox="1"/>
          <p:nvPr/>
        </p:nvSpPr>
        <p:spPr>
          <a:xfrm>
            <a:off x="571500" y="3186175"/>
            <a:ext cx="3714900" cy="1528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Proposed Methods &amp; Key Ideas</a:t>
            </a:r>
            <a:endParaRPr sz="1400" b="1">
              <a:solidFill>
                <a:srgbClr val="1A73E8"/>
              </a:solidFill>
              <a:latin typeface="Arial"/>
              <a:ea typeface="Arial"/>
              <a:cs typeface="Arial"/>
              <a:sym typeface="Arial"/>
            </a:endParaRPr>
          </a:p>
          <a:p>
            <a:pPr marL="457200" lvl="0" indent="-298450" algn="l" rtl="0">
              <a:spcBef>
                <a:spcPts val="600"/>
              </a:spcBef>
              <a:spcAft>
                <a:spcPts val="0"/>
              </a:spcAft>
              <a:buClr>
                <a:srgbClr val="424242"/>
              </a:buClr>
              <a:buSzPts val="1100"/>
              <a:buFont typeface="Arial"/>
              <a:buChar char="●"/>
            </a:pPr>
            <a:r>
              <a:rPr lang="en" sz="1100" b="1">
                <a:solidFill>
                  <a:srgbClr val="212121"/>
                </a:solidFill>
                <a:latin typeface="Arial"/>
                <a:ea typeface="Arial"/>
                <a:cs typeface="Arial"/>
                <a:sym typeface="Arial"/>
              </a:rPr>
              <a:t>PIRL1-AM / APIRL1-AM (Accelerated)</a:t>
            </a:r>
            <a:endParaRPr sz="1100" b="1">
              <a:solidFill>
                <a:srgbClr val="212121"/>
              </a:solidFill>
              <a:latin typeface="Arial"/>
              <a:ea typeface="Arial"/>
              <a:cs typeface="Arial"/>
              <a:sym typeface="Arial"/>
            </a:endParaRPr>
          </a:p>
          <a:p>
            <a:pPr marL="457200" lvl="0" indent="-298450" algn="l" rtl="0">
              <a:spcBef>
                <a:spcPts val="450"/>
              </a:spcBef>
              <a:spcAft>
                <a:spcPts val="0"/>
              </a:spcAft>
              <a:buClr>
                <a:srgbClr val="424242"/>
              </a:buClr>
              <a:buSzPts val="1100"/>
              <a:buFont typeface="Arial"/>
              <a:buChar char="●"/>
            </a:pPr>
            <a:r>
              <a:rPr lang="en" sz="1100" b="0">
                <a:solidFill>
                  <a:srgbClr val="424242"/>
                </a:solidFill>
                <a:latin typeface="Arial"/>
                <a:ea typeface="Arial"/>
                <a:cs typeface="Arial"/>
                <a:sym typeface="Arial"/>
              </a:rPr>
              <a:t>Iteratively reweighted L1 minimization</a:t>
            </a:r>
            <a:endParaRPr sz="1100" b="0">
              <a:solidFill>
                <a:srgbClr val="424242"/>
              </a:solidFill>
              <a:latin typeface="Arial"/>
              <a:ea typeface="Arial"/>
              <a:cs typeface="Arial"/>
              <a:sym typeface="Arial"/>
            </a:endParaRPr>
          </a:p>
          <a:p>
            <a:pPr marL="457200" lvl="0" indent="-298450" algn="l" rtl="0">
              <a:spcBef>
                <a:spcPts val="450"/>
              </a:spcBef>
              <a:spcAft>
                <a:spcPts val="0"/>
              </a:spcAft>
              <a:buClr>
                <a:srgbClr val="424242"/>
              </a:buClr>
              <a:buSzPts val="1100"/>
              <a:buFont typeface="Arial"/>
              <a:buChar char="●"/>
            </a:pPr>
            <a:r>
              <a:rPr lang="en" sz="1100" b="0">
                <a:solidFill>
                  <a:srgbClr val="424242"/>
                </a:solidFill>
                <a:latin typeface="Arial"/>
                <a:ea typeface="Arial"/>
                <a:cs typeface="Arial"/>
                <a:sym typeface="Arial"/>
              </a:rPr>
              <a:t>Alternating minimization</a:t>
            </a:r>
            <a:endParaRPr sz="1100" b="0">
              <a:solidFill>
                <a:srgbClr val="424242"/>
              </a:solidFill>
              <a:latin typeface="Arial"/>
              <a:ea typeface="Arial"/>
              <a:cs typeface="Arial"/>
              <a:sym typeface="Arial"/>
            </a:endParaRPr>
          </a:p>
          <a:p>
            <a:pPr marL="457200" lvl="0" indent="-298450" algn="l" rtl="0">
              <a:spcBef>
                <a:spcPts val="450"/>
              </a:spcBef>
              <a:spcAft>
                <a:spcPts val="0"/>
              </a:spcAft>
              <a:buClr>
                <a:srgbClr val="424242"/>
              </a:buClr>
              <a:buSzPts val="1100"/>
              <a:buFont typeface="Arial"/>
              <a:buChar char="●"/>
            </a:pPr>
            <a:r>
              <a:rPr lang="en" sz="1100" b="0">
                <a:solidFill>
                  <a:srgbClr val="424242"/>
                </a:solidFill>
                <a:latin typeface="Arial"/>
                <a:ea typeface="Arial"/>
                <a:cs typeface="Arial"/>
                <a:sym typeface="Arial"/>
              </a:rPr>
              <a:t>Nesterov acceleration</a:t>
            </a:r>
            <a:endParaRPr sz="1100" b="0">
              <a:solidFill>
                <a:srgbClr val="424242"/>
              </a:solidFill>
              <a:latin typeface="Arial"/>
              <a:ea typeface="Arial"/>
              <a:cs typeface="Arial"/>
              <a:sym typeface="Arial"/>
            </a:endParaRPr>
          </a:p>
        </p:txBody>
      </p:sp>
      <p:sp>
        <p:nvSpPr>
          <p:cNvPr id="162" name="Google Shape;162;p19"/>
          <p:cNvSpPr txBox="1"/>
          <p:nvPr/>
        </p:nvSpPr>
        <p:spPr>
          <a:xfrm>
            <a:off x="4857750" y="3186175"/>
            <a:ext cx="3714900" cy="1481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b="1">
                <a:solidFill>
                  <a:srgbClr val="1A73E8"/>
                </a:solidFill>
                <a:latin typeface="Arial"/>
                <a:ea typeface="Arial"/>
                <a:cs typeface="Arial"/>
                <a:sym typeface="Arial"/>
              </a:rPr>
              <a:t>Main Findings</a:t>
            </a:r>
            <a:endParaRPr b="1">
              <a:solidFill>
                <a:srgbClr val="1A73E8"/>
              </a:solidFill>
              <a:latin typeface="Arial"/>
              <a:ea typeface="Arial"/>
              <a:cs typeface="Arial"/>
              <a:sym typeface="Arial"/>
            </a:endParaRPr>
          </a:p>
          <a:p>
            <a:pPr marL="0" lvl="0" indent="0" algn="l" rtl="0">
              <a:spcBef>
                <a:spcPts val="0"/>
              </a:spcBef>
              <a:spcAft>
                <a:spcPts val="0"/>
              </a:spcAft>
              <a:buNone/>
            </a:pPr>
            <a:endParaRPr sz="400" b="1">
              <a:solidFill>
                <a:srgbClr val="1A73E8"/>
              </a:solidFill>
              <a:latin typeface="Arial"/>
              <a:ea typeface="Arial"/>
              <a:cs typeface="Arial"/>
              <a:sym typeface="Arial"/>
            </a:endParaRPr>
          </a:p>
          <a:p>
            <a:pPr marL="457200" lvl="0" indent="-304800" algn="l" rtl="0">
              <a:spcBef>
                <a:spcPts val="0"/>
              </a:spcBef>
              <a:spcAft>
                <a:spcPts val="0"/>
              </a:spcAft>
              <a:buClr>
                <a:srgbClr val="424242"/>
              </a:buClr>
              <a:buSzPts val="1200"/>
              <a:buFont typeface="Arial"/>
              <a:buChar char="●"/>
            </a:pPr>
            <a:r>
              <a:rPr lang="en" sz="1200" b="0">
                <a:solidFill>
                  <a:srgbClr val="424242"/>
                </a:solidFill>
                <a:latin typeface="Arial"/>
                <a:ea typeface="Arial"/>
                <a:cs typeface="Arial"/>
                <a:sym typeface="Arial"/>
              </a:rPr>
              <a:t>Faster convergence achieved with APIRL1-AM</a:t>
            </a:r>
            <a:endParaRPr sz="1200" b="1">
              <a:solidFill>
                <a:srgbClr val="1A73E8"/>
              </a:solidFill>
              <a:latin typeface="Arial"/>
              <a:ea typeface="Arial"/>
              <a:cs typeface="Arial"/>
              <a:sym typeface="Arial"/>
            </a:endParaRPr>
          </a:p>
          <a:p>
            <a:pPr marL="457200" lvl="0" indent="-304800" algn="l" rtl="0">
              <a:spcBef>
                <a:spcPts val="1000"/>
              </a:spcBef>
              <a:spcAft>
                <a:spcPts val="0"/>
              </a:spcAft>
              <a:buClr>
                <a:srgbClr val="424242"/>
              </a:buClr>
              <a:buSzPts val="1200"/>
              <a:buChar char="●"/>
            </a:pPr>
            <a:r>
              <a:rPr lang="en" sz="1200">
                <a:solidFill>
                  <a:srgbClr val="424242"/>
                </a:solidFill>
              </a:rPr>
              <a:t>I</a:t>
            </a:r>
            <a:r>
              <a:rPr lang="en" sz="1200" b="0">
                <a:solidFill>
                  <a:srgbClr val="424242"/>
                </a:solidFill>
                <a:latin typeface="Arial"/>
                <a:ea typeface="Arial"/>
                <a:cs typeface="Arial"/>
                <a:sym typeface="Arial"/>
              </a:rPr>
              <a:t>mproved computational efficiency</a:t>
            </a:r>
            <a:endParaRPr sz="1200" b="1">
              <a:solidFill>
                <a:srgbClr val="1A73E8"/>
              </a:solidFill>
              <a:latin typeface="Arial"/>
              <a:ea typeface="Arial"/>
              <a:cs typeface="Arial"/>
              <a:sym typeface="Arial"/>
            </a:endParaRPr>
          </a:p>
          <a:p>
            <a:pPr marL="457200" lvl="0" indent="-304800" algn="l" rtl="0">
              <a:spcBef>
                <a:spcPts val="1000"/>
              </a:spcBef>
              <a:spcAft>
                <a:spcPts val="1000"/>
              </a:spcAft>
              <a:buClr>
                <a:srgbClr val="424242"/>
              </a:buClr>
              <a:buSzPts val="1200"/>
              <a:buChar char="●"/>
            </a:pPr>
            <a:r>
              <a:rPr lang="en" sz="1200">
                <a:solidFill>
                  <a:srgbClr val="424242"/>
                </a:solidFill>
              </a:rPr>
              <a:t>Maintaining </a:t>
            </a:r>
            <a:r>
              <a:rPr lang="en" sz="1200" b="0">
                <a:solidFill>
                  <a:srgbClr val="424242"/>
                </a:solidFill>
                <a:latin typeface="Arial"/>
                <a:ea typeface="Arial"/>
                <a:cs typeface="Arial"/>
                <a:sym typeface="Arial"/>
              </a:rPr>
              <a:t>Competitive reconstruction quality compared to benchmarks</a:t>
            </a:r>
            <a:endParaRPr sz="1200" b="1">
              <a:solidFill>
                <a:srgbClr val="1A73E8"/>
              </a:solidFill>
              <a:latin typeface="Arial"/>
              <a:ea typeface="Arial"/>
              <a:cs typeface="Arial"/>
              <a:sym typeface="Arial"/>
            </a:endParaRPr>
          </a:p>
        </p:txBody>
      </p:sp>
      <p:pic>
        <p:nvPicPr>
          <p:cNvPr id="163" name="Google Shape;163;p19"/>
          <p:cNvPicPr preferRelativeResize="0"/>
          <p:nvPr/>
        </p:nvPicPr>
        <p:blipFill>
          <a:blip r:embed="rId5">
            <a:alphaModFix/>
          </a:blip>
          <a:stretch>
            <a:fillRect/>
          </a:stretch>
        </p:blipFill>
        <p:spPr>
          <a:xfrm>
            <a:off x="4847828" y="3419678"/>
            <a:ext cx="367275" cy="229100"/>
          </a:xfrm>
          <a:prstGeom prst="rect">
            <a:avLst/>
          </a:prstGeom>
          <a:noFill/>
          <a:ln>
            <a:noFill/>
          </a:ln>
        </p:spPr>
      </p:pic>
      <p:pic>
        <p:nvPicPr>
          <p:cNvPr id="164" name="Google Shape;164;p19"/>
          <p:cNvPicPr preferRelativeResize="0"/>
          <p:nvPr/>
        </p:nvPicPr>
        <p:blipFill>
          <a:blip r:embed="rId6">
            <a:alphaModFix/>
          </a:blip>
          <a:stretch>
            <a:fillRect/>
          </a:stretch>
        </p:blipFill>
        <p:spPr>
          <a:xfrm>
            <a:off x="4864987" y="3690300"/>
            <a:ext cx="332950" cy="285846"/>
          </a:xfrm>
          <a:prstGeom prst="rect">
            <a:avLst/>
          </a:prstGeom>
          <a:solidFill>
            <a:srgbClr val="FFFFFF"/>
          </a:solidFill>
          <a:ln w="9525" cap="flat" cmpd="sng">
            <a:solidFill>
              <a:srgbClr val="E2E8F0"/>
            </a:solidFill>
            <a:prstDash val="solid"/>
            <a:round/>
            <a:headEnd type="none" w="sm" len="sm"/>
            <a:tailEnd type="none" w="sm" len="sm"/>
          </a:ln>
        </p:spPr>
      </p:pic>
      <p:pic>
        <p:nvPicPr>
          <p:cNvPr id="165" name="Google Shape;165;p19"/>
          <p:cNvPicPr preferRelativeResize="0"/>
          <p:nvPr/>
        </p:nvPicPr>
        <p:blipFill>
          <a:blip r:embed="rId7">
            <a:alphaModFix/>
          </a:blip>
          <a:stretch>
            <a:fillRect/>
          </a:stretch>
        </p:blipFill>
        <p:spPr>
          <a:xfrm>
            <a:off x="4878125" y="4065874"/>
            <a:ext cx="306675" cy="308427"/>
          </a:xfrm>
          <a:prstGeom prst="rect">
            <a:avLst/>
          </a:prstGeom>
          <a:solidFill>
            <a:srgbClr val="FFFFFF"/>
          </a:solidFill>
          <a:ln w="9525" cap="flat" cmpd="sng">
            <a:solidFill>
              <a:srgbClr val="E2E8F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9"/>
        <p:cNvGrpSpPr/>
        <p:nvPr/>
      </p:nvGrpSpPr>
      <p:grpSpPr>
        <a:xfrm>
          <a:off x="0" y="0"/>
          <a:ext cx="0" cy="0"/>
          <a:chOff x="0" y="0"/>
          <a:chExt cx="0" cy="0"/>
        </a:xfrm>
      </p:grpSpPr>
      <p:sp>
        <p:nvSpPr>
          <p:cNvPr id="170" name="Google Shape;170;p20"/>
          <p:cNvSpPr txBox="1">
            <a:spLocks noGrp="1"/>
          </p:cNvSpPr>
          <p:nvPr>
            <p:ph type="title"/>
          </p:nvPr>
        </p:nvSpPr>
        <p:spPr>
          <a:xfrm>
            <a:off x="311700" y="190500"/>
            <a:ext cx="8520600" cy="762000"/>
          </a:xfrm>
          <a:prstGeom prst="rect">
            <a:avLst/>
          </a:prstGeom>
          <a:solidFill>
            <a:srgbClr val="000000">
              <a:alpha val="0"/>
            </a:srgbClr>
          </a:solidFill>
          <a:ln>
            <a:noFill/>
          </a:ln>
        </p:spPr>
        <p:txBody>
          <a:bodyPr spcFirstLastPara="1" wrap="square" lIns="95250" tIns="0" rIns="0" bIns="0" anchor="ctr" anchorCtr="0">
            <a:noAutofit/>
          </a:bodyPr>
          <a:lstStyle/>
          <a:p>
            <a:pPr marL="0" lvl="0" indent="0" algn="l" rtl="0">
              <a:spcBef>
                <a:spcPts val="0"/>
              </a:spcBef>
              <a:spcAft>
                <a:spcPts val="0"/>
              </a:spcAft>
              <a:buNone/>
            </a:pPr>
            <a:r>
              <a:rPr lang="en" sz="2400" b="1">
                <a:solidFill>
                  <a:srgbClr val="212121"/>
                </a:solidFill>
                <a:latin typeface="Arial"/>
                <a:ea typeface="Arial"/>
                <a:cs typeface="Arial"/>
                <a:sym typeface="Arial"/>
              </a:rPr>
              <a:t>Paper 3: Total Variation Regularization via Alternating Minimization</a:t>
            </a:r>
            <a:endParaRPr sz="2400" b="1">
              <a:solidFill>
                <a:srgbClr val="212121"/>
              </a:solidFill>
              <a:latin typeface="Arial"/>
              <a:ea typeface="Arial"/>
              <a:cs typeface="Arial"/>
              <a:sym typeface="Arial"/>
            </a:endParaRPr>
          </a:p>
        </p:txBody>
      </p:sp>
      <p:grpSp>
        <p:nvGrpSpPr>
          <p:cNvPr id="171" name="Google Shape;171;p20"/>
          <p:cNvGrpSpPr/>
          <p:nvPr/>
        </p:nvGrpSpPr>
        <p:grpSpPr>
          <a:xfrm>
            <a:off x="311700" y="1047750"/>
            <a:ext cx="8520600" cy="1333500"/>
            <a:chOff x="311700" y="1047750"/>
            <a:chExt cx="8520600" cy="1333500"/>
          </a:xfrm>
        </p:grpSpPr>
        <p:sp>
          <p:nvSpPr>
            <p:cNvPr id="172" name="Google Shape;172;p20"/>
            <p:cNvSpPr/>
            <p:nvPr/>
          </p:nvSpPr>
          <p:spPr>
            <a:xfrm>
              <a:off x="311700" y="1047750"/>
              <a:ext cx="8520600" cy="1333500"/>
            </a:xfrm>
            <a:prstGeom prst="roundRect">
              <a:avLst>
                <a:gd name="adj" fmla="val 8571"/>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3" name="Google Shape;173;p20"/>
            <p:cNvSpPr txBox="1"/>
            <p:nvPr/>
          </p:nvSpPr>
          <p:spPr>
            <a:xfrm>
              <a:off x="502200" y="1190625"/>
              <a:ext cx="19050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Optimization Model</a:t>
              </a:r>
              <a:endParaRPr sz="1400" b="1">
                <a:solidFill>
                  <a:srgbClr val="1A73E8"/>
                </a:solidFill>
                <a:latin typeface="Arial"/>
                <a:ea typeface="Arial"/>
                <a:cs typeface="Arial"/>
                <a:sym typeface="Arial"/>
              </a:endParaRPr>
            </a:p>
          </p:txBody>
        </p:sp>
      </p:grpSp>
      <p:pic>
        <p:nvPicPr>
          <p:cNvPr id="174" name="Google Shape;174;p20"/>
          <p:cNvPicPr preferRelativeResize="0"/>
          <p:nvPr/>
        </p:nvPicPr>
        <p:blipFill rotWithShape="1">
          <a:blip r:embed="rId4">
            <a:alphaModFix/>
          </a:blip>
          <a:srcRect/>
          <a:stretch/>
        </p:blipFill>
        <p:spPr>
          <a:xfrm>
            <a:off x="3400425" y="1428750"/>
            <a:ext cx="2344800" cy="536400"/>
          </a:xfrm>
          <a:prstGeom prst="rect">
            <a:avLst/>
          </a:prstGeom>
          <a:noFill/>
          <a:ln>
            <a:noFill/>
          </a:ln>
        </p:spPr>
      </p:pic>
      <p:grpSp>
        <p:nvGrpSpPr>
          <p:cNvPr id="175" name="Google Shape;175;p20"/>
          <p:cNvGrpSpPr/>
          <p:nvPr/>
        </p:nvGrpSpPr>
        <p:grpSpPr>
          <a:xfrm>
            <a:off x="311700" y="2571750"/>
            <a:ext cx="4143300" cy="2286000"/>
            <a:chOff x="311700" y="2571750"/>
            <a:chExt cx="4143300" cy="2286000"/>
          </a:xfrm>
        </p:grpSpPr>
        <p:sp>
          <p:nvSpPr>
            <p:cNvPr id="176" name="Google Shape;176;p20"/>
            <p:cNvSpPr/>
            <p:nvPr/>
          </p:nvSpPr>
          <p:spPr>
            <a:xfrm>
              <a:off x="311700" y="2571750"/>
              <a:ext cx="4143300" cy="2286000"/>
            </a:xfrm>
            <a:prstGeom prst="roundRect">
              <a:avLst>
                <a:gd name="adj" fmla="val 5000"/>
              </a:avLst>
            </a:prstGeom>
            <a:solidFill>
              <a:srgbClr val="E8F0FE"/>
            </a:solidFill>
            <a:ln w="9525" cap="flat" cmpd="sng">
              <a:solidFill>
                <a:srgbClr val="D2E3F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7" name="Google Shape;177;p20"/>
            <p:cNvSpPr txBox="1"/>
            <p:nvPr/>
          </p:nvSpPr>
          <p:spPr>
            <a:xfrm>
              <a:off x="502200" y="2714625"/>
              <a:ext cx="3762300" cy="2000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Methodology</a:t>
              </a:r>
              <a:endParaRPr sz="1400" b="1">
                <a:solidFill>
                  <a:srgbClr val="1A73E8"/>
                </a:solidFill>
                <a:latin typeface="Arial"/>
                <a:ea typeface="Arial"/>
                <a:cs typeface="Arial"/>
                <a:sym typeface="Arial"/>
              </a:endParaRPr>
            </a:p>
            <a:p>
              <a:pPr marL="457200" lvl="0" indent="-298450" algn="l" rtl="0">
                <a:spcBef>
                  <a:spcPts val="900"/>
                </a:spcBef>
                <a:spcAft>
                  <a:spcPts val="0"/>
                </a:spcAft>
                <a:buClr>
                  <a:srgbClr val="424242"/>
                </a:buClr>
                <a:buSzPts val="1100"/>
                <a:buFont typeface="Arial"/>
                <a:buChar char="●"/>
              </a:pPr>
              <a:r>
                <a:rPr lang="en" sz="1100" b="0">
                  <a:solidFill>
                    <a:srgbClr val="424242"/>
                  </a:solidFill>
                  <a:latin typeface="Arial"/>
                  <a:ea typeface="Arial"/>
                  <a:cs typeface="Arial"/>
                  <a:sym typeface="Arial"/>
                </a:rPr>
                <a:t>TV regularization</a:t>
              </a:r>
              <a:endParaRPr sz="1100" b="0">
                <a:solidFill>
                  <a:srgbClr val="424242"/>
                </a:solidFill>
                <a:latin typeface="Arial"/>
                <a:ea typeface="Arial"/>
                <a:cs typeface="Arial"/>
                <a:sym typeface="Arial"/>
              </a:endParaRPr>
            </a:p>
            <a:p>
              <a:pPr marL="457200" lvl="0" indent="-298450" algn="l" rtl="0">
                <a:spcBef>
                  <a:spcPts val="600"/>
                </a:spcBef>
                <a:spcAft>
                  <a:spcPts val="0"/>
                </a:spcAft>
                <a:buClr>
                  <a:srgbClr val="424242"/>
                </a:buClr>
                <a:buSzPts val="1100"/>
                <a:buFont typeface="Arial"/>
                <a:buChar char="●"/>
              </a:pPr>
              <a:r>
                <a:rPr lang="en" sz="1100" b="0">
                  <a:solidFill>
                    <a:srgbClr val="424242"/>
                  </a:solidFill>
                  <a:latin typeface="Arial"/>
                  <a:ea typeface="Arial"/>
                  <a:cs typeface="Arial"/>
                  <a:sym typeface="Arial"/>
                </a:rPr>
                <a:t>Alternating minimization</a:t>
              </a:r>
              <a:endParaRPr sz="1100" b="0">
                <a:solidFill>
                  <a:srgbClr val="424242"/>
                </a:solidFill>
                <a:latin typeface="Arial"/>
                <a:ea typeface="Arial"/>
                <a:cs typeface="Arial"/>
                <a:sym typeface="Arial"/>
              </a:endParaRPr>
            </a:p>
            <a:p>
              <a:pPr marL="457200" lvl="0" indent="-298450" algn="l" rtl="0">
                <a:spcBef>
                  <a:spcPts val="600"/>
                </a:spcBef>
                <a:spcAft>
                  <a:spcPts val="0"/>
                </a:spcAft>
                <a:buClr>
                  <a:srgbClr val="424242"/>
                </a:buClr>
                <a:buSzPts val="1100"/>
                <a:buFont typeface="Arial"/>
                <a:buChar char="●"/>
              </a:pPr>
              <a:r>
                <a:rPr lang="en" sz="1100" b="0">
                  <a:solidFill>
                    <a:srgbClr val="424242"/>
                  </a:solidFill>
                  <a:latin typeface="Arial"/>
                  <a:ea typeface="Arial"/>
                  <a:cs typeface="Arial"/>
                  <a:sym typeface="Arial"/>
                </a:rPr>
                <a:t>Soft-thresholding</a:t>
              </a:r>
              <a:endParaRPr sz="1100" b="0">
                <a:solidFill>
                  <a:srgbClr val="424242"/>
                </a:solidFill>
                <a:latin typeface="Arial"/>
                <a:ea typeface="Arial"/>
                <a:cs typeface="Arial"/>
                <a:sym typeface="Arial"/>
              </a:endParaRPr>
            </a:p>
            <a:p>
              <a:pPr marL="457200" lvl="0" indent="-298450" algn="l" rtl="0">
                <a:spcBef>
                  <a:spcPts val="600"/>
                </a:spcBef>
                <a:spcAft>
                  <a:spcPts val="0"/>
                </a:spcAft>
                <a:buClr>
                  <a:srgbClr val="424242"/>
                </a:buClr>
                <a:buSzPts val="1100"/>
                <a:buFont typeface="Arial"/>
                <a:buChar char="●"/>
              </a:pPr>
              <a:r>
                <a:rPr lang="en" sz="1100" b="0">
                  <a:solidFill>
                    <a:srgbClr val="424242"/>
                  </a:solidFill>
                  <a:latin typeface="Arial"/>
                  <a:ea typeface="Arial"/>
                  <a:cs typeface="Arial"/>
                  <a:sym typeface="Arial"/>
                </a:rPr>
                <a:t>Conjugate gradient subsolver</a:t>
              </a:r>
              <a:endParaRPr sz="1100" b="0">
                <a:solidFill>
                  <a:srgbClr val="424242"/>
                </a:solidFill>
                <a:latin typeface="Arial"/>
                <a:ea typeface="Arial"/>
                <a:cs typeface="Arial"/>
                <a:sym typeface="Arial"/>
              </a:endParaRPr>
            </a:p>
          </p:txBody>
        </p:sp>
      </p:grpSp>
      <p:grpSp>
        <p:nvGrpSpPr>
          <p:cNvPr id="178" name="Google Shape;178;p20"/>
          <p:cNvGrpSpPr/>
          <p:nvPr/>
        </p:nvGrpSpPr>
        <p:grpSpPr>
          <a:xfrm>
            <a:off x="4688925" y="2571750"/>
            <a:ext cx="4143300" cy="2286000"/>
            <a:chOff x="4688925" y="2571750"/>
            <a:chExt cx="4143300" cy="2286000"/>
          </a:xfrm>
        </p:grpSpPr>
        <p:sp>
          <p:nvSpPr>
            <p:cNvPr id="179" name="Google Shape;179;p20"/>
            <p:cNvSpPr/>
            <p:nvPr/>
          </p:nvSpPr>
          <p:spPr>
            <a:xfrm>
              <a:off x="4688925" y="2571750"/>
              <a:ext cx="4143300" cy="2286000"/>
            </a:xfrm>
            <a:prstGeom prst="roundRect">
              <a:avLst>
                <a:gd name="adj" fmla="val 5000"/>
              </a:avLst>
            </a:prstGeom>
            <a:solidFill>
              <a:srgbClr val="E6F4EA"/>
            </a:solidFill>
            <a:ln w="9525" cap="flat" cmpd="sng">
              <a:solidFill>
                <a:srgbClr val="CEEAD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0" name="Google Shape;180;p20"/>
            <p:cNvSpPr txBox="1"/>
            <p:nvPr/>
          </p:nvSpPr>
          <p:spPr>
            <a:xfrm>
              <a:off x="4879425" y="2714625"/>
              <a:ext cx="3762300" cy="2000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88038"/>
                  </a:solidFill>
                  <a:latin typeface="Arial"/>
                  <a:ea typeface="Arial"/>
                  <a:cs typeface="Arial"/>
                  <a:sym typeface="Arial"/>
                </a:rPr>
                <a:t>Contributions</a:t>
              </a:r>
              <a:endParaRPr sz="1400" b="1">
                <a:solidFill>
                  <a:srgbClr val="188038"/>
                </a:solidFill>
                <a:latin typeface="Arial"/>
                <a:ea typeface="Arial"/>
                <a:cs typeface="Arial"/>
                <a:sym typeface="Arial"/>
              </a:endParaRPr>
            </a:p>
            <a:p>
              <a:pPr marL="457200" lvl="0" indent="-298450" algn="l" rtl="0">
                <a:spcBef>
                  <a:spcPts val="900"/>
                </a:spcBef>
                <a:spcAft>
                  <a:spcPts val="0"/>
                </a:spcAft>
                <a:buClr>
                  <a:srgbClr val="424242"/>
                </a:buClr>
                <a:buSzPts val="1100"/>
                <a:buFont typeface="Arial"/>
                <a:buChar char="●"/>
              </a:pPr>
              <a:r>
                <a:rPr lang="en" sz="1100" b="0">
                  <a:solidFill>
                    <a:srgbClr val="424242"/>
                  </a:solidFill>
                  <a:latin typeface="Arial"/>
                  <a:ea typeface="Arial"/>
                  <a:cs typeface="Arial"/>
                  <a:sym typeface="Arial"/>
                </a:rPr>
                <a:t>Edge-preserving deblurring</a:t>
              </a:r>
              <a:endParaRPr sz="1100" b="0">
                <a:solidFill>
                  <a:srgbClr val="424242"/>
                </a:solidFill>
                <a:latin typeface="Arial"/>
                <a:ea typeface="Arial"/>
                <a:cs typeface="Arial"/>
                <a:sym typeface="Arial"/>
              </a:endParaRPr>
            </a:p>
            <a:p>
              <a:pPr marL="457200" lvl="0" indent="-298450" algn="l" rtl="0">
                <a:spcBef>
                  <a:spcPts val="600"/>
                </a:spcBef>
                <a:spcAft>
                  <a:spcPts val="0"/>
                </a:spcAft>
                <a:buClr>
                  <a:srgbClr val="424242"/>
                </a:buClr>
                <a:buSzPts val="1100"/>
                <a:buFont typeface="Arial"/>
                <a:buChar char="●"/>
              </a:pPr>
              <a:r>
                <a:rPr lang="en" sz="1100" b="0">
                  <a:solidFill>
                    <a:srgbClr val="424242"/>
                  </a:solidFill>
                  <a:latin typeface="Arial"/>
                  <a:ea typeface="Arial"/>
                  <a:cs typeface="Arial"/>
                  <a:sym typeface="Arial"/>
                </a:rPr>
                <a:t>Stable convergence</a:t>
              </a:r>
              <a:endParaRPr sz="1100" b="0">
                <a:solidFill>
                  <a:srgbClr val="424242"/>
                </a:solidFill>
                <a:latin typeface="Arial"/>
                <a:ea typeface="Arial"/>
                <a:cs typeface="Arial"/>
                <a:sym typeface="Arial"/>
              </a:endParaRPr>
            </a:p>
            <a:p>
              <a:pPr marL="457200" lvl="0" indent="-298450" algn="l" rtl="0">
                <a:spcBef>
                  <a:spcPts val="600"/>
                </a:spcBef>
                <a:spcAft>
                  <a:spcPts val="0"/>
                </a:spcAft>
                <a:buClr>
                  <a:srgbClr val="424242"/>
                </a:buClr>
                <a:buSzPts val="1100"/>
                <a:buFont typeface="Arial"/>
                <a:buChar char="●"/>
              </a:pPr>
              <a:r>
                <a:rPr lang="en" sz="1100" b="0">
                  <a:solidFill>
                    <a:srgbClr val="424242"/>
                  </a:solidFill>
                  <a:latin typeface="Arial"/>
                  <a:ea typeface="Arial"/>
                  <a:cs typeface="Arial"/>
                  <a:sym typeface="Arial"/>
                </a:rPr>
                <a:t>Improved PSNR/SSIM</a:t>
              </a:r>
              <a:endParaRPr sz="1100" b="0">
                <a:solidFill>
                  <a:srgbClr val="424242"/>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1"/>
          <p:cNvSpPr txBox="1">
            <a:spLocks noGrp="1"/>
          </p:cNvSpPr>
          <p:nvPr>
            <p:ph type="title"/>
          </p:nvPr>
        </p:nvSpPr>
        <p:spPr>
          <a:xfrm>
            <a:off x="311700" y="0"/>
            <a:ext cx="8520600" cy="6039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0"/>
              </a:spcAft>
              <a:buClr>
                <a:schemeClr val="dk1"/>
              </a:buClr>
              <a:buSzPts val="990"/>
              <a:buFont typeface="Arial"/>
              <a:buNone/>
            </a:pPr>
            <a:r>
              <a:rPr lang="en" sz="2600" b="1"/>
              <a:t>Implementation Framework</a:t>
            </a:r>
            <a:endParaRPr sz="2600" b="1"/>
          </a:p>
          <a:p>
            <a:pPr marL="0" lvl="0" indent="0" algn="l" rtl="0">
              <a:spcBef>
                <a:spcPts val="1200"/>
              </a:spcBef>
              <a:spcAft>
                <a:spcPts val="0"/>
              </a:spcAft>
              <a:buSzPts val="990"/>
              <a:buNone/>
            </a:pPr>
            <a:endParaRPr sz="2520"/>
          </a:p>
        </p:txBody>
      </p:sp>
      <p:sp>
        <p:nvSpPr>
          <p:cNvPr id="186" name="Google Shape;186;p21"/>
          <p:cNvSpPr txBox="1"/>
          <p:nvPr/>
        </p:nvSpPr>
        <p:spPr>
          <a:xfrm>
            <a:off x="0" y="739125"/>
            <a:ext cx="4019700" cy="440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87" name="Google Shape;187;p21"/>
          <p:cNvSpPr txBox="1"/>
          <p:nvPr/>
        </p:nvSpPr>
        <p:spPr>
          <a:xfrm>
            <a:off x="152400" y="603900"/>
            <a:ext cx="4365000" cy="4539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Papers Implemented</a:t>
            </a:r>
            <a:endParaRPr sz="1300" b="1">
              <a:solidFill>
                <a:schemeClr val="dk1"/>
              </a:solidFill>
            </a:endParaRPr>
          </a:p>
          <a:p>
            <a:pPr marL="0" lvl="0" indent="0" algn="l" rtl="0">
              <a:lnSpc>
                <a:spcPct val="115000"/>
              </a:lnSpc>
              <a:spcBef>
                <a:spcPts val="1200"/>
              </a:spcBef>
              <a:spcAft>
                <a:spcPts val="0"/>
              </a:spcAft>
              <a:buNone/>
            </a:pPr>
            <a:r>
              <a:rPr lang="en" sz="1100" b="1">
                <a:solidFill>
                  <a:schemeClr val="dk1"/>
                </a:solidFill>
              </a:rPr>
              <a:t>Replication of Three Literature Methods</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PIRL1-AM and APIRL1-AM</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TV Alternating Minimization</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Hybrid Convex TV (ADMM)</a:t>
            </a:r>
            <a:endParaRPr sz="1100">
              <a:solidFill>
                <a:schemeClr val="dk1"/>
              </a:solidFill>
            </a:endParaRPr>
          </a:p>
          <a:p>
            <a:pPr marL="0" lvl="0" indent="0" algn="l" rtl="0">
              <a:lnSpc>
                <a:spcPct val="115000"/>
              </a:lnSpc>
              <a:spcBef>
                <a:spcPts val="1400"/>
              </a:spcBef>
              <a:spcAft>
                <a:spcPts val="0"/>
              </a:spcAft>
              <a:buNone/>
            </a:pPr>
            <a:r>
              <a:rPr lang="en" sz="1300" b="1">
                <a:solidFill>
                  <a:schemeClr val="dk1"/>
                </a:solidFill>
              </a:rPr>
              <a:t>Additional Optimization Models (Our Comparative Study)</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a:solidFill>
                  <a:schemeClr val="dk1"/>
                </a:solidFill>
              </a:rPr>
              <a:t>Implemented and compared:</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b="1">
                <a:solidFill>
                  <a:schemeClr val="dk1"/>
                </a:solidFill>
              </a:rPr>
              <a:t>L2-based</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L2 + Gradient Descent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L2 + FISTA</a:t>
            </a:r>
            <a:endParaRPr sz="1100">
              <a:solidFill>
                <a:schemeClr val="dk1"/>
              </a:solidFill>
            </a:endParaRPr>
          </a:p>
          <a:p>
            <a:pPr marL="0" lvl="0" indent="0" algn="l" rtl="0">
              <a:lnSpc>
                <a:spcPct val="115000"/>
              </a:lnSpc>
              <a:spcBef>
                <a:spcPts val="1200"/>
              </a:spcBef>
              <a:spcAft>
                <a:spcPts val="0"/>
              </a:spcAft>
              <a:buNone/>
            </a:pPr>
            <a:r>
              <a:rPr lang="en" sz="1100" b="1">
                <a:solidFill>
                  <a:schemeClr val="dk1"/>
                </a:solidFill>
              </a:rPr>
              <a:t>TV-based</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TV + ADMM</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TV + FISTA</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TV + Primal-Dual (Chambolle–Pock)</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TV + Split Bregman</a:t>
            </a:r>
            <a:endParaRPr sz="1100">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spcBef>
                <a:spcPts val="1200"/>
              </a:spcBef>
              <a:spcAft>
                <a:spcPts val="0"/>
              </a:spcAft>
              <a:buNone/>
            </a:pPr>
            <a:endParaRPr sz="1800">
              <a:solidFill>
                <a:schemeClr val="dk2"/>
              </a:solidFill>
            </a:endParaRPr>
          </a:p>
        </p:txBody>
      </p:sp>
      <p:sp>
        <p:nvSpPr>
          <p:cNvPr id="188" name="Google Shape;188;p21"/>
          <p:cNvSpPr txBox="1"/>
          <p:nvPr/>
        </p:nvSpPr>
        <p:spPr>
          <a:xfrm>
            <a:off x="4662700" y="603900"/>
            <a:ext cx="4481400" cy="4539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Solver Families</a:t>
            </a:r>
            <a:endParaRPr sz="1300" b="1">
              <a:solidFill>
                <a:schemeClr val="dk1"/>
              </a:solidFill>
            </a:endParaRPr>
          </a:p>
          <a:p>
            <a:pPr marL="0" lvl="0" indent="0" algn="l" rtl="0">
              <a:spcBef>
                <a:spcPts val="400"/>
              </a:spcBef>
              <a:spcAft>
                <a:spcPts val="0"/>
              </a:spcAft>
              <a:buNone/>
            </a:pPr>
            <a:endParaRPr sz="1800">
              <a:solidFill>
                <a:schemeClr val="dk2"/>
              </a:solidFill>
            </a:endParaRPr>
          </a:p>
        </p:txBody>
      </p:sp>
      <p:graphicFrame>
        <p:nvGraphicFramePr>
          <p:cNvPr id="189" name="Google Shape;189;p21"/>
          <p:cNvGraphicFramePr/>
          <p:nvPr/>
        </p:nvGraphicFramePr>
        <p:xfrm>
          <a:off x="4812600" y="951000"/>
          <a:ext cx="3000000" cy="3000000"/>
        </p:xfrm>
        <a:graphic>
          <a:graphicData uri="http://schemas.openxmlformats.org/drawingml/2006/table">
            <a:tbl>
              <a:tblPr>
                <a:noFill/>
                <a:tableStyleId>{D094D42C-6084-4587-BD15-7004F695EF3E}</a:tableStyleId>
              </a:tblPr>
              <a:tblGrid>
                <a:gridCol w="2009850">
                  <a:extLst>
                    <a:ext uri="{9D8B030D-6E8A-4147-A177-3AD203B41FA5}">
                      <a16:colId xmlns:a16="http://schemas.microsoft.com/office/drawing/2014/main" val="20000"/>
                    </a:ext>
                  </a:extLst>
                </a:gridCol>
                <a:gridCol w="200985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b="1"/>
                        <a:t>Optimization Family </a:t>
                      </a:r>
                      <a:endParaRPr b="1"/>
                    </a:p>
                  </a:txBody>
                  <a:tcPr marL="91425" marR="91425" marT="91425" marB="91425"/>
                </a:tc>
                <a:tc>
                  <a:txBody>
                    <a:bodyPr/>
                    <a:lstStyle/>
                    <a:p>
                      <a:pPr marL="0" lvl="0" indent="0" algn="ctr" rtl="0">
                        <a:spcBef>
                          <a:spcPts val="0"/>
                        </a:spcBef>
                        <a:spcAft>
                          <a:spcPts val="0"/>
                        </a:spcAft>
                        <a:buNone/>
                      </a:pPr>
                      <a:r>
                        <a:rPr lang="en" b="1"/>
                        <a:t>Methods </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     Gradient-based </a:t>
                      </a:r>
                      <a:endParaRPr/>
                    </a:p>
                  </a:txBody>
                  <a:tcPr marL="91425" marR="91425" marT="91425" marB="91425"/>
                </a:tc>
                <a:tc>
                  <a:txBody>
                    <a:bodyPr/>
                    <a:lstStyle/>
                    <a:p>
                      <a:pPr marL="0" lvl="0" indent="0" algn="l" rtl="0">
                        <a:spcBef>
                          <a:spcPts val="0"/>
                        </a:spcBef>
                        <a:spcAft>
                          <a:spcPts val="0"/>
                        </a:spcAft>
                        <a:buNone/>
                      </a:pPr>
                      <a:r>
                        <a:rPr lang="en"/>
                        <a:t>         GD, FISTA </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    Operator Splitting </a:t>
                      </a:r>
                      <a:endParaRPr/>
                    </a:p>
                  </a:txBody>
                  <a:tcPr marL="91425" marR="91425" marT="91425" marB="91425"/>
                </a:tc>
                <a:tc>
                  <a:txBody>
                    <a:bodyPr/>
                    <a:lstStyle/>
                    <a:p>
                      <a:pPr marL="0" lvl="0" indent="0" algn="l" rtl="0">
                        <a:spcBef>
                          <a:spcPts val="0"/>
                        </a:spcBef>
                        <a:spcAft>
                          <a:spcPts val="0"/>
                        </a:spcAft>
                        <a:buNone/>
                      </a:pPr>
                      <a:r>
                        <a:rPr lang="en"/>
                        <a:t>ADMM, Split Bregman </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       Primal-Dual </a:t>
                      </a:r>
                      <a:endParaRPr/>
                    </a:p>
                  </a:txBody>
                  <a:tcPr marL="91425" marR="91425" marT="91425" marB="91425"/>
                </a:tc>
                <a:tc>
                  <a:txBody>
                    <a:bodyPr/>
                    <a:lstStyle/>
                    <a:p>
                      <a:pPr marL="0" lvl="0" indent="0" algn="l" rtl="0">
                        <a:spcBef>
                          <a:spcPts val="0"/>
                        </a:spcBef>
                        <a:spcAft>
                          <a:spcPts val="0"/>
                        </a:spcAft>
                        <a:buNone/>
                      </a:pPr>
                      <a:r>
                        <a:rPr lang="en"/>
                        <a:t>   Chambolle-Pock </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a:t>Non-convex Reweighted </a:t>
                      </a:r>
                      <a:endParaRPr/>
                    </a:p>
                  </a:txBody>
                  <a:tcPr marL="91425" marR="91425" marT="91425" marB="91425"/>
                </a:tc>
                <a:tc>
                  <a:txBody>
                    <a:bodyPr/>
                    <a:lstStyle/>
                    <a:p>
                      <a:pPr marL="0" lvl="0" indent="0" algn="l" rtl="0">
                        <a:spcBef>
                          <a:spcPts val="0"/>
                        </a:spcBef>
                        <a:spcAft>
                          <a:spcPts val="0"/>
                        </a:spcAft>
                        <a:buNone/>
                      </a:pPr>
                      <a:r>
                        <a:rPr lang="en"/>
                        <a:t>        PIRL/APIRL </a:t>
                      </a: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Shape 193"/>
        <p:cNvGrpSpPr/>
        <p:nvPr/>
      </p:nvGrpSpPr>
      <p:grpSpPr>
        <a:xfrm>
          <a:off x="0" y="0"/>
          <a:ext cx="0" cy="0"/>
          <a:chOff x="0" y="0"/>
          <a:chExt cx="0" cy="0"/>
        </a:xfrm>
      </p:grpSpPr>
      <p:sp>
        <p:nvSpPr>
          <p:cNvPr id="194" name="Google Shape;194;p22"/>
          <p:cNvSpPr txBox="1">
            <a:spLocks noGrp="1"/>
          </p:cNvSpPr>
          <p:nvPr>
            <p:ph type="title"/>
          </p:nvPr>
        </p:nvSpPr>
        <p:spPr>
          <a:xfrm>
            <a:off x="311700" y="0"/>
            <a:ext cx="8520600" cy="597300"/>
          </a:xfrm>
          <a:prstGeom prst="rect">
            <a:avLst/>
          </a:prstGeom>
          <a:solidFill>
            <a:srgbClr val="000000">
              <a:alpha val="0"/>
            </a:srgbClr>
          </a:solidFill>
          <a:ln>
            <a:noFill/>
          </a:ln>
        </p:spPr>
        <p:txBody>
          <a:bodyPr spcFirstLastPara="1" wrap="square" lIns="0" tIns="142875" rIns="0" bIns="0" anchor="t" anchorCtr="0">
            <a:normAutofit/>
          </a:bodyPr>
          <a:lstStyle/>
          <a:p>
            <a:pPr marL="0" lvl="0" indent="0" algn="ctr" rtl="0">
              <a:spcBef>
                <a:spcPts val="0"/>
              </a:spcBef>
              <a:spcAft>
                <a:spcPts val="0"/>
              </a:spcAft>
              <a:buNone/>
            </a:pPr>
            <a:r>
              <a:rPr lang="en" sz="2800" b="1">
                <a:solidFill>
                  <a:srgbClr val="212121"/>
                </a:solidFill>
                <a:latin typeface="Arial"/>
                <a:ea typeface="Arial"/>
                <a:cs typeface="Arial"/>
                <a:sym typeface="Arial"/>
              </a:rPr>
              <a:t>Datasets and Experimental Setup</a:t>
            </a:r>
            <a:endParaRPr sz="2800" b="1">
              <a:solidFill>
                <a:srgbClr val="212121"/>
              </a:solidFill>
              <a:latin typeface="Arial"/>
              <a:ea typeface="Arial"/>
              <a:cs typeface="Arial"/>
              <a:sym typeface="Arial"/>
            </a:endParaRPr>
          </a:p>
        </p:txBody>
      </p:sp>
      <p:sp>
        <p:nvSpPr>
          <p:cNvPr id="195" name="Google Shape;195;p22"/>
          <p:cNvSpPr txBox="1"/>
          <p:nvPr/>
        </p:nvSpPr>
        <p:spPr>
          <a:xfrm>
            <a:off x="20250" y="597300"/>
            <a:ext cx="9123900" cy="3309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 sz="1600" b="1">
                <a:solidFill>
                  <a:srgbClr val="5F6368"/>
                </a:solidFill>
                <a:latin typeface="Arial"/>
                <a:ea typeface="Arial"/>
                <a:cs typeface="Arial"/>
                <a:sym typeface="Arial"/>
              </a:rPr>
              <a:t>Literature-Based Implementations</a:t>
            </a:r>
            <a:endParaRPr sz="1600" b="1">
              <a:solidFill>
                <a:srgbClr val="5F6368"/>
              </a:solidFill>
              <a:latin typeface="Arial"/>
              <a:ea typeface="Arial"/>
              <a:cs typeface="Arial"/>
              <a:sym typeface="Arial"/>
            </a:endParaRPr>
          </a:p>
        </p:txBody>
      </p:sp>
      <p:grpSp>
        <p:nvGrpSpPr>
          <p:cNvPr id="196" name="Google Shape;196;p22"/>
          <p:cNvGrpSpPr/>
          <p:nvPr/>
        </p:nvGrpSpPr>
        <p:grpSpPr>
          <a:xfrm>
            <a:off x="285750" y="1047750"/>
            <a:ext cx="4191000" cy="3810000"/>
            <a:chOff x="285750" y="1047750"/>
            <a:chExt cx="4191000" cy="3810000"/>
          </a:xfrm>
        </p:grpSpPr>
        <p:sp>
          <p:nvSpPr>
            <p:cNvPr id="197" name="Google Shape;197;p22"/>
            <p:cNvSpPr/>
            <p:nvPr/>
          </p:nvSpPr>
          <p:spPr>
            <a:xfrm>
              <a:off x="285750" y="1047750"/>
              <a:ext cx="4191000" cy="3810000"/>
            </a:xfrm>
            <a:prstGeom prst="roundRect">
              <a:avLst>
                <a:gd name="adj" fmla="val 3000"/>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8" name="Google Shape;198;p22"/>
            <p:cNvSpPr txBox="1"/>
            <p:nvPr/>
          </p:nvSpPr>
          <p:spPr>
            <a:xfrm>
              <a:off x="476250" y="1238250"/>
              <a:ext cx="3810000" cy="3429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b="1">
                  <a:solidFill>
                    <a:srgbClr val="1A73E8"/>
                  </a:solidFill>
                  <a:latin typeface="Arial"/>
                  <a:ea typeface="Arial"/>
                  <a:cs typeface="Arial"/>
                  <a:sym typeface="Arial"/>
                </a:rPr>
                <a:t>Paper 1: PIRL1-AM / APIRL1-AM</a:t>
              </a:r>
              <a:endParaRPr b="1">
                <a:solidFill>
                  <a:srgbClr val="1A73E8"/>
                </a:solidFill>
                <a:latin typeface="Arial"/>
                <a:ea typeface="Arial"/>
                <a:cs typeface="Arial"/>
                <a:sym typeface="Arial"/>
              </a:endParaRPr>
            </a:p>
            <a:p>
              <a:pPr marL="0" lvl="0" indent="0" algn="l" rtl="0">
                <a:spcBef>
                  <a:spcPts val="1200"/>
                </a:spcBef>
                <a:spcAft>
                  <a:spcPts val="0"/>
                </a:spcAft>
                <a:buNone/>
              </a:pPr>
              <a:r>
                <a:rPr lang="en" sz="1100" b="1">
                  <a:solidFill>
                    <a:srgbClr val="424242"/>
                  </a:solidFill>
                  <a:latin typeface="Arial"/>
                  <a:ea typeface="Arial"/>
                  <a:cs typeface="Arial"/>
                  <a:sym typeface="Arial"/>
                </a:rPr>
                <a:t>Dataset</a:t>
              </a:r>
              <a:endParaRPr sz="1100" b="1">
                <a:solidFill>
                  <a:srgbClr val="424242"/>
                </a:solidFill>
                <a:latin typeface="Arial"/>
                <a:ea typeface="Arial"/>
                <a:cs typeface="Arial"/>
                <a:sym typeface="Arial"/>
              </a:endParaRPr>
            </a:p>
            <a:p>
              <a:pPr marL="0" lvl="0" indent="0" algn="l" rtl="0">
                <a:spcBef>
                  <a:spcPts val="0"/>
                </a:spcBef>
                <a:spcAft>
                  <a:spcPts val="0"/>
                </a:spcAft>
                <a:buNone/>
              </a:pPr>
              <a:r>
                <a:rPr lang="en" sz="1100">
                  <a:solidFill>
                    <a:srgbClr val="5F6368"/>
                  </a:solidFill>
                </a:rPr>
                <a:t>• Cameraman benchmark image</a:t>
              </a:r>
              <a:endParaRPr sz="1100">
                <a:solidFill>
                  <a:srgbClr val="5F6368"/>
                </a:solidFill>
              </a:endParaRPr>
            </a:p>
            <a:p>
              <a:pPr marL="0" lvl="0" indent="0" algn="l" rtl="0">
                <a:spcBef>
                  <a:spcPts val="1125"/>
                </a:spcBef>
                <a:spcAft>
                  <a:spcPts val="0"/>
                </a:spcAft>
                <a:buNone/>
              </a:pPr>
              <a:r>
                <a:rPr lang="en" sz="1100" b="1">
                  <a:solidFill>
                    <a:srgbClr val="424242"/>
                  </a:solidFill>
                  <a:latin typeface="Arial"/>
                  <a:ea typeface="Arial"/>
                  <a:cs typeface="Arial"/>
                  <a:sym typeface="Arial"/>
                </a:rPr>
                <a:t>Degradation</a:t>
              </a:r>
              <a:endParaRPr sz="1100" b="1">
                <a:solidFill>
                  <a:srgbClr val="424242"/>
                </a:solidFill>
                <a:latin typeface="Arial"/>
                <a:ea typeface="Arial"/>
                <a:cs typeface="Arial"/>
                <a:sym typeface="Arial"/>
              </a:endParaRPr>
            </a:p>
            <a:p>
              <a:pPr marL="457200" lvl="0" indent="-298450" algn="l" rtl="0">
                <a:spcBef>
                  <a:spcPts val="0"/>
                </a:spcBef>
                <a:spcAft>
                  <a:spcPts val="0"/>
                </a:spcAft>
                <a:buClr>
                  <a:srgbClr val="5F6368"/>
                </a:buClr>
                <a:buSzPts val="1100"/>
                <a:buFont typeface="Arial"/>
                <a:buChar char="●"/>
              </a:pPr>
              <a:r>
                <a:rPr lang="en" sz="1100">
                  <a:solidFill>
                    <a:srgbClr val="5F6368"/>
                  </a:solidFill>
                </a:rPr>
                <a:t>Gaussian blur kernel: 17×17</a:t>
              </a:r>
              <a:endParaRPr sz="1100">
                <a:solidFill>
                  <a:srgbClr val="5F6368"/>
                </a:solidFill>
              </a:endParaRPr>
            </a:p>
            <a:p>
              <a:pPr marL="457200" lvl="0" indent="-298450" algn="l" rtl="0">
                <a:spcBef>
                  <a:spcPts val="400"/>
                </a:spcBef>
                <a:spcAft>
                  <a:spcPts val="0"/>
                </a:spcAft>
                <a:buClr>
                  <a:srgbClr val="5F6368"/>
                </a:buClr>
                <a:buSzPts val="1100"/>
                <a:buFont typeface="Arial"/>
                <a:buChar char="●"/>
              </a:pPr>
              <a:r>
                <a:rPr lang="en" sz="1100">
                  <a:solidFill>
                    <a:srgbClr val="5F6368"/>
                  </a:solidFill>
                </a:rPr>
                <a:t>Sigma -&gt; Controls strength of Gaussian blur</a:t>
              </a:r>
              <a:endParaRPr sz="1100">
                <a:solidFill>
                  <a:srgbClr val="5F6368"/>
                </a:solidFill>
              </a:endParaRPr>
            </a:p>
            <a:p>
              <a:pPr marL="914400" lvl="1" indent="-317500" algn="l" rtl="0">
                <a:spcBef>
                  <a:spcPts val="400"/>
                </a:spcBef>
                <a:spcAft>
                  <a:spcPts val="0"/>
                </a:spcAft>
                <a:buClr>
                  <a:schemeClr val="dk1"/>
                </a:buClr>
                <a:buSzPts val="1400"/>
                <a:buChar char="○"/>
              </a:pPr>
              <a:r>
                <a:rPr lang="en" sz="1100">
                  <a:solidFill>
                    <a:srgbClr val="5F6368"/>
                  </a:solidFill>
                </a:rPr>
                <a:t>σ = 7 </a:t>
              </a:r>
              <a:endParaRPr sz="1100">
                <a:solidFill>
                  <a:srgbClr val="5F6368"/>
                </a:solidFill>
              </a:endParaRPr>
            </a:p>
            <a:p>
              <a:pPr marL="457200" lvl="0" indent="-298450" algn="l" rtl="0">
                <a:spcBef>
                  <a:spcPts val="400"/>
                </a:spcBef>
                <a:spcAft>
                  <a:spcPts val="0"/>
                </a:spcAft>
                <a:buClr>
                  <a:srgbClr val="5F6368"/>
                </a:buClr>
                <a:buSzPts val="1100"/>
                <a:buFont typeface="Arial"/>
                <a:buChar char="●"/>
              </a:pPr>
              <a:r>
                <a:rPr lang="en" sz="1100">
                  <a:solidFill>
                    <a:srgbClr val="5F6368"/>
                  </a:solidFill>
                </a:rPr>
                <a:t>BSNR (Blur Signal-to-Noise Ratio ) = 30 dB</a:t>
              </a:r>
              <a:endParaRPr sz="1100">
                <a:solidFill>
                  <a:srgbClr val="5F6368"/>
                </a:solidFill>
              </a:endParaRPr>
            </a:p>
            <a:p>
              <a:pPr marL="0" lvl="0" indent="0" algn="l" rtl="0">
                <a:spcBef>
                  <a:spcPts val="1125"/>
                </a:spcBef>
                <a:spcAft>
                  <a:spcPts val="0"/>
                </a:spcAft>
                <a:buNone/>
              </a:pPr>
              <a:r>
                <a:rPr lang="en" sz="1100" b="1">
                  <a:solidFill>
                    <a:srgbClr val="424242"/>
                  </a:solidFill>
                  <a:latin typeface="Arial"/>
                  <a:ea typeface="Arial"/>
                  <a:cs typeface="Arial"/>
                  <a:sym typeface="Arial"/>
                </a:rPr>
                <a:t>Model Parameters</a:t>
              </a:r>
              <a:endParaRPr sz="1100" b="1">
                <a:solidFill>
                  <a:srgbClr val="424242"/>
                </a:solidFill>
                <a:latin typeface="Arial"/>
                <a:ea typeface="Arial"/>
                <a:cs typeface="Arial"/>
                <a:sym typeface="Arial"/>
              </a:endParaRPr>
            </a:p>
            <a:p>
              <a:pPr marL="457200" lvl="0" indent="-298450" algn="l" rtl="0">
                <a:spcBef>
                  <a:spcPts val="0"/>
                </a:spcBef>
                <a:spcAft>
                  <a:spcPts val="0"/>
                </a:spcAft>
                <a:buClr>
                  <a:srgbClr val="5F6368"/>
                </a:buClr>
                <a:buSzPts val="1100"/>
                <a:buFont typeface="Arial"/>
                <a:buChar char="●"/>
              </a:pPr>
              <a:r>
                <a:rPr lang="en" sz="1100">
                  <a:solidFill>
                    <a:srgbClr val="5F6368"/>
                  </a:solidFill>
                </a:rPr>
                <a:t>p in ℓp regularization </a:t>
              </a:r>
              <a:endParaRPr sz="1100">
                <a:solidFill>
                  <a:srgbClr val="5F6368"/>
                </a:solidFill>
              </a:endParaRPr>
            </a:p>
            <a:p>
              <a:pPr marL="914400" lvl="1" indent="-317500" algn="l" rtl="0">
                <a:spcBef>
                  <a:spcPts val="400"/>
                </a:spcBef>
                <a:spcAft>
                  <a:spcPts val="0"/>
                </a:spcAft>
                <a:buClr>
                  <a:schemeClr val="dk1"/>
                </a:buClr>
                <a:buSzPts val="1400"/>
                <a:buChar char="○"/>
              </a:pPr>
              <a:r>
                <a:rPr lang="en" sz="1100">
                  <a:solidFill>
                    <a:srgbClr val="5F6368"/>
                  </a:solidFill>
                </a:rPr>
                <a:t>p = 0.1 (very strong sparsity )</a:t>
              </a:r>
              <a:endParaRPr sz="1100">
                <a:solidFill>
                  <a:srgbClr val="5F6368"/>
                </a:solidFill>
              </a:endParaRPr>
            </a:p>
            <a:p>
              <a:pPr marL="457200" lvl="0" indent="-298450" algn="l" rtl="0">
                <a:spcBef>
                  <a:spcPts val="400"/>
                </a:spcBef>
                <a:spcAft>
                  <a:spcPts val="0"/>
                </a:spcAft>
                <a:buClr>
                  <a:srgbClr val="5F6368"/>
                </a:buClr>
                <a:buSzPts val="1100"/>
                <a:buFont typeface="Arial"/>
                <a:buChar char="●"/>
              </a:pPr>
              <a:r>
                <a:rPr lang="en" sz="1100">
                  <a:solidFill>
                    <a:srgbClr val="5F6368"/>
                  </a:solidFill>
                </a:rPr>
                <a:t>μ (Regularization strength) </a:t>
              </a:r>
              <a:endParaRPr sz="1100">
                <a:solidFill>
                  <a:srgbClr val="5F6368"/>
                </a:solidFill>
              </a:endParaRPr>
            </a:p>
            <a:p>
              <a:pPr marL="914400" lvl="1" indent="-317500" algn="l" rtl="0">
                <a:spcBef>
                  <a:spcPts val="0"/>
                </a:spcBef>
                <a:spcAft>
                  <a:spcPts val="0"/>
                </a:spcAft>
                <a:buClr>
                  <a:schemeClr val="dk1"/>
                </a:buClr>
                <a:buSzPts val="1400"/>
                <a:buChar char="○"/>
              </a:pPr>
              <a:r>
                <a:rPr lang="en" sz="1100">
                  <a:solidFill>
                    <a:srgbClr val="5F6368"/>
                  </a:solidFill>
                </a:rPr>
                <a:t>μ = 0.01	</a:t>
              </a:r>
              <a:endParaRPr sz="1100">
                <a:solidFill>
                  <a:srgbClr val="5F6368"/>
                </a:solidFill>
              </a:endParaRPr>
            </a:p>
            <a:p>
              <a:pPr marL="457200" lvl="0" indent="-298450" algn="l" rtl="0">
                <a:spcBef>
                  <a:spcPts val="0"/>
                </a:spcBef>
                <a:spcAft>
                  <a:spcPts val="0"/>
                </a:spcAft>
                <a:buClr>
                  <a:srgbClr val="5F6368"/>
                </a:buClr>
                <a:buSzPts val="1100"/>
                <a:buFont typeface="Arial"/>
                <a:buChar char="●"/>
              </a:pPr>
              <a:r>
                <a:rPr lang="en" sz="1100">
                  <a:solidFill>
                    <a:srgbClr val="5F6368"/>
                  </a:solidFill>
                </a:rPr>
                <a:t>Iterations (Number of optimization steps) </a:t>
              </a:r>
              <a:endParaRPr sz="1100">
                <a:solidFill>
                  <a:srgbClr val="5F6368"/>
                </a:solidFill>
              </a:endParaRPr>
            </a:p>
            <a:p>
              <a:pPr marL="914400" lvl="1" indent="-298450" algn="l" rtl="0">
                <a:spcBef>
                  <a:spcPts val="0"/>
                </a:spcBef>
                <a:spcAft>
                  <a:spcPts val="0"/>
                </a:spcAft>
                <a:buClr>
                  <a:srgbClr val="5F6368"/>
                </a:buClr>
                <a:buSzPts val="1100"/>
                <a:buChar char="○"/>
              </a:pPr>
              <a:r>
                <a:rPr lang="en" sz="1100">
                  <a:solidFill>
                    <a:srgbClr val="5F6368"/>
                  </a:solidFill>
                </a:rPr>
                <a:t>Iterations = 600 (better convergence )</a:t>
              </a:r>
              <a:endParaRPr b="1">
                <a:solidFill>
                  <a:srgbClr val="1A73E8"/>
                </a:solidFill>
                <a:latin typeface="Arial"/>
                <a:ea typeface="Arial"/>
                <a:cs typeface="Arial"/>
                <a:sym typeface="Arial"/>
              </a:endParaRPr>
            </a:p>
          </p:txBody>
        </p:sp>
      </p:grpSp>
      <p:grpSp>
        <p:nvGrpSpPr>
          <p:cNvPr id="199" name="Google Shape;199;p22"/>
          <p:cNvGrpSpPr/>
          <p:nvPr/>
        </p:nvGrpSpPr>
        <p:grpSpPr>
          <a:xfrm>
            <a:off x="4667250" y="1047750"/>
            <a:ext cx="4191000" cy="3810000"/>
            <a:chOff x="4667250" y="1047750"/>
            <a:chExt cx="4191000" cy="3810000"/>
          </a:xfrm>
        </p:grpSpPr>
        <p:sp>
          <p:nvSpPr>
            <p:cNvPr id="200" name="Google Shape;200;p22"/>
            <p:cNvSpPr/>
            <p:nvPr/>
          </p:nvSpPr>
          <p:spPr>
            <a:xfrm>
              <a:off x="4667250" y="1047750"/>
              <a:ext cx="4191000" cy="3810000"/>
            </a:xfrm>
            <a:prstGeom prst="roundRect">
              <a:avLst>
                <a:gd name="adj" fmla="val 3000"/>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1" name="Google Shape;201;p22"/>
            <p:cNvSpPr txBox="1"/>
            <p:nvPr/>
          </p:nvSpPr>
          <p:spPr>
            <a:xfrm>
              <a:off x="4857750" y="1238250"/>
              <a:ext cx="3810000" cy="3429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Paper 2: TV Alternating Minimization</a:t>
              </a:r>
              <a:endParaRPr sz="1400" b="1">
                <a:solidFill>
                  <a:srgbClr val="1A73E8"/>
                </a:solidFill>
                <a:latin typeface="Arial"/>
                <a:ea typeface="Arial"/>
                <a:cs typeface="Arial"/>
                <a:sym typeface="Arial"/>
              </a:endParaRPr>
            </a:p>
            <a:p>
              <a:pPr marL="0" lvl="0" indent="0" algn="l" rtl="0">
                <a:spcBef>
                  <a:spcPts val="1200"/>
                </a:spcBef>
                <a:spcAft>
                  <a:spcPts val="0"/>
                </a:spcAft>
                <a:buNone/>
              </a:pPr>
              <a:r>
                <a:rPr lang="en" sz="1100" b="1">
                  <a:solidFill>
                    <a:srgbClr val="424242"/>
                  </a:solidFill>
                  <a:latin typeface="Arial"/>
                  <a:ea typeface="Arial"/>
                  <a:cs typeface="Arial"/>
                  <a:sym typeface="Arial"/>
                </a:rPr>
                <a:t>Datasets</a:t>
              </a:r>
              <a:endParaRPr sz="1100" b="1">
                <a:solidFill>
                  <a:srgbClr val="424242"/>
                </a:solidFill>
                <a:latin typeface="Arial"/>
                <a:ea typeface="Arial"/>
                <a:cs typeface="Arial"/>
                <a:sym typeface="Arial"/>
              </a:endParaRPr>
            </a:p>
            <a:p>
              <a:pPr marL="0" lvl="0" indent="0" algn="l" rtl="0">
                <a:spcBef>
                  <a:spcPts val="0"/>
                </a:spcBef>
                <a:spcAft>
                  <a:spcPts val="0"/>
                </a:spcAft>
                <a:buNone/>
              </a:pPr>
              <a:r>
                <a:rPr lang="en" sz="1100" b="0">
                  <a:solidFill>
                    <a:srgbClr val="5F6368"/>
                  </a:solidFill>
                  <a:latin typeface="Arial"/>
                  <a:ea typeface="Arial"/>
                  <a:cs typeface="Arial"/>
                  <a:sym typeface="Arial"/>
                </a:rPr>
                <a:t>• Camera, Coins, Moon</a:t>
              </a:r>
              <a:endParaRPr sz="1100" b="0">
                <a:solidFill>
                  <a:srgbClr val="5F6368"/>
                </a:solidFill>
                <a:latin typeface="Arial"/>
                <a:ea typeface="Arial"/>
                <a:cs typeface="Arial"/>
                <a:sym typeface="Arial"/>
              </a:endParaRPr>
            </a:p>
            <a:p>
              <a:pPr marL="0" lvl="0" indent="0" algn="l" rtl="0">
                <a:spcBef>
                  <a:spcPts val="750"/>
                </a:spcBef>
                <a:spcAft>
                  <a:spcPts val="0"/>
                </a:spcAft>
                <a:buNone/>
              </a:pPr>
              <a:r>
                <a:rPr lang="en" sz="1100" b="1">
                  <a:solidFill>
                    <a:srgbClr val="424242"/>
                  </a:solidFill>
                  <a:latin typeface="Arial"/>
                  <a:ea typeface="Arial"/>
                  <a:cs typeface="Arial"/>
                  <a:sym typeface="Arial"/>
                </a:rPr>
                <a:t>Degradation</a:t>
              </a:r>
              <a:endParaRPr sz="1100" b="1">
                <a:solidFill>
                  <a:srgbClr val="424242"/>
                </a:solidFill>
                <a:latin typeface="Arial"/>
                <a:ea typeface="Arial"/>
                <a:cs typeface="Arial"/>
                <a:sym typeface="Arial"/>
              </a:endParaRPr>
            </a:p>
            <a:p>
              <a:pPr marL="0" lvl="0" indent="0" algn="l" rtl="0">
                <a:spcBef>
                  <a:spcPts val="0"/>
                </a:spcBef>
                <a:spcAft>
                  <a:spcPts val="0"/>
                </a:spcAft>
                <a:buNone/>
              </a:pPr>
              <a:r>
                <a:rPr lang="en" sz="1100" b="0">
                  <a:solidFill>
                    <a:srgbClr val="5F6368"/>
                  </a:solidFill>
                  <a:latin typeface="Arial"/>
                  <a:ea typeface="Arial"/>
                  <a:cs typeface="Arial"/>
                  <a:sym typeface="Arial"/>
                </a:rPr>
                <a:t>• Gaussian blur + Additive noise</a:t>
              </a:r>
              <a:endParaRPr sz="1100" b="0">
                <a:solidFill>
                  <a:srgbClr val="5F6368"/>
                </a:solidFill>
                <a:latin typeface="Arial"/>
                <a:ea typeface="Arial"/>
                <a:cs typeface="Arial"/>
                <a:sym typeface="Arial"/>
              </a:endParaRPr>
            </a:p>
            <a:p>
              <a:pPr marL="0" lvl="0" indent="0" algn="l" rtl="0">
                <a:spcBef>
                  <a:spcPts val="750"/>
                </a:spcBef>
                <a:spcAft>
                  <a:spcPts val="0"/>
                </a:spcAft>
                <a:buNone/>
              </a:pPr>
              <a:r>
                <a:rPr lang="en" sz="1100" b="1">
                  <a:solidFill>
                    <a:srgbClr val="424242"/>
                  </a:solidFill>
                  <a:latin typeface="Arial"/>
                  <a:ea typeface="Arial"/>
                  <a:cs typeface="Arial"/>
                  <a:sym typeface="Arial"/>
                </a:rPr>
                <a:t>Implementation Details</a:t>
              </a:r>
              <a:endParaRPr sz="1100" b="1">
                <a:solidFill>
                  <a:srgbClr val="424242"/>
                </a:solidFill>
                <a:latin typeface="Arial"/>
                <a:ea typeface="Arial"/>
                <a:cs typeface="Arial"/>
                <a:sym typeface="Arial"/>
              </a:endParaRPr>
            </a:p>
            <a:p>
              <a:pPr marL="457200" lvl="0" indent="-292100" algn="l" rtl="0">
                <a:spcBef>
                  <a:spcPts val="0"/>
                </a:spcBef>
                <a:spcAft>
                  <a:spcPts val="0"/>
                </a:spcAft>
                <a:buClr>
                  <a:srgbClr val="5F6368"/>
                </a:buClr>
                <a:buSzPts val="1000"/>
                <a:buFont typeface="Arial"/>
                <a:buChar char="●"/>
              </a:pPr>
              <a:r>
                <a:rPr lang="en" sz="1000" b="0">
                  <a:solidFill>
                    <a:srgbClr val="5F6368"/>
                  </a:solidFill>
                  <a:latin typeface="Arial"/>
                  <a:ea typeface="Arial"/>
                  <a:cs typeface="Arial"/>
                  <a:sym typeface="Arial"/>
                </a:rPr>
                <a:t>Gradient shrinkage step</a:t>
              </a:r>
              <a:endParaRPr sz="1000" b="0">
                <a:solidFill>
                  <a:srgbClr val="5F6368"/>
                </a:solidFill>
                <a:latin typeface="Arial"/>
                <a:ea typeface="Arial"/>
                <a:cs typeface="Arial"/>
                <a:sym typeface="Arial"/>
              </a:endParaRPr>
            </a:p>
            <a:p>
              <a:pPr marL="457200" lvl="0" indent="-292100" algn="l" rtl="0">
                <a:spcBef>
                  <a:spcPts val="200"/>
                </a:spcBef>
                <a:spcAft>
                  <a:spcPts val="0"/>
                </a:spcAft>
                <a:buClr>
                  <a:srgbClr val="5F6368"/>
                </a:buClr>
                <a:buSzPts val="1000"/>
                <a:buFont typeface="Arial"/>
                <a:buChar char="●"/>
              </a:pPr>
              <a:r>
                <a:rPr lang="en" sz="1000" b="0">
                  <a:solidFill>
                    <a:srgbClr val="5F6368"/>
                  </a:solidFill>
                  <a:latin typeface="Arial"/>
                  <a:ea typeface="Arial"/>
                  <a:cs typeface="Arial"/>
                  <a:sym typeface="Arial"/>
                </a:rPr>
                <a:t>Conjugate gradient image update</a:t>
              </a:r>
              <a:endParaRPr sz="1000" b="0">
                <a:solidFill>
                  <a:srgbClr val="5F6368"/>
                </a:solidFill>
                <a:latin typeface="Arial"/>
                <a:ea typeface="Arial"/>
                <a:cs typeface="Arial"/>
                <a:sym typeface="Arial"/>
              </a:endParaRPr>
            </a:p>
            <a:p>
              <a:pPr marL="457200" lvl="0" indent="-292100" algn="l" rtl="0">
                <a:spcBef>
                  <a:spcPts val="200"/>
                </a:spcBef>
                <a:spcAft>
                  <a:spcPts val="0"/>
                </a:spcAft>
                <a:buClr>
                  <a:srgbClr val="5F6368"/>
                </a:buClr>
                <a:buSzPts val="1000"/>
                <a:buFont typeface="Arial"/>
                <a:buChar char="●"/>
              </a:pPr>
              <a:r>
                <a:rPr lang="en" sz="1000" b="0">
                  <a:solidFill>
                    <a:srgbClr val="5F6368"/>
                  </a:solidFill>
                  <a:latin typeface="Arial"/>
                  <a:ea typeface="Arial"/>
                  <a:cs typeface="Arial"/>
                  <a:sym typeface="Arial"/>
                </a:rPr>
                <a:t>Alternating minimization iterations</a:t>
              </a:r>
              <a:endParaRPr sz="1000" b="0">
                <a:solidFill>
                  <a:srgbClr val="5F6368"/>
                </a:solidFill>
                <a:latin typeface="Arial"/>
                <a:ea typeface="Arial"/>
                <a:cs typeface="Arial"/>
                <a:sym typeface="Arial"/>
              </a:endParaRPr>
            </a:p>
            <a:p>
              <a:pPr marL="0" lvl="0" indent="0" algn="l" rtl="0">
                <a:spcBef>
                  <a:spcPts val="750"/>
                </a:spcBef>
                <a:spcAft>
                  <a:spcPts val="0"/>
                </a:spcAft>
                <a:buNone/>
              </a:pPr>
              <a:r>
                <a:rPr lang="en" sz="1100" b="1">
                  <a:solidFill>
                    <a:srgbClr val="424242"/>
                  </a:solidFill>
                  <a:latin typeface="Arial"/>
                  <a:ea typeface="Arial"/>
                  <a:cs typeface="Arial"/>
                  <a:sym typeface="Arial"/>
                </a:rPr>
                <a:t>Evaluation</a:t>
              </a:r>
              <a:endParaRPr sz="1100" b="1">
                <a:solidFill>
                  <a:srgbClr val="424242"/>
                </a:solidFill>
                <a:latin typeface="Arial"/>
                <a:ea typeface="Arial"/>
                <a:cs typeface="Arial"/>
                <a:sym typeface="Arial"/>
              </a:endParaRPr>
            </a:p>
            <a:p>
              <a:pPr marL="0" lvl="0" indent="0" algn="l" rtl="0">
                <a:spcBef>
                  <a:spcPts val="0"/>
                </a:spcBef>
                <a:spcAft>
                  <a:spcPts val="0"/>
                </a:spcAft>
                <a:buNone/>
              </a:pPr>
              <a:r>
                <a:rPr lang="en" sz="1100" b="0">
                  <a:solidFill>
                    <a:srgbClr val="5F6368"/>
                  </a:solidFill>
                  <a:latin typeface="Arial"/>
                  <a:ea typeface="Arial"/>
                  <a:cs typeface="Arial"/>
                  <a:sym typeface="Arial"/>
                </a:rPr>
                <a:t>• PSNR and SSIM</a:t>
              </a:r>
              <a:endParaRPr sz="1100" b="0">
                <a:solidFill>
                  <a:srgbClr val="5F6368"/>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5"/>
        <p:cNvGrpSpPr/>
        <p:nvPr/>
      </p:nvGrpSpPr>
      <p:grpSpPr>
        <a:xfrm>
          <a:off x="0" y="0"/>
          <a:ext cx="0" cy="0"/>
          <a:chOff x="0" y="0"/>
          <a:chExt cx="0" cy="0"/>
        </a:xfrm>
      </p:grpSpPr>
      <p:sp>
        <p:nvSpPr>
          <p:cNvPr id="206" name="Google Shape;206;p23"/>
          <p:cNvSpPr txBox="1">
            <a:spLocks noGrp="1"/>
          </p:cNvSpPr>
          <p:nvPr>
            <p:ph type="title"/>
          </p:nvPr>
        </p:nvSpPr>
        <p:spPr>
          <a:xfrm>
            <a:off x="311700" y="0"/>
            <a:ext cx="8520600" cy="571500"/>
          </a:xfrm>
          <a:prstGeom prst="rect">
            <a:avLst/>
          </a:prstGeom>
          <a:solidFill>
            <a:srgbClr val="000000">
              <a:alpha val="0"/>
            </a:srgbClr>
          </a:solidFill>
          <a:ln>
            <a:noFill/>
          </a:ln>
        </p:spPr>
        <p:txBody>
          <a:bodyPr spcFirstLastPara="1" wrap="square" lIns="95250" tIns="95250" rIns="95250" bIns="95250" anchor="ctr" anchorCtr="0">
            <a:normAutofit/>
          </a:bodyPr>
          <a:lstStyle/>
          <a:p>
            <a:pPr marL="0" lvl="0" indent="0" algn="ctr" rtl="0">
              <a:spcBef>
                <a:spcPts val="0"/>
              </a:spcBef>
              <a:spcAft>
                <a:spcPts val="0"/>
              </a:spcAft>
              <a:buNone/>
            </a:pPr>
            <a:r>
              <a:rPr lang="en" sz="2380" b="1">
                <a:solidFill>
                  <a:srgbClr val="212121"/>
                </a:solidFill>
                <a:latin typeface="Arial"/>
                <a:ea typeface="Arial"/>
                <a:cs typeface="Arial"/>
                <a:sym typeface="Arial"/>
              </a:rPr>
              <a:t>Datasets and Experimental Setup</a:t>
            </a:r>
            <a:endParaRPr sz="2380" b="1">
              <a:solidFill>
                <a:srgbClr val="212121"/>
              </a:solidFill>
              <a:latin typeface="Arial"/>
              <a:ea typeface="Arial"/>
              <a:cs typeface="Arial"/>
              <a:sym typeface="Arial"/>
            </a:endParaRPr>
          </a:p>
        </p:txBody>
      </p:sp>
      <p:grpSp>
        <p:nvGrpSpPr>
          <p:cNvPr id="207" name="Google Shape;207;p23"/>
          <p:cNvGrpSpPr/>
          <p:nvPr/>
        </p:nvGrpSpPr>
        <p:grpSpPr>
          <a:xfrm>
            <a:off x="19050" y="571500"/>
            <a:ext cx="9123900" cy="333300"/>
            <a:chOff x="19050" y="571500"/>
            <a:chExt cx="9123900" cy="333300"/>
          </a:xfrm>
        </p:grpSpPr>
        <p:sp>
          <p:nvSpPr>
            <p:cNvPr id="208" name="Google Shape;208;p23"/>
            <p:cNvSpPr/>
            <p:nvPr/>
          </p:nvSpPr>
          <p:spPr>
            <a:xfrm>
              <a:off x="19050" y="571500"/>
              <a:ext cx="91239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9" name="Google Shape;209;p23"/>
            <p:cNvSpPr txBox="1"/>
            <p:nvPr/>
          </p:nvSpPr>
          <p:spPr>
            <a:xfrm>
              <a:off x="19050" y="571500"/>
              <a:ext cx="9123900" cy="333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600" b="1">
                  <a:solidFill>
                    <a:srgbClr val="5F6368"/>
                  </a:solidFill>
                  <a:latin typeface="Arial"/>
                  <a:ea typeface="Arial"/>
                  <a:cs typeface="Arial"/>
                  <a:sym typeface="Arial"/>
                </a:rPr>
                <a:t>Literature-Based Implementations vs. Synthetic Benchmark</a:t>
              </a:r>
              <a:endParaRPr sz="1600" b="1">
                <a:solidFill>
                  <a:srgbClr val="5F6368"/>
                </a:solidFill>
                <a:latin typeface="Arial"/>
                <a:ea typeface="Arial"/>
                <a:cs typeface="Arial"/>
                <a:sym typeface="Arial"/>
              </a:endParaRPr>
            </a:p>
          </p:txBody>
        </p:sp>
      </p:grpSp>
      <p:grpSp>
        <p:nvGrpSpPr>
          <p:cNvPr id="210" name="Google Shape;210;p23"/>
          <p:cNvGrpSpPr/>
          <p:nvPr/>
        </p:nvGrpSpPr>
        <p:grpSpPr>
          <a:xfrm>
            <a:off x="285750" y="1047750"/>
            <a:ext cx="4191000" cy="3238500"/>
            <a:chOff x="285750" y="1047750"/>
            <a:chExt cx="4191000" cy="3238500"/>
          </a:xfrm>
        </p:grpSpPr>
        <p:sp>
          <p:nvSpPr>
            <p:cNvPr id="211" name="Google Shape;211;p23"/>
            <p:cNvSpPr/>
            <p:nvPr/>
          </p:nvSpPr>
          <p:spPr>
            <a:xfrm>
              <a:off x="285750" y="1047750"/>
              <a:ext cx="4191000" cy="3238500"/>
            </a:xfrm>
            <a:prstGeom prst="roundRect">
              <a:avLst>
                <a:gd name="adj" fmla="val 3529"/>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2" name="Google Shape;212;p23"/>
            <p:cNvSpPr txBox="1"/>
            <p:nvPr/>
          </p:nvSpPr>
          <p:spPr>
            <a:xfrm>
              <a:off x="476250" y="1238250"/>
              <a:ext cx="38100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Paper 3: Hybrid Convex TV (ADMM)</a:t>
              </a:r>
              <a:endParaRPr sz="1400" b="1">
                <a:solidFill>
                  <a:srgbClr val="1A73E8"/>
                </a:solidFill>
                <a:latin typeface="Arial"/>
                <a:ea typeface="Arial"/>
                <a:cs typeface="Arial"/>
                <a:sym typeface="Arial"/>
              </a:endParaRPr>
            </a:p>
            <a:p>
              <a:pPr marL="0" lvl="0" indent="0" algn="l" rtl="0">
                <a:spcBef>
                  <a:spcPts val="1200"/>
                </a:spcBef>
                <a:spcAft>
                  <a:spcPts val="0"/>
                </a:spcAft>
                <a:buNone/>
              </a:pPr>
              <a:r>
                <a:rPr lang="en" sz="1100" b="1">
                  <a:solidFill>
                    <a:srgbClr val="424242"/>
                  </a:solidFill>
                  <a:latin typeface="Arial"/>
                  <a:ea typeface="Arial"/>
                  <a:cs typeface="Arial"/>
                  <a:sym typeface="Arial"/>
                </a:rPr>
                <a:t>Datasets</a:t>
              </a:r>
              <a:endParaRPr sz="1100" b="1">
                <a:solidFill>
                  <a:srgbClr val="424242"/>
                </a:solidFill>
                <a:latin typeface="Arial"/>
                <a:ea typeface="Arial"/>
                <a:cs typeface="Arial"/>
                <a:sym typeface="Arial"/>
              </a:endParaRPr>
            </a:p>
            <a:p>
              <a:pPr marL="457200" lvl="0" indent="-298450" algn="l" rtl="0">
                <a:spcBef>
                  <a:spcPts val="400"/>
                </a:spcBef>
                <a:spcAft>
                  <a:spcPts val="0"/>
                </a:spcAft>
                <a:buClr>
                  <a:srgbClr val="5F6368"/>
                </a:buClr>
                <a:buSzPts val="1100"/>
                <a:buFont typeface="Arial"/>
                <a:buChar char="●"/>
              </a:pPr>
              <a:r>
                <a:rPr lang="en" sz="1100">
                  <a:solidFill>
                    <a:srgbClr val="5F6368"/>
                  </a:solidFill>
                  <a:latin typeface="Arial"/>
                  <a:ea typeface="Arial"/>
                  <a:cs typeface="Arial"/>
                  <a:sym typeface="Arial"/>
                </a:rPr>
                <a:t>Two real test images</a:t>
              </a:r>
              <a:endParaRPr sz="1100">
                <a:solidFill>
                  <a:srgbClr val="5F6368"/>
                </a:solidFill>
                <a:latin typeface="Arial"/>
                <a:ea typeface="Arial"/>
                <a:cs typeface="Arial"/>
                <a:sym typeface="Arial"/>
              </a:endParaRPr>
            </a:p>
            <a:p>
              <a:pPr marL="457200" lvl="0" indent="-298450" algn="l" rtl="0">
                <a:spcBef>
                  <a:spcPts val="400"/>
                </a:spcBef>
                <a:spcAft>
                  <a:spcPts val="0"/>
                </a:spcAft>
                <a:buClr>
                  <a:srgbClr val="5F6368"/>
                </a:buClr>
                <a:buSzPts val="1100"/>
                <a:buFont typeface="Arial"/>
                <a:buChar char="●"/>
              </a:pPr>
              <a:r>
                <a:rPr lang="en" sz="1100">
                  <a:solidFill>
                    <a:srgbClr val="5F6368"/>
                  </a:solidFill>
                  <a:latin typeface="Arial"/>
                  <a:ea typeface="Arial"/>
                  <a:cs typeface="Arial"/>
                  <a:sym typeface="Arial"/>
                </a:rPr>
                <a:t>Two camera shake blur kernels</a:t>
              </a:r>
              <a:endParaRPr sz="1100">
                <a:solidFill>
                  <a:srgbClr val="5F6368"/>
                </a:solidFill>
                <a:latin typeface="Arial"/>
                <a:ea typeface="Arial"/>
                <a:cs typeface="Arial"/>
                <a:sym typeface="Arial"/>
              </a:endParaRPr>
            </a:p>
            <a:p>
              <a:pPr marL="0" lvl="0" indent="0" algn="l" rtl="0">
                <a:spcBef>
                  <a:spcPts val="800"/>
                </a:spcBef>
                <a:spcAft>
                  <a:spcPts val="0"/>
                </a:spcAft>
                <a:buNone/>
              </a:pPr>
              <a:r>
                <a:rPr lang="en" sz="1100" b="1">
                  <a:solidFill>
                    <a:srgbClr val="424242"/>
                  </a:solidFill>
                  <a:latin typeface="Arial"/>
                  <a:ea typeface="Arial"/>
                  <a:cs typeface="Arial"/>
                  <a:sym typeface="Arial"/>
                </a:rPr>
                <a:t>Setup</a:t>
              </a:r>
              <a:endParaRPr sz="1100" b="1">
                <a:solidFill>
                  <a:srgbClr val="424242"/>
                </a:solidFill>
                <a:latin typeface="Arial"/>
                <a:ea typeface="Arial"/>
                <a:cs typeface="Arial"/>
                <a:sym typeface="Arial"/>
              </a:endParaRPr>
            </a:p>
            <a:p>
              <a:pPr marL="457200" lvl="0" indent="-298450" algn="l" rtl="0">
                <a:spcBef>
                  <a:spcPts val="400"/>
                </a:spcBef>
                <a:spcAft>
                  <a:spcPts val="0"/>
                </a:spcAft>
                <a:buClr>
                  <a:srgbClr val="5F6368"/>
                </a:buClr>
                <a:buSzPts val="1100"/>
                <a:buFont typeface="Arial"/>
                <a:buChar char="●"/>
              </a:pPr>
              <a:r>
                <a:rPr lang="en" sz="1100">
                  <a:solidFill>
                    <a:srgbClr val="5F6368"/>
                  </a:solidFill>
                  <a:latin typeface="Arial"/>
                  <a:ea typeface="Arial"/>
                  <a:cs typeface="Arial"/>
                  <a:sym typeface="Arial"/>
                </a:rPr>
                <a:t>Gaussian noise: μ=10⁻³</a:t>
              </a:r>
              <a:endParaRPr sz="1100">
                <a:solidFill>
                  <a:srgbClr val="5F6368"/>
                </a:solidFill>
                <a:latin typeface="Arial"/>
                <a:ea typeface="Arial"/>
                <a:cs typeface="Arial"/>
                <a:sym typeface="Arial"/>
              </a:endParaRPr>
            </a:p>
            <a:p>
              <a:pPr marL="457200" lvl="0" indent="-298450" algn="l" rtl="0">
                <a:spcBef>
                  <a:spcPts val="400"/>
                </a:spcBef>
                <a:spcAft>
                  <a:spcPts val="0"/>
                </a:spcAft>
                <a:buClr>
                  <a:srgbClr val="5F6368"/>
                </a:buClr>
                <a:buSzPts val="1100"/>
                <a:buFont typeface="Arial"/>
                <a:buChar char="●"/>
              </a:pPr>
              <a:r>
                <a:rPr lang="en" sz="1100">
                  <a:solidFill>
                    <a:srgbClr val="5F6368"/>
                  </a:solidFill>
                  <a:latin typeface="Arial"/>
                  <a:ea typeface="Arial"/>
                  <a:cs typeface="Arial"/>
                  <a:sym typeface="Arial"/>
                </a:rPr>
                <a:t>Maximum iterations: 40</a:t>
              </a:r>
              <a:endParaRPr sz="1100">
                <a:solidFill>
                  <a:srgbClr val="5F6368"/>
                </a:solidFill>
                <a:latin typeface="Arial"/>
                <a:ea typeface="Arial"/>
                <a:cs typeface="Arial"/>
                <a:sym typeface="Arial"/>
              </a:endParaRPr>
            </a:p>
            <a:p>
              <a:pPr marL="0" lvl="0" indent="0" algn="l" rtl="0">
                <a:spcBef>
                  <a:spcPts val="800"/>
                </a:spcBef>
                <a:spcAft>
                  <a:spcPts val="0"/>
                </a:spcAft>
                <a:buNone/>
              </a:pPr>
              <a:r>
                <a:rPr lang="en" sz="1100" b="1">
                  <a:solidFill>
                    <a:srgbClr val="424242"/>
                  </a:solidFill>
                  <a:latin typeface="Arial"/>
                  <a:ea typeface="Arial"/>
                  <a:cs typeface="Arial"/>
                  <a:sym typeface="Arial"/>
                </a:rPr>
                <a:t>Metrics</a:t>
              </a:r>
              <a:endParaRPr sz="1100" b="1">
                <a:solidFill>
                  <a:srgbClr val="424242"/>
                </a:solidFill>
                <a:latin typeface="Arial"/>
                <a:ea typeface="Arial"/>
                <a:cs typeface="Arial"/>
                <a:sym typeface="Arial"/>
              </a:endParaRPr>
            </a:p>
            <a:p>
              <a:pPr marL="0" lvl="0" indent="0" algn="l" rtl="0">
                <a:spcBef>
                  <a:spcPts val="400"/>
                </a:spcBef>
                <a:spcAft>
                  <a:spcPts val="0"/>
                </a:spcAft>
                <a:buNone/>
              </a:pPr>
              <a:r>
                <a:rPr lang="en" sz="1100">
                  <a:solidFill>
                    <a:srgbClr val="5F6368"/>
                  </a:solidFill>
                  <a:latin typeface="Arial"/>
                  <a:ea typeface="Arial"/>
                  <a:cs typeface="Arial"/>
                  <a:sym typeface="Arial"/>
                </a:rPr>
                <a:t>PSNR, SSIM, EDR, MHD</a:t>
              </a:r>
              <a:endParaRPr sz="1100">
                <a:solidFill>
                  <a:srgbClr val="5F6368"/>
                </a:solidFill>
                <a:latin typeface="Arial"/>
                <a:ea typeface="Arial"/>
                <a:cs typeface="Arial"/>
                <a:sym typeface="Arial"/>
              </a:endParaRPr>
            </a:p>
          </p:txBody>
        </p:sp>
      </p:grpSp>
      <p:grpSp>
        <p:nvGrpSpPr>
          <p:cNvPr id="213" name="Google Shape;213;p23"/>
          <p:cNvGrpSpPr/>
          <p:nvPr/>
        </p:nvGrpSpPr>
        <p:grpSpPr>
          <a:xfrm>
            <a:off x="4667250" y="1047750"/>
            <a:ext cx="4191000" cy="3238500"/>
            <a:chOff x="4667250" y="1047750"/>
            <a:chExt cx="4191000" cy="3238500"/>
          </a:xfrm>
        </p:grpSpPr>
        <p:sp>
          <p:nvSpPr>
            <p:cNvPr id="214" name="Google Shape;214;p23"/>
            <p:cNvSpPr/>
            <p:nvPr/>
          </p:nvSpPr>
          <p:spPr>
            <a:xfrm>
              <a:off x="4667250" y="1047750"/>
              <a:ext cx="4191000" cy="3238500"/>
            </a:xfrm>
            <a:prstGeom prst="roundRect">
              <a:avLst>
                <a:gd name="adj" fmla="val 3529"/>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5" name="Google Shape;215;p23"/>
            <p:cNvSpPr txBox="1"/>
            <p:nvPr/>
          </p:nvSpPr>
          <p:spPr>
            <a:xfrm>
              <a:off x="4857750" y="1238250"/>
              <a:ext cx="38100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Our Extension: Synthetic Benchmark</a:t>
              </a:r>
              <a:endParaRPr sz="1400" b="1">
                <a:solidFill>
                  <a:srgbClr val="1A73E8"/>
                </a:solidFill>
                <a:latin typeface="Arial"/>
                <a:ea typeface="Arial"/>
                <a:cs typeface="Arial"/>
                <a:sym typeface="Arial"/>
              </a:endParaRPr>
            </a:p>
            <a:p>
              <a:pPr marL="0" lvl="0" indent="0" algn="l" rtl="0">
                <a:spcBef>
                  <a:spcPts val="1200"/>
                </a:spcBef>
                <a:spcAft>
                  <a:spcPts val="0"/>
                </a:spcAft>
                <a:buNone/>
              </a:pPr>
              <a:r>
                <a:rPr lang="en" sz="1100" b="1">
                  <a:solidFill>
                    <a:srgbClr val="424242"/>
                  </a:solidFill>
                  <a:latin typeface="Arial"/>
                  <a:ea typeface="Arial"/>
                  <a:cs typeface="Arial"/>
                  <a:sym typeface="Arial"/>
                </a:rPr>
                <a:t>Synthetic Test Images</a:t>
              </a:r>
              <a:endParaRPr sz="1100" b="1">
                <a:solidFill>
                  <a:srgbClr val="424242"/>
                </a:solidFill>
                <a:latin typeface="Arial"/>
                <a:ea typeface="Arial"/>
                <a:cs typeface="Arial"/>
                <a:sym typeface="Arial"/>
              </a:endParaRPr>
            </a:p>
            <a:p>
              <a:pPr marL="0" lvl="0" indent="0" algn="l" rtl="0">
                <a:spcBef>
                  <a:spcPts val="400"/>
                </a:spcBef>
                <a:spcAft>
                  <a:spcPts val="0"/>
                </a:spcAft>
                <a:buNone/>
              </a:pPr>
              <a:r>
                <a:rPr lang="en" sz="1000">
                  <a:solidFill>
                    <a:srgbClr val="5F6368"/>
                  </a:solidFill>
                  <a:latin typeface="Arial"/>
                  <a:ea typeface="Arial"/>
                  <a:cs typeface="Arial"/>
                  <a:sym typeface="Arial"/>
                </a:rPr>
                <a:t>Checkerboard, Circular Waves, Rectangles, Gradient, Random Shapes</a:t>
              </a:r>
              <a:endParaRPr sz="1000">
                <a:solidFill>
                  <a:srgbClr val="5F6368"/>
                </a:solidFill>
                <a:latin typeface="Arial"/>
                <a:ea typeface="Arial"/>
                <a:cs typeface="Arial"/>
                <a:sym typeface="Arial"/>
              </a:endParaRPr>
            </a:p>
            <a:p>
              <a:pPr marL="0" lvl="0" indent="0" algn="l" rtl="0">
                <a:spcBef>
                  <a:spcPts val="800"/>
                </a:spcBef>
                <a:spcAft>
                  <a:spcPts val="0"/>
                </a:spcAft>
                <a:buNone/>
              </a:pPr>
              <a:r>
                <a:rPr lang="en" sz="1100" b="1">
                  <a:solidFill>
                    <a:srgbClr val="424242"/>
                  </a:solidFill>
                  <a:latin typeface="Arial"/>
                  <a:ea typeface="Arial"/>
                  <a:cs typeface="Arial"/>
                  <a:sym typeface="Arial"/>
                </a:rPr>
                <a:t>Degradation Setup</a:t>
              </a:r>
              <a:endParaRPr sz="1100" b="1">
                <a:solidFill>
                  <a:srgbClr val="424242"/>
                </a:solidFill>
                <a:latin typeface="Arial"/>
                <a:ea typeface="Arial"/>
                <a:cs typeface="Arial"/>
                <a:sym typeface="Arial"/>
              </a:endParaRPr>
            </a:p>
            <a:p>
              <a:pPr marL="457200" lvl="0" indent="-298450" algn="l" rtl="0">
                <a:spcBef>
                  <a:spcPts val="400"/>
                </a:spcBef>
                <a:spcAft>
                  <a:spcPts val="0"/>
                </a:spcAft>
                <a:buClr>
                  <a:srgbClr val="5F6368"/>
                </a:buClr>
                <a:buSzPts val="1100"/>
                <a:buFont typeface="Arial"/>
                <a:buChar char="●"/>
              </a:pPr>
              <a:r>
                <a:rPr lang="en" sz="1100">
                  <a:solidFill>
                    <a:srgbClr val="5F6368"/>
                  </a:solidFill>
                  <a:latin typeface="Arial"/>
                  <a:ea typeface="Arial"/>
                  <a:cs typeface="Arial"/>
                  <a:sym typeface="Arial"/>
                </a:rPr>
                <a:t>Gaussian blur: 9×9, σ=2</a:t>
              </a:r>
              <a:endParaRPr sz="1100">
                <a:solidFill>
                  <a:srgbClr val="5F6368"/>
                </a:solidFill>
                <a:latin typeface="Arial"/>
                <a:ea typeface="Arial"/>
                <a:cs typeface="Arial"/>
                <a:sym typeface="Arial"/>
              </a:endParaRPr>
            </a:p>
            <a:p>
              <a:pPr marL="457200" lvl="0" indent="-298450" algn="l" rtl="0">
                <a:spcBef>
                  <a:spcPts val="200"/>
                </a:spcBef>
                <a:spcAft>
                  <a:spcPts val="0"/>
                </a:spcAft>
                <a:buClr>
                  <a:srgbClr val="5F6368"/>
                </a:buClr>
                <a:buSzPts val="1100"/>
                <a:buFont typeface="Arial"/>
                <a:buChar char="●"/>
              </a:pPr>
              <a:r>
                <a:rPr lang="en" sz="1100">
                  <a:solidFill>
                    <a:srgbClr val="5F6368"/>
                  </a:solidFill>
                  <a:latin typeface="Arial"/>
                  <a:ea typeface="Arial"/>
                  <a:cs typeface="Arial"/>
                  <a:sym typeface="Arial"/>
                </a:rPr>
                <a:t>Noise std = 0.01</a:t>
              </a:r>
              <a:endParaRPr sz="1100">
                <a:solidFill>
                  <a:srgbClr val="5F6368"/>
                </a:solidFill>
                <a:latin typeface="Arial"/>
                <a:ea typeface="Arial"/>
                <a:cs typeface="Arial"/>
                <a:sym typeface="Arial"/>
              </a:endParaRPr>
            </a:p>
            <a:p>
              <a:pPr marL="457200" lvl="0" indent="-298450" algn="l" rtl="0">
                <a:spcBef>
                  <a:spcPts val="200"/>
                </a:spcBef>
                <a:spcAft>
                  <a:spcPts val="0"/>
                </a:spcAft>
                <a:buClr>
                  <a:srgbClr val="5F6368"/>
                </a:buClr>
                <a:buSzPts val="1100"/>
                <a:buFont typeface="Arial"/>
                <a:buChar char="●"/>
              </a:pPr>
              <a:r>
                <a:rPr lang="en" sz="1100">
                  <a:solidFill>
                    <a:srgbClr val="5F6368"/>
                  </a:solidFill>
                  <a:latin typeface="Arial"/>
                  <a:ea typeface="Arial"/>
                  <a:cs typeface="Arial"/>
                  <a:sym typeface="Arial"/>
                </a:rPr>
                <a:t>Iterations = 200</a:t>
              </a:r>
              <a:endParaRPr sz="1100">
                <a:solidFill>
                  <a:srgbClr val="5F6368"/>
                </a:solidFill>
                <a:latin typeface="Arial"/>
                <a:ea typeface="Arial"/>
                <a:cs typeface="Arial"/>
                <a:sym typeface="Arial"/>
              </a:endParaRPr>
            </a:p>
            <a:p>
              <a:pPr marL="0" lvl="0" indent="0" algn="l" rtl="0">
                <a:spcBef>
                  <a:spcPts val="800"/>
                </a:spcBef>
                <a:spcAft>
                  <a:spcPts val="0"/>
                </a:spcAft>
                <a:buNone/>
              </a:pPr>
              <a:r>
                <a:rPr lang="en" sz="1100" b="1">
                  <a:solidFill>
                    <a:srgbClr val="424242"/>
                  </a:solidFill>
                  <a:latin typeface="Arial"/>
                  <a:ea typeface="Arial"/>
                  <a:cs typeface="Arial"/>
                  <a:sym typeface="Arial"/>
                </a:rPr>
                <a:t>Solvers Tested</a:t>
              </a:r>
              <a:endParaRPr sz="1100" b="1">
                <a:solidFill>
                  <a:srgbClr val="424242"/>
                </a:solidFill>
                <a:latin typeface="Arial"/>
                <a:ea typeface="Arial"/>
                <a:cs typeface="Arial"/>
                <a:sym typeface="Arial"/>
              </a:endParaRPr>
            </a:p>
            <a:p>
              <a:pPr marL="0" lvl="0" indent="0" algn="l" rtl="0">
                <a:spcBef>
                  <a:spcPts val="400"/>
                </a:spcBef>
                <a:spcAft>
                  <a:spcPts val="0"/>
                </a:spcAft>
                <a:buNone/>
              </a:pPr>
              <a:r>
                <a:rPr lang="en" sz="1000">
                  <a:solidFill>
                    <a:srgbClr val="5F6368"/>
                  </a:solidFill>
                  <a:latin typeface="Arial"/>
                  <a:ea typeface="Arial"/>
                  <a:cs typeface="Arial"/>
                  <a:sym typeface="Arial"/>
                </a:rPr>
                <a:t>L2 (GD, FISTA), TV (ADMM, FISTA, Primal-Dual, Split Bregman)</a:t>
              </a:r>
              <a:endParaRPr sz="1000">
                <a:solidFill>
                  <a:srgbClr val="5F6368"/>
                </a:solidFill>
                <a:latin typeface="Arial"/>
                <a:ea typeface="Arial"/>
                <a:cs typeface="Arial"/>
                <a:sym typeface="Arial"/>
              </a:endParaRPr>
            </a:p>
          </p:txBody>
        </p:sp>
      </p:grpSp>
      <p:grpSp>
        <p:nvGrpSpPr>
          <p:cNvPr id="216" name="Google Shape;216;p23"/>
          <p:cNvGrpSpPr/>
          <p:nvPr/>
        </p:nvGrpSpPr>
        <p:grpSpPr>
          <a:xfrm>
            <a:off x="285750" y="4429125"/>
            <a:ext cx="8572500" cy="571500"/>
            <a:chOff x="285750" y="4429125"/>
            <a:chExt cx="8572500" cy="571500"/>
          </a:xfrm>
        </p:grpSpPr>
        <p:sp>
          <p:nvSpPr>
            <p:cNvPr id="217" name="Google Shape;217;p23"/>
            <p:cNvSpPr/>
            <p:nvPr/>
          </p:nvSpPr>
          <p:spPr>
            <a:xfrm>
              <a:off x="285750" y="4429125"/>
              <a:ext cx="8572500" cy="571500"/>
            </a:xfrm>
            <a:prstGeom prst="roundRect">
              <a:avLst>
                <a:gd name="adj" fmla="val 13333"/>
              </a:avLst>
            </a:prstGeom>
            <a:solidFill>
              <a:srgbClr val="E8F0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8" name="Google Shape;218;p23"/>
            <p:cNvSpPr txBox="1"/>
            <p:nvPr/>
          </p:nvSpPr>
          <p:spPr>
            <a:xfrm>
              <a:off x="381000" y="4429125"/>
              <a:ext cx="8382000" cy="571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a:solidFill>
                    <a:srgbClr val="3C4043"/>
                  </a:solidFill>
                  <a:latin typeface="Arial"/>
                  <a:ea typeface="Arial"/>
                  <a:cs typeface="Arial"/>
                  <a:sym typeface="Arial"/>
                </a:rPr>
                <a:t>Evaluation Metrics: </a:t>
              </a:r>
              <a:r>
                <a:rPr lang="en" sz="1200" b="0">
                  <a:solidFill>
                    <a:srgbClr val="5F6368"/>
                  </a:solidFill>
                  <a:latin typeface="Arial"/>
                  <a:ea typeface="Arial"/>
                  <a:cs typeface="Arial"/>
                  <a:sym typeface="Arial"/>
                </a:rPr>
                <a:t>1. PSNR 2. SSIM 3. Convergence Curves 4. Objective Value Reduction</a:t>
              </a:r>
              <a:endParaRPr sz="1200" b="1">
                <a:solidFill>
                  <a:srgbClr val="3C4043"/>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22"/>
        <p:cNvGrpSpPr/>
        <p:nvPr/>
      </p:nvGrpSpPr>
      <p:grpSpPr>
        <a:xfrm>
          <a:off x="0" y="0"/>
          <a:ext cx="0" cy="0"/>
          <a:chOff x="0" y="0"/>
          <a:chExt cx="0" cy="0"/>
        </a:xfrm>
      </p:grpSpPr>
      <p:sp>
        <p:nvSpPr>
          <p:cNvPr id="223" name="Google Shape;223;p24"/>
          <p:cNvSpPr txBox="1">
            <a:spLocks noGrp="1"/>
          </p:cNvSpPr>
          <p:nvPr>
            <p:ph type="title"/>
          </p:nvPr>
        </p:nvSpPr>
        <p:spPr>
          <a:xfrm>
            <a:off x="311700" y="190500"/>
            <a:ext cx="85206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400" b="1">
                <a:solidFill>
                  <a:srgbClr val="1E293B"/>
                </a:solidFill>
                <a:latin typeface="Arial"/>
                <a:ea typeface="Arial"/>
                <a:cs typeface="Arial"/>
                <a:sym typeface="Arial"/>
              </a:rPr>
              <a:t>Improvements &amp; Key Contributions</a:t>
            </a:r>
            <a:endParaRPr sz="2400" b="1">
              <a:solidFill>
                <a:srgbClr val="1E293B"/>
              </a:solidFill>
              <a:latin typeface="Arial"/>
              <a:ea typeface="Arial"/>
              <a:cs typeface="Arial"/>
              <a:sym typeface="Arial"/>
            </a:endParaRPr>
          </a:p>
        </p:txBody>
      </p:sp>
      <p:grpSp>
        <p:nvGrpSpPr>
          <p:cNvPr id="224" name="Google Shape;224;p24"/>
          <p:cNvGrpSpPr/>
          <p:nvPr/>
        </p:nvGrpSpPr>
        <p:grpSpPr>
          <a:xfrm>
            <a:off x="285750" y="952500"/>
            <a:ext cx="4191000" cy="1905000"/>
            <a:chOff x="285750" y="952500"/>
            <a:chExt cx="4191000" cy="1905000"/>
          </a:xfrm>
        </p:grpSpPr>
        <p:sp>
          <p:nvSpPr>
            <p:cNvPr id="225" name="Google Shape;225;p24"/>
            <p:cNvSpPr/>
            <p:nvPr/>
          </p:nvSpPr>
          <p:spPr>
            <a:xfrm>
              <a:off x="285750" y="952500"/>
              <a:ext cx="4191000" cy="1905000"/>
            </a:xfrm>
            <a:prstGeom prst="roundRect">
              <a:avLst>
                <a:gd name="adj" fmla="val 6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6" name="Google Shape;226;p24"/>
            <p:cNvSpPr txBox="1"/>
            <p:nvPr/>
          </p:nvSpPr>
          <p:spPr>
            <a:xfrm>
              <a:off x="428625" y="1095375"/>
              <a:ext cx="3905400" cy="161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Beyond Paper Replication</a:t>
              </a:r>
              <a:endParaRPr sz="1400" b="1">
                <a:solidFill>
                  <a:srgbClr val="1A73E8"/>
                </a:solidFill>
                <a:latin typeface="Arial"/>
                <a:ea typeface="Arial"/>
                <a:cs typeface="Arial"/>
                <a:sym typeface="Arial"/>
              </a:endParaRPr>
            </a:p>
            <a:p>
              <a:pPr marL="0" lvl="0" indent="0" algn="l" rtl="0">
                <a:spcBef>
                  <a:spcPts val="600"/>
                </a:spcBef>
                <a:spcAft>
                  <a:spcPts val="0"/>
                </a:spcAft>
                <a:buNone/>
              </a:pPr>
              <a:r>
                <a:rPr lang="en" sz="1100" b="1">
                  <a:solidFill>
                    <a:srgbClr val="475569"/>
                  </a:solidFill>
                  <a:latin typeface="Arial"/>
                  <a:ea typeface="Arial"/>
                  <a:cs typeface="Arial"/>
                  <a:sym typeface="Arial"/>
                </a:rPr>
                <a:t>Additional Solver Extensions</a:t>
              </a:r>
              <a:endParaRPr sz="1100" b="1">
                <a:solidFill>
                  <a:srgbClr val="475569"/>
                </a:solidFill>
                <a:latin typeface="Arial"/>
                <a:ea typeface="Arial"/>
                <a:cs typeface="Arial"/>
                <a:sym typeface="Arial"/>
              </a:endParaRPr>
            </a:p>
            <a:p>
              <a:pPr marL="457200" lvl="0" indent="-292100" algn="l" rtl="0">
                <a:spcBef>
                  <a:spcPts val="300"/>
                </a:spcBef>
                <a:spcAft>
                  <a:spcPts val="0"/>
                </a:spcAft>
                <a:buClr>
                  <a:srgbClr val="64748B"/>
                </a:buClr>
                <a:buSzPts val="1000"/>
                <a:buFont typeface="Arial"/>
                <a:buChar char="●"/>
              </a:pPr>
              <a:r>
                <a:rPr lang="en" sz="1000">
                  <a:solidFill>
                    <a:srgbClr val="64748B"/>
                  </a:solidFill>
                  <a:latin typeface="Arial"/>
                  <a:ea typeface="Arial"/>
                  <a:cs typeface="Arial"/>
                  <a:sym typeface="Arial"/>
                </a:rPr>
                <a:t>TV + Primal-Dual (Chambolle–Pock)</a:t>
              </a:r>
              <a:endParaRPr sz="1000">
                <a:solidFill>
                  <a:srgbClr val="64748B"/>
                </a:solidFill>
                <a:latin typeface="Arial"/>
                <a:ea typeface="Arial"/>
                <a:cs typeface="Arial"/>
                <a:sym typeface="Arial"/>
              </a:endParaRPr>
            </a:p>
            <a:p>
              <a:pPr marL="457200" lvl="0" indent="-292100" algn="l" rtl="0">
                <a:spcBef>
                  <a:spcPts val="300"/>
                </a:spcBef>
                <a:spcAft>
                  <a:spcPts val="0"/>
                </a:spcAft>
                <a:buClr>
                  <a:srgbClr val="64748B"/>
                </a:buClr>
                <a:buSzPts val="1000"/>
                <a:buFont typeface="Arial"/>
                <a:buChar char="●"/>
              </a:pPr>
              <a:r>
                <a:rPr lang="en" sz="1000">
                  <a:solidFill>
                    <a:srgbClr val="64748B"/>
                  </a:solidFill>
                  <a:latin typeface="Arial"/>
                  <a:ea typeface="Arial"/>
                  <a:cs typeface="Arial"/>
                  <a:sym typeface="Arial"/>
                </a:rPr>
                <a:t>TV + Split Bregman</a:t>
              </a:r>
              <a:endParaRPr sz="1000">
                <a:solidFill>
                  <a:srgbClr val="64748B"/>
                </a:solidFill>
                <a:latin typeface="Arial"/>
                <a:ea typeface="Arial"/>
                <a:cs typeface="Arial"/>
                <a:sym typeface="Arial"/>
              </a:endParaRPr>
            </a:p>
            <a:p>
              <a:pPr marL="0" lvl="0" indent="0" algn="l" rtl="0">
                <a:spcBef>
                  <a:spcPts val="600"/>
                </a:spcBef>
                <a:spcAft>
                  <a:spcPts val="0"/>
                </a:spcAft>
                <a:buNone/>
              </a:pPr>
              <a:r>
                <a:rPr lang="en" sz="1000" i="1">
                  <a:solidFill>
                    <a:srgbClr val="64748B"/>
                  </a:solidFill>
                  <a:latin typeface="Arial"/>
                  <a:ea typeface="Arial"/>
                  <a:cs typeface="Arial"/>
                  <a:sym typeface="Arial"/>
                </a:rPr>
                <a:t>Broadened comparison across multiple optimization paradigms.</a:t>
              </a:r>
              <a:endParaRPr sz="1000" i="1">
                <a:solidFill>
                  <a:srgbClr val="64748B"/>
                </a:solidFill>
                <a:latin typeface="Arial"/>
                <a:ea typeface="Arial"/>
                <a:cs typeface="Arial"/>
                <a:sym typeface="Arial"/>
              </a:endParaRPr>
            </a:p>
          </p:txBody>
        </p:sp>
      </p:grpSp>
      <p:grpSp>
        <p:nvGrpSpPr>
          <p:cNvPr id="227" name="Google Shape;227;p24"/>
          <p:cNvGrpSpPr/>
          <p:nvPr/>
        </p:nvGrpSpPr>
        <p:grpSpPr>
          <a:xfrm>
            <a:off x="4667250" y="952500"/>
            <a:ext cx="4191000" cy="1905000"/>
            <a:chOff x="4667250" y="952500"/>
            <a:chExt cx="4191000" cy="1905000"/>
          </a:xfrm>
        </p:grpSpPr>
        <p:sp>
          <p:nvSpPr>
            <p:cNvPr id="228" name="Google Shape;228;p24"/>
            <p:cNvSpPr/>
            <p:nvPr/>
          </p:nvSpPr>
          <p:spPr>
            <a:xfrm>
              <a:off x="4667250" y="952500"/>
              <a:ext cx="4191000" cy="1905000"/>
            </a:xfrm>
            <a:prstGeom prst="roundRect">
              <a:avLst>
                <a:gd name="adj" fmla="val 6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9" name="Google Shape;229;p24"/>
            <p:cNvSpPr txBox="1"/>
            <p:nvPr/>
          </p:nvSpPr>
          <p:spPr>
            <a:xfrm>
              <a:off x="4810125" y="1095375"/>
              <a:ext cx="3905400" cy="161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Optimization Insights</a:t>
              </a:r>
              <a:endParaRPr sz="1400" b="1">
                <a:solidFill>
                  <a:srgbClr val="1A73E8"/>
                </a:solidFill>
                <a:latin typeface="Arial"/>
                <a:ea typeface="Arial"/>
                <a:cs typeface="Arial"/>
                <a:sym typeface="Arial"/>
              </a:endParaRPr>
            </a:p>
            <a:p>
              <a:pPr marL="457200" lvl="0" indent="-292100" algn="l" rtl="0">
                <a:spcBef>
                  <a:spcPts val="900"/>
                </a:spcBef>
                <a:spcAft>
                  <a:spcPts val="0"/>
                </a:spcAft>
                <a:buClr>
                  <a:srgbClr val="64748B"/>
                </a:buClr>
                <a:buSzPts val="1000"/>
                <a:buFont typeface="Arial"/>
                <a:buChar char="●"/>
              </a:pPr>
              <a:r>
                <a:rPr lang="en" sz="1000" b="1">
                  <a:solidFill>
                    <a:srgbClr val="64748B"/>
                  </a:solidFill>
                  <a:latin typeface="Arial"/>
                  <a:ea typeface="Arial"/>
                  <a:cs typeface="Arial"/>
                  <a:sym typeface="Arial"/>
                </a:rPr>
                <a:t>Acceleration:</a:t>
              </a:r>
              <a:r>
                <a:rPr lang="en" sz="1000">
                  <a:solidFill>
                    <a:srgbClr val="64748B"/>
                  </a:solidFill>
                  <a:latin typeface="Arial"/>
                  <a:ea typeface="Arial"/>
                  <a:cs typeface="Arial"/>
                  <a:sym typeface="Arial"/>
                </a:rPr>
                <a:t> Improves convergence speed significantly.</a:t>
              </a:r>
              <a:endParaRPr sz="1000">
                <a:solidFill>
                  <a:srgbClr val="64748B"/>
                </a:solidFill>
                <a:latin typeface="Arial"/>
                <a:ea typeface="Arial"/>
                <a:cs typeface="Arial"/>
                <a:sym typeface="Arial"/>
              </a:endParaRPr>
            </a:p>
            <a:p>
              <a:pPr marL="457200" lvl="0" indent="-292100" algn="l" rtl="0">
                <a:spcBef>
                  <a:spcPts val="600"/>
                </a:spcBef>
                <a:spcAft>
                  <a:spcPts val="0"/>
                </a:spcAft>
                <a:buClr>
                  <a:srgbClr val="64748B"/>
                </a:buClr>
                <a:buSzPts val="1000"/>
                <a:buFont typeface="Arial"/>
                <a:buChar char="●"/>
              </a:pPr>
              <a:r>
                <a:rPr lang="en" sz="1000" b="1">
                  <a:solidFill>
                    <a:srgbClr val="64748B"/>
                  </a:solidFill>
                  <a:latin typeface="Arial"/>
                  <a:ea typeface="Arial"/>
                  <a:cs typeface="Arial"/>
                  <a:sym typeface="Arial"/>
                </a:rPr>
                <a:t>Stability:</a:t>
              </a:r>
              <a:r>
                <a:rPr lang="en" sz="1000">
                  <a:solidFill>
                    <a:srgbClr val="64748B"/>
                  </a:solidFill>
                  <a:latin typeface="Arial"/>
                  <a:ea typeface="Arial"/>
                  <a:cs typeface="Arial"/>
                  <a:sym typeface="Arial"/>
                </a:rPr>
                <a:t> Split methods show consistent performance.</a:t>
              </a:r>
              <a:endParaRPr sz="1000">
                <a:solidFill>
                  <a:srgbClr val="64748B"/>
                </a:solidFill>
                <a:latin typeface="Arial"/>
                <a:ea typeface="Arial"/>
                <a:cs typeface="Arial"/>
                <a:sym typeface="Arial"/>
              </a:endParaRPr>
            </a:p>
            <a:p>
              <a:pPr marL="457200" lvl="0" indent="-292100" algn="l" rtl="0">
                <a:spcBef>
                  <a:spcPts val="600"/>
                </a:spcBef>
                <a:spcAft>
                  <a:spcPts val="600"/>
                </a:spcAft>
                <a:buClr>
                  <a:srgbClr val="64748B"/>
                </a:buClr>
                <a:buSzPts val="1000"/>
                <a:buFont typeface="Arial"/>
                <a:buChar char="●"/>
              </a:pPr>
              <a:r>
                <a:rPr lang="en" sz="1000" b="1">
                  <a:solidFill>
                    <a:srgbClr val="64748B"/>
                  </a:solidFill>
                  <a:latin typeface="Arial"/>
                  <a:ea typeface="Arial"/>
                  <a:cs typeface="Arial"/>
                  <a:sym typeface="Arial"/>
                </a:rPr>
                <a:t>Impact:</a:t>
              </a:r>
              <a:r>
                <a:rPr lang="en" sz="1000">
                  <a:solidFill>
                    <a:srgbClr val="64748B"/>
                  </a:solidFill>
                  <a:latin typeface="Arial"/>
                  <a:ea typeface="Arial"/>
                  <a:cs typeface="Arial"/>
                  <a:sym typeface="Arial"/>
                </a:rPr>
                <a:t> Solver choice significantly affects restoration quality.</a:t>
              </a:r>
              <a:endParaRPr sz="1000">
                <a:solidFill>
                  <a:srgbClr val="64748B"/>
                </a:solidFill>
                <a:latin typeface="Arial"/>
                <a:ea typeface="Arial"/>
                <a:cs typeface="Arial"/>
                <a:sym typeface="Arial"/>
              </a:endParaRPr>
            </a:p>
          </p:txBody>
        </p:sp>
      </p:grpSp>
      <p:grpSp>
        <p:nvGrpSpPr>
          <p:cNvPr id="230" name="Google Shape;230;p24"/>
          <p:cNvGrpSpPr/>
          <p:nvPr/>
        </p:nvGrpSpPr>
        <p:grpSpPr>
          <a:xfrm>
            <a:off x="285750" y="3048000"/>
            <a:ext cx="4191000" cy="1714500"/>
            <a:chOff x="285750" y="3048000"/>
            <a:chExt cx="4191000" cy="1714500"/>
          </a:xfrm>
        </p:grpSpPr>
        <p:sp>
          <p:nvSpPr>
            <p:cNvPr id="231" name="Google Shape;231;p24"/>
            <p:cNvSpPr/>
            <p:nvPr/>
          </p:nvSpPr>
          <p:spPr>
            <a:xfrm>
              <a:off x="285750" y="3048000"/>
              <a:ext cx="4191000" cy="1714500"/>
            </a:xfrm>
            <a:prstGeom prst="roundRect">
              <a:avLst>
                <a:gd name="adj" fmla="val 6666"/>
              </a:avLst>
            </a:prstGeom>
            <a:solidFill>
              <a:srgbClr val="E8F0FE"/>
            </a:solidFill>
            <a:ln w="9525" cap="flat" cmpd="sng">
              <a:solidFill>
                <a:srgbClr val="1A73E8">
                  <a:alpha val="30000"/>
                </a:srgbClr>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2" name="Google Shape;232;p24"/>
            <p:cNvSpPr txBox="1"/>
            <p:nvPr/>
          </p:nvSpPr>
          <p:spPr>
            <a:xfrm>
              <a:off x="428625" y="3190875"/>
              <a:ext cx="3905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Reconstruction Quality</a:t>
              </a:r>
              <a:endParaRPr sz="1400" b="1">
                <a:solidFill>
                  <a:srgbClr val="1A73E8"/>
                </a:solidFill>
                <a:latin typeface="Arial"/>
                <a:ea typeface="Arial"/>
                <a:cs typeface="Arial"/>
                <a:sym typeface="Arial"/>
              </a:endParaRPr>
            </a:p>
            <a:p>
              <a:pPr marL="0" lvl="0" indent="0" algn="l" rtl="0">
                <a:spcBef>
                  <a:spcPts val="600"/>
                </a:spcBef>
                <a:spcAft>
                  <a:spcPts val="0"/>
                </a:spcAft>
                <a:buNone/>
              </a:pPr>
              <a:r>
                <a:rPr lang="en" sz="1000">
                  <a:solidFill>
                    <a:srgbClr val="475569"/>
                  </a:solidFill>
                  <a:latin typeface="Arial"/>
                  <a:ea typeface="Arial"/>
                  <a:cs typeface="Arial"/>
                  <a:sym typeface="Arial"/>
                </a:rPr>
                <a:t>TV-based methods consistently outperformed L2 methods.</a:t>
              </a:r>
              <a:endParaRPr sz="1000">
                <a:solidFill>
                  <a:srgbClr val="475569"/>
                </a:solidFill>
                <a:latin typeface="Arial"/>
                <a:ea typeface="Arial"/>
                <a:cs typeface="Arial"/>
                <a:sym typeface="Arial"/>
              </a:endParaRPr>
            </a:p>
            <a:p>
              <a:pPr marL="0" lvl="0" indent="0" algn="l" rtl="0">
                <a:spcBef>
                  <a:spcPts val="900"/>
                </a:spcBef>
                <a:spcAft>
                  <a:spcPts val="0"/>
                </a:spcAft>
                <a:buNone/>
              </a:pPr>
              <a:r>
                <a:rPr lang="en" sz="1100" b="1">
                  <a:solidFill>
                    <a:srgbClr val="1E293B"/>
                  </a:solidFill>
                  <a:highlight>
                    <a:srgbClr val="FFFFFF"/>
                  </a:highlight>
                  <a:latin typeface="Arial"/>
                  <a:ea typeface="Arial"/>
                  <a:cs typeface="Arial"/>
                  <a:sym typeface="Arial"/>
                </a:rPr>
                <a:t>Best Performer: TV-FISTA</a:t>
              </a:r>
              <a:endParaRPr sz="1100" b="1">
                <a:solidFill>
                  <a:srgbClr val="1E293B"/>
                </a:solidFill>
                <a:highlight>
                  <a:srgbClr val="FFFFFF"/>
                </a:highlight>
                <a:latin typeface="Arial"/>
                <a:ea typeface="Arial"/>
                <a:cs typeface="Arial"/>
                <a:sym typeface="Arial"/>
              </a:endParaRPr>
            </a:p>
            <a:p>
              <a:pPr marL="0" lvl="0" indent="0" algn="l" rtl="0">
                <a:spcBef>
                  <a:spcPts val="300"/>
                </a:spcBef>
                <a:spcAft>
                  <a:spcPts val="0"/>
                </a:spcAft>
                <a:buNone/>
              </a:pPr>
              <a:r>
                <a:rPr lang="en" sz="1200" b="1">
                  <a:solidFill>
                    <a:srgbClr val="1A73E8"/>
                  </a:solidFill>
                  <a:highlight>
                    <a:srgbClr val="FFFFFF"/>
                  </a:highlight>
                  <a:latin typeface="Arial"/>
                  <a:ea typeface="Arial"/>
                  <a:cs typeface="Arial"/>
                  <a:sym typeface="Arial"/>
                </a:rPr>
                <a:t>PSNR: 36.50 dB | SSIM: 0.9099</a:t>
              </a:r>
              <a:endParaRPr sz="1200" b="1">
                <a:solidFill>
                  <a:srgbClr val="1A73E8"/>
                </a:solidFill>
                <a:highlight>
                  <a:srgbClr val="FFFFFF"/>
                </a:highlight>
                <a:latin typeface="Arial"/>
                <a:ea typeface="Arial"/>
                <a:cs typeface="Arial"/>
                <a:sym typeface="Arial"/>
              </a:endParaRPr>
            </a:p>
          </p:txBody>
        </p:sp>
      </p:grpSp>
      <p:grpSp>
        <p:nvGrpSpPr>
          <p:cNvPr id="233" name="Google Shape;233;p24"/>
          <p:cNvGrpSpPr/>
          <p:nvPr/>
        </p:nvGrpSpPr>
        <p:grpSpPr>
          <a:xfrm>
            <a:off x="4667250" y="3048000"/>
            <a:ext cx="4191000" cy="1714500"/>
            <a:chOff x="4667250" y="3048000"/>
            <a:chExt cx="4191000" cy="1714500"/>
          </a:xfrm>
        </p:grpSpPr>
        <p:sp>
          <p:nvSpPr>
            <p:cNvPr id="234" name="Google Shape;234;p24"/>
            <p:cNvSpPr/>
            <p:nvPr/>
          </p:nvSpPr>
          <p:spPr>
            <a:xfrm>
              <a:off x="4667250" y="3048000"/>
              <a:ext cx="4191000" cy="1714500"/>
            </a:xfrm>
            <a:prstGeom prst="roundRect">
              <a:avLst>
                <a:gd name="adj" fmla="val 666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5" name="Google Shape;235;p24"/>
            <p:cNvSpPr txBox="1"/>
            <p:nvPr/>
          </p:nvSpPr>
          <p:spPr>
            <a:xfrm>
              <a:off x="4810125" y="3190875"/>
              <a:ext cx="39054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Key Comparative Findings</a:t>
              </a:r>
              <a:endParaRPr sz="1400" b="1">
                <a:solidFill>
                  <a:srgbClr val="1A73E8"/>
                </a:solidFill>
                <a:latin typeface="Arial"/>
                <a:ea typeface="Arial"/>
                <a:cs typeface="Arial"/>
                <a:sym typeface="Arial"/>
              </a:endParaRPr>
            </a:p>
            <a:p>
              <a:pPr marL="457200" lvl="0" indent="-292100" algn="l" rtl="0">
                <a:spcBef>
                  <a:spcPts val="900"/>
                </a:spcBef>
                <a:spcAft>
                  <a:spcPts val="0"/>
                </a:spcAft>
                <a:buClr>
                  <a:srgbClr val="1E293B"/>
                </a:buClr>
                <a:buSzPts val="1000"/>
                <a:buFont typeface="Arial"/>
                <a:buChar char="●"/>
              </a:pPr>
              <a:r>
                <a:rPr lang="en" sz="1000">
                  <a:solidFill>
                    <a:srgbClr val="64748B"/>
                  </a:solidFill>
                  <a:latin typeface="Arial"/>
                  <a:ea typeface="Arial"/>
                  <a:cs typeface="Arial"/>
                  <a:sym typeface="Arial"/>
                </a:rPr>
                <a:t>Regularization choice is the primary quality driver.</a:t>
              </a:r>
              <a:endParaRPr sz="1000">
                <a:solidFill>
                  <a:srgbClr val="64748B"/>
                </a:solidFill>
                <a:latin typeface="Arial"/>
                <a:ea typeface="Arial"/>
                <a:cs typeface="Arial"/>
                <a:sym typeface="Arial"/>
              </a:endParaRPr>
            </a:p>
            <a:p>
              <a:pPr marL="457200" lvl="0" indent="-292100" algn="l" rtl="0">
                <a:spcBef>
                  <a:spcPts val="450"/>
                </a:spcBef>
                <a:spcAft>
                  <a:spcPts val="0"/>
                </a:spcAft>
                <a:buClr>
                  <a:srgbClr val="1E293B"/>
                </a:buClr>
                <a:buSzPts val="1000"/>
                <a:buFont typeface="Arial"/>
                <a:buChar char="●"/>
              </a:pPr>
              <a:r>
                <a:rPr lang="en" sz="1000">
                  <a:solidFill>
                    <a:srgbClr val="64748B"/>
                  </a:solidFill>
                  <a:latin typeface="Arial"/>
                  <a:ea typeface="Arial"/>
                  <a:cs typeface="Arial"/>
                  <a:sym typeface="Arial"/>
                </a:rPr>
                <a:t>Solver choice dictates convergence and efficiency.</a:t>
              </a:r>
              <a:endParaRPr sz="1000">
                <a:solidFill>
                  <a:srgbClr val="64748B"/>
                </a:solidFill>
                <a:latin typeface="Arial"/>
                <a:ea typeface="Arial"/>
                <a:cs typeface="Arial"/>
                <a:sym typeface="Arial"/>
              </a:endParaRPr>
            </a:p>
            <a:p>
              <a:pPr marL="457200" lvl="0" indent="-292100" algn="l" rtl="0">
                <a:spcBef>
                  <a:spcPts val="450"/>
                </a:spcBef>
                <a:spcAft>
                  <a:spcPts val="450"/>
                </a:spcAft>
                <a:buClr>
                  <a:srgbClr val="1E293B"/>
                </a:buClr>
                <a:buSzPts val="1000"/>
                <a:buFont typeface="Arial"/>
                <a:buChar char="●"/>
              </a:pPr>
              <a:r>
                <a:rPr lang="en" sz="1000" b="1">
                  <a:solidFill>
                    <a:srgbClr val="1E293B"/>
                  </a:solidFill>
                  <a:latin typeface="Arial"/>
                  <a:ea typeface="Arial"/>
                  <a:cs typeface="Arial"/>
                  <a:sym typeface="Arial"/>
                </a:rPr>
                <a:t>Edge-preserving priors + accelerated solvers = Optimal Results.</a:t>
              </a:r>
              <a:endParaRPr sz="1000" b="1">
                <a:solidFill>
                  <a:srgbClr val="1E293B"/>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5"/>
          <p:cNvSpPr txBox="1">
            <a:spLocks noGrp="1"/>
          </p:cNvSpPr>
          <p:nvPr>
            <p:ph type="title"/>
          </p:nvPr>
        </p:nvSpPr>
        <p:spPr>
          <a:xfrm>
            <a:off x="311700" y="0"/>
            <a:ext cx="8520600" cy="57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2420" b="1"/>
              <a:t>Extension Work: Additional Solver Frameworks </a:t>
            </a:r>
            <a:endParaRPr sz="2420" b="1"/>
          </a:p>
        </p:txBody>
      </p:sp>
      <p:sp>
        <p:nvSpPr>
          <p:cNvPr id="241" name="Google Shape;241;p25"/>
          <p:cNvSpPr txBox="1">
            <a:spLocks noGrp="1"/>
          </p:cNvSpPr>
          <p:nvPr>
            <p:ph type="body" idx="1"/>
          </p:nvPr>
        </p:nvSpPr>
        <p:spPr>
          <a:xfrm>
            <a:off x="311700" y="533750"/>
            <a:ext cx="4048200" cy="4035000"/>
          </a:xfrm>
          <a:prstGeom prst="rect">
            <a:avLst/>
          </a:prstGeom>
        </p:spPr>
        <p:txBody>
          <a:bodyPr spcFirstLastPara="1" wrap="square" lIns="91425" tIns="91425" rIns="91425" bIns="91425" anchor="t" anchorCtr="0">
            <a:normAutofit/>
          </a:bodyPr>
          <a:lstStyle/>
          <a:p>
            <a:pPr marL="0" lvl="0" indent="0" algn="l" rtl="0">
              <a:spcBef>
                <a:spcPts val="1800"/>
              </a:spcBef>
              <a:spcAft>
                <a:spcPts val="0"/>
              </a:spcAft>
              <a:buNone/>
            </a:pPr>
            <a:r>
              <a:rPr lang="en" sz="1700" b="1">
                <a:solidFill>
                  <a:schemeClr val="dk1"/>
                </a:solidFill>
              </a:rPr>
              <a:t>TV Primal-Dual (Chambolle–Pock)</a:t>
            </a:r>
            <a:endParaRPr sz="1700" b="1">
              <a:solidFill>
                <a:schemeClr val="dk1"/>
              </a:solidFill>
            </a:endParaRPr>
          </a:p>
          <a:p>
            <a:pPr marL="0" lvl="0" indent="0" algn="l" rtl="0">
              <a:spcBef>
                <a:spcPts val="1400"/>
              </a:spcBef>
              <a:spcAft>
                <a:spcPts val="0"/>
              </a:spcAft>
              <a:buNone/>
            </a:pPr>
            <a:r>
              <a:rPr lang="en" sz="1300" b="1">
                <a:solidFill>
                  <a:schemeClr val="dk1"/>
                </a:solidFill>
              </a:rPr>
              <a:t>Optimization Problem</a:t>
            </a:r>
            <a:endParaRPr sz="1300" b="1">
              <a:solidFill>
                <a:schemeClr val="dk1"/>
              </a:solidFill>
            </a:endParaRPr>
          </a:p>
          <a:p>
            <a:pPr marL="0" lvl="0" indent="0" algn="l" rtl="0">
              <a:spcBef>
                <a:spcPts val="1800"/>
              </a:spcBef>
              <a:spcAft>
                <a:spcPts val="0"/>
              </a:spcAft>
              <a:buNone/>
            </a:pPr>
            <a:endParaRPr sz="1700" b="1">
              <a:solidFill>
                <a:schemeClr val="dk1"/>
              </a:solidFill>
            </a:endParaRPr>
          </a:p>
          <a:p>
            <a:pPr marL="0" lvl="0" indent="0" algn="l" rtl="0">
              <a:spcBef>
                <a:spcPts val="1400"/>
              </a:spcBef>
              <a:spcAft>
                <a:spcPts val="0"/>
              </a:spcAft>
              <a:buNone/>
            </a:pPr>
            <a:r>
              <a:rPr lang="en" sz="1300" b="1">
                <a:solidFill>
                  <a:schemeClr val="dk1"/>
                </a:solidFill>
              </a:rPr>
              <a:t>Dual Update</a:t>
            </a:r>
            <a:endParaRPr sz="1300" b="1">
              <a:solidFill>
                <a:schemeClr val="dk1"/>
              </a:solidFill>
            </a:endParaRPr>
          </a:p>
          <a:p>
            <a:pPr marL="0" lvl="0" indent="0" algn="l" rtl="0">
              <a:spcBef>
                <a:spcPts val="1800"/>
              </a:spcBef>
              <a:spcAft>
                <a:spcPts val="0"/>
              </a:spcAft>
              <a:buNone/>
            </a:pPr>
            <a:endParaRPr sz="1700" b="1">
              <a:solidFill>
                <a:schemeClr val="dk1"/>
              </a:solidFill>
            </a:endParaRPr>
          </a:p>
          <a:p>
            <a:pPr marL="0" lvl="0" indent="0" algn="l" rtl="0">
              <a:spcBef>
                <a:spcPts val="1400"/>
              </a:spcBef>
              <a:spcAft>
                <a:spcPts val="0"/>
              </a:spcAft>
              <a:buNone/>
            </a:pPr>
            <a:r>
              <a:rPr lang="en" sz="1300" b="1">
                <a:solidFill>
                  <a:schemeClr val="dk1"/>
                </a:solidFill>
              </a:rPr>
              <a:t>Primal Update</a:t>
            </a:r>
            <a:endParaRPr sz="1300" b="1">
              <a:solidFill>
                <a:schemeClr val="dk1"/>
              </a:solidFill>
            </a:endParaRPr>
          </a:p>
          <a:p>
            <a:pPr marL="0" lvl="0" indent="0" algn="l" rtl="0">
              <a:spcBef>
                <a:spcPts val="1800"/>
              </a:spcBef>
              <a:spcAft>
                <a:spcPts val="0"/>
              </a:spcAft>
              <a:buNone/>
            </a:pPr>
            <a:endParaRPr sz="1700" b="1">
              <a:solidFill>
                <a:schemeClr val="dk1"/>
              </a:solidFill>
            </a:endParaRPr>
          </a:p>
          <a:p>
            <a:pPr marL="0" lvl="0" indent="0" algn="l" rtl="0">
              <a:spcBef>
                <a:spcPts val="1400"/>
              </a:spcBef>
              <a:spcAft>
                <a:spcPts val="0"/>
              </a:spcAft>
              <a:buNone/>
            </a:pPr>
            <a:r>
              <a:rPr lang="en" sz="1300" b="1">
                <a:solidFill>
                  <a:schemeClr val="dk1"/>
                </a:solidFill>
              </a:rPr>
              <a:t>Extrapolation</a:t>
            </a:r>
            <a:endParaRPr sz="1300" b="1">
              <a:solidFill>
                <a:schemeClr val="dk1"/>
              </a:solidFill>
            </a:endParaRPr>
          </a:p>
          <a:p>
            <a:pPr marL="0" lvl="0" indent="0" algn="l" rtl="0">
              <a:spcBef>
                <a:spcPts val="400"/>
              </a:spcBef>
              <a:spcAft>
                <a:spcPts val="1200"/>
              </a:spcAft>
              <a:buNone/>
            </a:pPr>
            <a:endParaRPr/>
          </a:p>
        </p:txBody>
      </p:sp>
      <p:pic>
        <p:nvPicPr>
          <p:cNvPr id="242" name="Google Shape;242;p25" descr="{&quot;mathml&quot;:&quot;&lt;math style=\&quot;font-family:stix;font-size:16px;\&quot; xmlns=\&quot;http://www.w3.org/1998/Math/MathML\&quot;&gt;&lt;mstyle mathsize=\&quot;16px\&quot;&gt;&lt;munder&gt;&lt;mi&gt;min&lt;/mi&gt;&lt;mi&gt;u&lt;/mi&gt;&lt;/munder&gt;&lt;mfrac&gt;&lt;mn&gt;1&lt;/mn&gt;&lt;mn&gt;2&lt;/mn&gt;&lt;/mfrac&gt;&lt;mo&gt;&amp;#x2016;&lt;/mo&gt;&lt;mi&gt;K&lt;/mi&gt;&lt;mi&gt;u&lt;/mi&gt;&lt;mo&gt;-&lt;/mo&gt;&lt;mi&gt;f&lt;/mi&gt;&lt;msubsup&gt;&lt;mo&gt;&amp;#x2016;&lt;/mo&gt;&lt;mn&gt;2&lt;/mn&gt;&lt;mn&gt;2&lt;/mn&gt;&lt;/msubsup&gt;&lt;mo&gt;+&lt;/mo&gt;&lt;mi&gt;&amp;#x3BB;&lt;/mi&gt;&lt;mo&gt;&amp;#x2016;&lt;/mo&gt;&lt;mo&gt;&amp;#x2207;&lt;/mo&gt;&lt;mi&gt;u&lt;/mi&gt;&lt;msub&gt;&lt;mo&gt;&amp;#x2016;&lt;/mo&gt;&lt;mn&gt;1&lt;/mn&gt;&lt;/msub&gt;&lt;/mstyle&gt;&lt;/math&gt;&quot;,&quot;truncated&quot;:false}" title="min with u below 1 half ‖ K u minus f ‖ subscript 2 superscript 2 plus lambda ‖ nabla u ‖ subscript 1"/>
          <p:cNvPicPr preferRelativeResize="0"/>
          <p:nvPr/>
        </p:nvPicPr>
        <p:blipFill>
          <a:blip r:embed="rId3">
            <a:alphaModFix/>
          </a:blip>
          <a:stretch>
            <a:fillRect/>
          </a:stretch>
        </p:blipFill>
        <p:spPr>
          <a:xfrm>
            <a:off x="965349" y="1377625"/>
            <a:ext cx="2158126" cy="501975"/>
          </a:xfrm>
          <a:prstGeom prst="rect">
            <a:avLst/>
          </a:prstGeom>
          <a:noFill/>
          <a:ln>
            <a:noFill/>
          </a:ln>
        </p:spPr>
      </p:pic>
      <p:pic>
        <p:nvPicPr>
          <p:cNvPr id="243" name="Google Shape;243;p25" descr="{&quot;mathml&quot;:&quot;&lt;math style=\&quot;font-family:stix;font-size:16px;\&quot; xmlns=\&quot;http://www.w3.org/1998/Math/MathML\&quot;&gt;&lt;mstyle mathsize=\&quot;16px\&quot;&gt;&lt;msup&gt;&lt;mi&gt;p&lt;/mi&gt;&lt;mrow&gt;&lt;mi&gt;k&lt;/mi&gt;&lt;mo&gt;+&lt;/mo&gt;&lt;mn&gt;1&lt;/mn&gt;&lt;/mrow&gt;&lt;/msup&gt;&lt;mo&gt;=&lt;/mo&gt;&lt;mo&gt;proj&lt;/mo&gt;&lt;mfenced&gt;&lt;mrow&gt;&lt;msup&gt;&lt;mi&gt;p&lt;/mi&gt;&lt;mi&gt;k&lt;/mi&gt;&lt;/msup&gt;&lt;mo&gt;+&lt;/mo&gt;&lt;mi&gt;&amp;#x3C3;&lt;/mi&gt;&lt;mo&gt;&amp;#x2207;&lt;/mo&gt;&lt;msup&gt;&lt;mover&gt;&lt;mi&gt;u&lt;/mi&gt;&lt;mo&gt;&amp;#xAF;&lt;/mo&gt;&lt;/mover&gt;&lt;mi&gt;k&lt;/mi&gt;&lt;/msup&gt;&lt;/mrow&gt;&lt;/mfenced&gt;&lt;/mstyle&gt;&lt;/math&gt;&quot;,&quot;truncated&quot;:false}" title="p to the power of k plus 1 end exponent equals proj open parentheses p to the power of k plus sigma nabla u with bar on top to the power of k close parentheses"/>
          <p:cNvPicPr preferRelativeResize="0"/>
          <p:nvPr/>
        </p:nvPicPr>
        <p:blipFill>
          <a:blip r:embed="rId4">
            <a:alphaModFix/>
          </a:blip>
          <a:stretch>
            <a:fillRect/>
          </a:stretch>
        </p:blipFill>
        <p:spPr>
          <a:xfrm>
            <a:off x="865241" y="2302179"/>
            <a:ext cx="2196592" cy="215392"/>
          </a:xfrm>
          <a:prstGeom prst="rect">
            <a:avLst/>
          </a:prstGeom>
          <a:noFill/>
          <a:ln>
            <a:noFill/>
          </a:ln>
        </p:spPr>
      </p:pic>
      <p:pic>
        <p:nvPicPr>
          <p:cNvPr id="244" name="Google Shape;244;p25" descr="{&quot;mathml&quot;:&quot;&lt;math style=\&quot;font-family:stix;font-size:16px;\&quot; xmlns=\&quot;http://www.w3.org/1998/Math/MathML\&quot;&gt;&lt;mstyle mathsize=\&quot;16px\&quot;&gt;&lt;msup&gt;&lt;mi&gt;u&lt;/mi&gt;&lt;mrow&gt;&lt;mi&gt;k&lt;/mi&gt;&lt;mo&gt;+&lt;/mo&gt;&lt;mn&gt;1&lt;/mn&gt;&lt;/mrow&gt;&lt;/msup&gt;&lt;mo&gt;=&lt;/mo&gt;&lt;mo&gt;(&lt;/mo&gt;&lt;mi&gt;I&lt;/mi&gt;&lt;mo&gt;+&lt;/mo&gt;&lt;mi&gt;&amp;#x3C4;&lt;/mi&gt;&lt;msup&gt;&lt;mi&gt;K&lt;/mi&gt;&lt;mi&gt;T&lt;/mi&gt;&lt;/msup&gt;&lt;mi&gt;K&lt;/mi&gt;&lt;msup&gt;&lt;mo&gt;)&lt;/mo&gt;&lt;mrow&gt;&lt;mo&gt;-&lt;/mo&gt;&lt;mn&gt;1&lt;/mn&gt;&lt;/mrow&gt;&lt;/msup&gt;&lt;mfenced&gt;&lt;mrow&gt;&lt;msup&gt;&lt;mi&gt;u&lt;/mi&gt;&lt;mi&gt;k&lt;/mi&gt;&lt;/msup&gt;&lt;mo&gt;-&lt;/mo&gt;&lt;mi&gt;&amp;#x3C4;&lt;/mi&gt;&lt;msup&gt;&lt;mo&gt;&amp;#x2207;&lt;/mo&gt;&lt;mi&gt;T&lt;/mi&gt;&lt;/msup&gt;&lt;msup&gt;&lt;mi&gt;p&lt;/mi&gt;&lt;mrow&gt;&lt;mi&gt;k&lt;/mi&gt;&lt;mo&gt;+&lt;/mo&gt;&lt;mn&gt;1&lt;/mn&gt;&lt;/mrow&gt;&lt;/msup&gt;&lt;mo&gt;+&lt;/mo&gt;&lt;mi&gt;&amp;#x3C4;&lt;/mi&gt;&lt;msup&gt;&lt;mi&gt;K&lt;/mi&gt;&lt;mi&gt;T&lt;/mi&gt;&lt;/msup&gt;&lt;mi&gt;f&lt;/mi&gt;&lt;/mrow&gt;&lt;/mfenced&gt;&lt;/mstyle&gt;&lt;/math&gt;&quot;,&quot;truncated&quot;:false}" title="u to the power of k plus 1 end exponent equals left parenthesis I plus tau K to the power of T K right parenthesis to the power of negative 1 end exponent open parentheses u to the power of k minus tau nabla to the power of T p to the power of k plus 1 end exponent plus tau K to the power of T f close parentheses"/>
          <p:cNvPicPr preferRelativeResize="0"/>
          <p:nvPr/>
        </p:nvPicPr>
        <p:blipFill>
          <a:blip r:embed="rId5">
            <a:alphaModFix/>
          </a:blip>
          <a:stretch>
            <a:fillRect/>
          </a:stretch>
        </p:blipFill>
        <p:spPr>
          <a:xfrm>
            <a:off x="336584" y="3254195"/>
            <a:ext cx="3998433" cy="252561"/>
          </a:xfrm>
          <a:prstGeom prst="rect">
            <a:avLst/>
          </a:prstGeom>
          <a:noFill/>
          <a:ln>
            <a:noFill/>
          </a:ln>
        </p:spPr>
      </p:pic>
      <p:pic>
        <p:nvPicPr>
          <p:cNvPr id="245" name="Google Shape;245;p25" descr="{&quot;mathml&quot;:&quot;&lt;math style=\&quot;font-family:stix;font-size:16px;\&quot; xmlns=\&quot;http://www.w3.org/1998/Math/MathML\&quot;&gt;&lt;mstyle mathsize=\&quot;16px\&quot;&gt;&lt;msup&gt;&lt;mi&gt;u&lt;/mi&gt;&lt;mrow&gt;&lt;mi&gt;k&lt;/mi&gt;&lt;mo&gt;+&lt;/mo&gt;&lt;mn&gt;1&lt;/mn&gt;&lt;/mrow&gt;&lt;/msup&gt;&lt;mo&gt;=&lt;/mo&gt;&lt;mo&gt;(&lt;/mo&gt;&lt;mi&gt;I&lt;/mi&gt;&lt;mo&gt;+&lt;/mo&gt;&lt;mi&gt;&amp;#x3C4;&lt;/mi&gt;&lt;msup&gt;&lt;mi&gt;K&lt;/mi&gt;&lt;mi&gt;T&lt;/mi&gt;&lt;/msup&gt;&lt;mi&gt;K&lt;/mi&gt;&lt;msup&gt;&lt;mo&gt;)&lt;/mo&gt;&lt;mrow&gt;&lt;mo&gt;-&lt;/mo&gt;&lt;mn&gt;1&lt;/mn&gt;&lt;/mrow&gt;&lt;/msup&gt;&lt;mfenced&gt;&lt;mrow&gt;&lt;msup&gt;&lt;mi&gt;u&lt;/mi&gt;&lt;mi&gt;k&lt;/mi&gt;&lt;/msup&gt;&lt;mo&gt;-&lt;/mo&gt;&lt;mi&gt;&amp;#x3C4;&lt;/mi&gt;&lt;msup&gt;&lt;mo&gt;&amp;#x2207;&lt;/mo&gt;&lt;mi&gt;T&lt;/mi&gt;&lt;/msup&gt;&lt;msup&gt;&lt;mi&gt;p&lt;/mi&gt;&lt;mrow&gt;&lt;mi&gt;k&lt;/mi&gt;&lt;mo&gt;+&lt;/mo&gt;&lt;mn&gt;1&lt;/mn&gt;&lt;/mrow&gt;&lt;/msup&gt;&lt;mo&gt;+&lt;/mo&gt;&lt;mi&gt;&amp;#x3C4;&lt;/mi&gt;&lt;msup&gt;&lt;mi&gt;K&lt;/mi&gt;&lt;mi&gt;T&lt;/mi&gt;&lt;/msup&gt;&lt;mi&gt;f&lt;/mi&gt;&lt;/mrow&gt;&lt;/mfenced&gt;&lt;/mstyle&gt;&lt;/math&gt;&quot;,&quot;truncated&quot;:false}" title="u to the power of k plus 1 end exponent equals left parenthesis I plus tau K to the power of T K right parenthesis to the power of negative 1 end exponent open parentheses u to the power of k minus tau nabla to the power of T p to the power of k plus 1 end exponent plus tau K to the power of T f close parentheses"/>
          <p:cNvPicPr preferRelativeResize="0"/>
          <p:nvPr/>
        </p:nvPicPr>
        <p:blipFill>
          <a:blip r:embed="rId5">
            <a:alphaModFix/>
          </a:blip>
          <a:stretch>
            <a:fillRect/>
          </a:stretch>
        </p:blipFill>
        <p:spPr>
          <a:xfrm>
            <a:off x="336584" y="4170395"/>
            <a:ext cx="3998433" cy="252561"/>
          </a:xfrm>
          <a:prstGeom prst="rect">
            <a:avLst/>
          </a:prstGeom>
          <a:noFill/>
          <a:ln>
            <a:noFill/>
          </a:ln>
        </p:spPr>
      </p:pic>
      <p:sp>
        <p:nvSpPr>
          <p:cNvPr id="246" name="Google Shape;246;p25"/>
          <p:cNvSpPr txBox="1"/>
          <p:nvPr/>
        </p:nvSpPr>
        <p:spPr>
          <a:xfrm>
            <a:off x="4656475" y="587686"/>
            <a:ext cx="3774000" cy="4331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800"/>
              </a:spcBef>
              <a:spcAft>
                <a:spcPts val="0"/>
              </a:spcAft>
              <a:buNone/>
            </a:pPr>
            <a:r>
              <a:rPr lang="en" sz="1700" b="1">
                <a:solidFill>
                  <a:schemeClr val="dk1"/>
                </a:solidFill>
              </a:rPr>
              <a:t>TV Split Bregman</a:t>
            </a:r>
            <a:endParaRPr sz="1700" b="1">
              <a:solidFill>
                <a:schemeClr val="dk1"/>
              </a:solidFill>
            </a:endParaRPr>
          </a:p>
          <a:p>
            <a:pPr marL="0" lvl="0" indent="0" algn="l" rtl="0">
              <a:spcBef>
                <a:spcPts val="400"/>
              </a:spcBef>
              <a:spcAft>
                <a:spcPts val="0"/>
              </a:spcAft>
              <a:buNone/>
            </a:pPr>
            <a:r>
              <a:rPr lang="en" sz="1300" b="1">
                <a:solidFill>
                  <a:schemeClr val="dk1"/>
                </a:solidFill>
              </a:rPr>
              <a:t>Constrained Form:</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endParaRPr sz="1800">
              <a:solidFill>
                <a:schemeClr val="dk2"/>
              </a:solidFill>
            </a:endParaRPr>
          </a:p>
          <a:p>
            <a:pPr marL="0" lvl="0" indent="0" algn="l" rtl="0">
              <a:lnSpc>
                <a:spcPct val="115000"/>
              </a:lnSpc>
              <a:spcBef>
                <a:spcPts val="1400"/>
              </a:spcBef>
              <a:spcAft>
                <a:spcPts val="0"/>
              </a:spcAft>
              <a:buNone/>
            </a:pPr>
            <a:r>
              <a:rPr lang="en" sz="1300" b="1">
                <a:solidFill>
                  <a:schemeClr val="dk1"/>
                </a:solidFill>
              </a:rPr>
              <a:t>Bregman Form</a:t>
            </a:r>
            <a:endParaRPr sz="1300" b="1">
              <a:solidFill>
                <a:schemeClr val="dk1"/>
              </a:solidFill>
            </a:endParaRPr>
          </a:p>
          <a:p>
            <a:pPr marL="0" lvl="0" indent="0" algn="l" rtl="0">
              <a:spcBef>
                <a:spcPts val="40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lnSpc>
                <a:spcPct val="115000"/>
              </a:lnSpc>
              <a:spcBef>
                <a:spcPts val="1400"/>
              </a:spcBef>
              <a:spcAft>
                <a:spcPts val="0"/>
              </a:spcAft>
              <a:buNone/>
            </a:pPr>
            <a:r>
              <a:rPr lang="en" sz="1300" b="1">
                <a:solidFill>
                  <a:schemeClr val="dk1"/>
                </a:solidFill>
              </a:rPr>
              <a:t>Bregman Update</a:t>
            </a:r>
            <a:endParaRPr sz="1300" b="1">
              <a:solidFill>
                <a:schemeClr val="dk1"/>
              </a:solidFill>
            </a:endParaRPr>
          </a:p>
          <a:p>
            <a:pPr marL="0" lvl="0" indent="0" algn="l" rtl="0">
              <a:spcBef>
                <a:spcPts val="40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spcBef>
                <a:spcPts val="1200"/>
              </a:spcBef>
              <a:spcAft>
                <a:spcPts val="0"/>
              </a:spcAft>
              <a:buNone/>
            </a:pPr>
            <a:endParaRPr sz="1100">
              <a:solidFill>
                <a:schemeClr val="dk1"/>
              </a:solidFill>
            </a:endParaRPr>
          </a:p>
        </p:txBody>
      </p:sp>
      <p:pic>
        <p:nvPicPr>
          <p:cNvPr id="247" name="Google Shape;247;p25" descr="{&quot;mathml&quot;:&quot;&lt;math style=\&quot;font-family:stix;font-size:16px;\&quot; xmlns=\&quot;http://www.w3.org/1998/Math/MathML\&quot;&gt;&lt;mstyle mathsize=\&quot;16px\&quot;&gt;&lt;munder&gt;&lt;mi&gt;min&lt;/mi&gt;&lt;mrow&gt;&lt;mi&gt;u&lt;/mi&gt;&lt;mo&gt;,&lt;/mo&gt;&lt;mi&gt;d&lt;/mi&gt;&lt;/mrow&gt;&lt;/munder&gt;&lt;mfrac&gt;&lt;mn&gt;1&lt;/mn&gt;&lt;mn&gt;2&lt;/mn&gt;&lt;/mfrac&gt;&lt;mo&gt;&amp;#x2016;&lt;/mo&gt;&lt;mi&gt;K&lt;/mi&gt;&lt;mi&gt;u&lt;/mi&gt;&lt;mo&gt;-&lt;/mo&gt;&lt;mi&gt;f&lt;/mi&gt;&lt;msubsup&gt;&lt;mo&gt;&amp;#x2016;&lt;/mo&gt;&lt;mn&gt;2&lt;/mn&gt;&lt;mn&gt;2&lt;/mn&gt;&lt;/msubsup&gt;&lt;mo&gt;+&lt;/mo&gt;&lt;mi&gt;&amp;#x3BB;&lt;/mi&gt;&lt;mo&gt;&amp;#x2016;&lt;/mo&gt;&lt;mi&gt;d&lt;/mi&gt;&lt;msub&gt;&lt;mo&gt;&amp;#x2016;&lt;/mo&gt;&lt;mn&gt;1&lt;/mn&gt;&lt;/msub&gt;&lt;mo&gt;&amp;#xA0;&amp;#xA0;&lt;/mo&gt;&lt;mi&gt;s&lt;/mi&gt;&lt;mo&gt;.&lt;/mo&gt;&lt;mi&gt;t&lt;/mi&gt;&lt;mo&gt;.&lt;/mo&gt;&lt;mo&gt;&amp;#xA0;&amp;#xA0;&lt;/mo&gt;&lt;mi&gt;d&lt;/mi&gt;&lt;mo&gt;=&lt;/mo&gt;&lt;mo&gt;&amp;#x2207;&lt;/mo&gt;&lt;mi&gt;u&lt;/mi&gt;&lt;/mstyle&gt;&lt;/math&gt;&quot;,&quot;truncated&quot;:false}" title="min with u comma d below 1 half ‖ K u minus f ‖ subscript 2 superscript 2 plus lambda ‖ d ‖ subscript 1    s. t.    d equals nabla u"/>
          <p:cNvPicPr preferRelativeResize="0"/>
          <p:nvPr/>
        </p:nvPicPr>
        <p:blipFill>
          <a:blip r:embed="rId6">
            <a:alphaModFix/>
          </a:blip>
          <a:stretch>
            <a:fillRect/>
          </a:stretch>
        </p:blipFill>
        <p:spPr>
          <a:xfrm>
            <a:off x="4894253" y="1313833"/>
            <a:ext cx="3298444" cy="565760"/>
          </a:xfrm>
          <a:prstGeom prst="rect">
            <a:avLst/>
          </a:prstGeom>
          <a:noFill/>
          <a:ln>
            <a:noFill/>
          </a:ln>
        </p:spPr>
      </p:pic>
      <p:pic>
        <p:nvPicPr>
          <p:cNvPr id="248" name="Google Shape;248;p25" descr="{&quot;mathml&quot;:&quot;&lt;math style=\&quot;font-family:stix;font-size:16px;\&quot; xmlns=\&quot;http://www.w3.org/1998/Math/MathML\&quot;&gt;&lt;mstyle mathsize=\&quot;16px\&quot;&gt;&lt;munder&gt;&lt;mi&gt;min&lt;/mi&gt;&lt;mrow&gt;&lt;mi&gt;u&lt;/mi&gt;&lt;mo&gt;,&lt;/mo&gt;&lt;mi&gt;d&lt;/mi&gt;&lt;/mrow&gt;&lt;/munder&gt;&lt;mfrac&gt;&lt;mn&gt;1&lt;/mn&gt;&lt;mn&gt;2&lt;/mn&gt;&lt;/mfrac&gt;&lt;mo&gt;&amp;#x2016;&lt;/mo&gt;&lt;mi&gt;K&lt;/mi&gt;&lt;mi&gt;u&lt;/mi&gt;&lt;mo&gt;-&lt;/mo&gt;&lt;mi&gt;f&lt;/mi&gt;&lt;msup&gt;&lt;mo&gt;&amp;#x2016;&lt;/mo&gt;&lt;mn&gt;2&lt;/mn&gt;&lt;/msup&gt;&lt;mo&gt;+&lt;/mo&gt;&lt;mi&gt;&amp;#x3BB;&lt;/mi&gt;&lt;mo&gt;&amp;#x2016;&lt;/mo&gt;&lt;mi&gt;d&lt;/mi&gt;&lt;msub&gt;&lt;mo&gt;&amp;#x2016;&lt;/mo&gt;&lt;mn&gt;1&lt;/mn&gt;&lt;/msub&gt;&lt;mo&gt;+&lt;/mo&gt;&lt;mfrac&gt;&lt;mi&gt;&amp;#x3BC;&lt;/mi&gt;&lt;mn&gt;2&lt;/mn&gt;&lt;/mfrac&gt;&lt;mo&gt;&amp;#x2016;&lt;/mo&gt;&lt;mi&gt;d&lt;/mi&gt;&lt;mo&gt;-&lt;/mo&gt;&lt;mo&gt;&amp;#x2207;&lt;/mo&gt;&lt;mi&gt;u&lt;/mi&gt;&lt;mo&gt;-&lt;/mo&gt;&lt;mi&gt;b&lt;/mi&gt;&lt;msup&gt;&lt;mo&gt;&amp;#x2016;&lt;/mo&gt;&lt;mn&gt;2&lt;/mn&gt;&lt;/msup&gt;&lt;/mstyle&gt;&lt;/math&gt;&quot;,&quot;truncated&quot;:false}" title="min with u comma d below 1 half ‖ K u minus f ‖ squared plus lambda ‖ d ‖ subscript 1 plus mu over 2 ‖ d minus nabla u minus b ‖ squared"/>
          <p:cNvPicPr preferRelativeResize="0"/>
          <p:nvPr/>
        </p:nvPicPr>
        <p:blipFill>
          <a:blip r:embed="rId7">
            <a:alphaModFix/>
          </a:blip>
          <a:stretch>
            <a:fillRect/>
          </a:stretch>
        </p:blipFill>
        <p:spPr>
          <a:xfrm>
            <a:off x="4772251" y="2287924"/>
            <a:ext cx="3332233" cy="501975"/>
          </a:xfrm>
          <a:prstGeom prst="rect">
            <a:avLst/>
          </a:prstGeom>
          <a:noFill/>
          <a:ln>
            <a:noFill/>
          </a:ln>
        </p:spPr>
      </p:pic>
      <p:pic>
        <p:nvPicPr>
          <p:cNvPr id="249" name="Google Shape;249;p25" descr="{&quot;mathml&quot;:&quot;&lt;math style=\&quot;font-family:stix;font-size:16px;\&quot; xmlns=\&quot;http://www.w3.org/1998/Math/MathML\&quot;&gt;&lt;mstyle mathsize=\&quot;16px\&quot;&gt;&lt;msup&gt;&lt;mi&gt;b&lt;/mi&gt;&lt;mrow&gt;&lt;mi&gt;k&lt;/mi&gt;&lt;mo&gt;+&lt;/mo&gt;&lt;mn&gt;1&lt;/mn&gt;&lt;/mrow&gt;&lt;/msup&gt;&lt;mo&gt;=&lt;/mo&gt;&lt;msup&gt;&lt;mi&gt;b&lt;/mi&gt;&lt;mi&gt;k&lt;/mi&gt;&lt;/msup&gt;&lt;mo&gt;+&lt;/mo&gt;&lt;mo&gt;(&lt;/mo&gt;&lt;mo&gt;&amp;#x2207;&lt;/mo&gt;&lt;msup&gt;&lt;mi&gt;u&lt;/mi&gt;&lt;mrow&gt;&lt;mi&gt;k&lt;/mi&gt;&lt;mo&gt;+&lt;/mo&gt;&lt;mn&gt;1&lt;/mn&gt;&lt;/mrow&gt;&lt;/msup&gt;&lt;mo&gt;-&lt;/mo&gt;&lt;msup&gt;&lt;mi&gt;d&lt;/mi&gt;&lt;mrow&gt;&lt;mi&gt;k&lt;/mi&gt;&lt;mo&gt;+&lt;/mo&gt;&lt;mn&gt;1&lt;/mn&gt;&lt;/mrow&gt;&lt;/msup&gt;&lt;mo&gt;)&lt;/mo&gt;&lt;/mstyle&gt;&lt;/math&gt;&quot;,&quot;truncated&quot;:false}" title="b to the power of k plus 1 end exponent equals b to the power of k plus left parenthesis nabla u to the power of k plus 1 end exponent minus d to the power of k plus 1 end exponent right parenthesis"/>
          <p:cNvPicPr preferRelativeResize="0"/>
          <p:nvPr/>
        </p:nvPicPr>
        <p:blipFill>
          <a:blip r:embed="rId8">
            <a:alphaModFix/>
          </a:blip>
          <a:stretch>
            <a:fillRect/>
          </a:stretch>
        </p:blipFill>
        <p:spPr>
          <a:xfrm>
            <a:off x="5030532" y="3447218"/>
            <a:ext cx="2586736" cy="2072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6"/>
          <p:cNvSpPr txBox="1">
            <a:spLocks noGrp="1"/>
          </p:cNvSpPr>
          <p:nvPr>
            <p:ph type="title"/>
          </p:nvPr>
        </p:nvSpPr>
        <p:spPr>
          <a:xfrm>
            <a:off x="311700" y="0"/>
            <a:ext cx="8520600" cy="56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990"/>
              <a:buFont typeface="Arial"/>
              <a:buNone/>
            </a:pPr>
            <a:r>
              <a:rPr lang="en" sz="2400" b="1"/>
              <a:t>Why TV-FISTA Performs Best</a:t>
            </a:r>
            <a:endParaRPr sz="2400" b="1"/>
          </a:p>
          <a:p>
            <a:pPr marL="0" lvl="0" indent="0" algn="l" rtl="0">
              <a:spcBef>
                <a:spcPts val="0"/>
              </a:spcBef>
              <a:spcAft>
                <a:spcPts val="0"/>
              </a:spcAft>
              <a:buSzPts val="990"/>
              <a:buNone/>
            </a:pPr>
            <a:endParaRPr sz="2520"/>
          </a:p>
        </p:txBody>
      </p:sp>
      <p:sp>
        <p:nvSpPr>
          <p:cNvPr id="255" name="Google Shape;255;p26"/>
          <p:cNvSpPr txBox="1">
            <a:spLocks noGrp="1"/>
          </p:cNvSpPr>
          <p:nvPr>
            <p:ph type="body" idx="1"/>
          </p:nvPr>
        </p:nvSpPr>
        <p:spPr>
          <a:xfrm>
            <a:off x="311700" y="560700"/>
            <a:ext cx="4303500" cy="4717500"/>
          </a:xfrm>
          <a:prstGeom prst="rect">
            <a:avLst/>
          </a:prstGeom>
        </p:spPr>
        <p:txBody>
          <a:bodyPr spcFirstLastPara="1" wrap="square" lIns="91425" tIns="91425" rIns="91425" bIns="91425" anchor="t" anchorCtr="0">
            <a:normAutofit/>
          </a:bodyPr>
          <a:lstStyle/>
          <a:p>
            <a:pPr marL="0" lvl="0" indent="0" algn="l" rtl="0">
              <a:spcBef>
                <a:spcPts val="1800"/>
              </a:spcBef>
              <a:spcAft>
                <a:spcPts val="0"/>
              </a:spcAft>
              <a:buNone/>
            </a:pPr>
            <a:r>
              <a:rPr lang="en" sz="1700" b="1">
                <a:solidFill>
                  <a:schemeClr val="dk1"/>
                </a:solidFill>
              </a:rPr>
              <a:t>Left Side: Why TV Regularization Helps</a:t>
            </a:r>
            <a:endParaRPr sz="1700" b="1">
              <a:solidFill>
                <a:schemeClr val="dk1"/>
              </a:solidFill>
            </a:endParaRPr>
          </a:p>
          <a:p>
            <a:pPr marL="0" lvl="0" indent="0" algn="l" rtl="0">
              <a:spcBef>
                <a:spcPts val="1400"/>
              </a:spcBef>
              <a:spcAft>
                <a:spcPts val="0"/>
              </a:spcAft>
              <a:buNone/>
            </a:pPr>
            <a:r>
              <a:rPr lang="en" sz="1300" b="1">
                <a:solidFill>
                  <a:schemeClr val="dk1"/>
                </a:solidFill>
              </a:rPr>
              <a:t>Edge-Preserving Sparse Prior</a:t>
            </a:r>
            <a:endParaRPr sz="1300" b="1">
              <a:solidFill>
                <a:schemeClr val="dk1"/>
              </a:solidFill>
            </a:endParaRPr>
          </a:p>
          <a:p>
            <a:pPr marL="0" lvl="0" indent="0" algn="l" rtl="0">
              <a:spcBef>
                <a:spcPts val="1200"/>
              </a:spcBef>
              <a:spcAft>
                <a:spcPts val="0"/>
              </a:spcAft>
              <a:buNone/>
            </a:pPr>
            <a:r>
              <a:rPr lang="en" sz="1100">
                <a:solidFill>
                  <a:schemeClr val="dk1"/>
                </a:solidFill>
              </a:rPr>
              <a:t>TV regularization solves:</a:t>
            </a:r>
            <a:endParaRPr sz="1100">
              <a:solidFill>
                <a:schemeClr val="dk1"/>
              </a:solidFill>
            </a:endParaRPr>
          </a:p>
          <a:p>
            <a:pPr marL="0" lvl="0" indent="0" algn="l" rtl="0">
              <a:spcBef>
                <a:spcPts val="1200"/>
              </a:spcBef>
              <a:spcAft>
                <a:spcPts val="0"/>
              </a:spcAft>
              <a:buNone/>
            </a:pPr>
            <a:endParaRPr sz="1100">
              <a:solidFill>
                <a:schemeClr val="dk1"/>
              </a:solidFill>
            </a:endParaRPr>
          </a:p>
          <a:p>
            <a:pPr marL="0" lvl="0" indent="0" algn="l" rtl="0">
              <a:spcBef>
                <a:spcPts val="1400"/>
              </a:spcBef>
              <a:spcAft>
                <a:spcPts val="0"/>
              </a:spcAft>
              <a:buNone/>
            </a:pPr>
            <a:r>
              <a:rPr lang="en" sz="1300" b="1">
                <a:solidFill>
                  <a:schemeClr val="dk1"/>
                </a:solidFill>
              </a:rPr>
              <a:t>Why effective?</a:t>
            </a:r>
            <a:endParaRPr sz="1300" b="1">
              <a:solidFill>
                <a:schemeClr val="dk1"/>
              </a:solidFill>
            </a:endParaRPr>
          </a:p>
          <a:p>
            <a:pPr marL="457200" lvl="0" indent="-298450" algn="l" rtl="0">
              <a:spcBef>
                <a:spcPts val="1200"/>
              </a:spcBef>
              <a:spcAft>
                <a:spcPts val="0"/>
              </a:spcAft>
              <a:buClr>
                <a:schemeClr val="dk1"/>
              </a:buClr>
              <a:buSzPts val="1100"/>
              <a:buChar char="●"/>
            </a:pPr>
            <a:r>
              <a:rPr lang="en" sz="1100">
                <a:solidFill>
                  <a:schemeClr val="dk1"/>
                </a:solidFill>
              </a:rPr>
              <a:t>Promotes sparse gradients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Preserves edges and discontinuities</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Suppresses noise without oversmoothing</a:t>
            </a:r>
            <a:endParaRPr sz="1100">
              <a:solidFill>
                <a:schemeClr val="dk1"/>
              </a:solidFill>
            </a:endParaRPr>
          </a:p>
          <a:p>
            <a:pPr marL="0" lvl="0" indent="0" algn="l" rtl="0">
              <a:spcBef>
                <a:spcPts val="1200"/>
              </a:spcBef>
              <a:spcAft>
                <a:spcPts val="1200"/>
              </a:spcAft>
              <a:buNone/>
            </a:pPr>
            <a:endParaRPr/>
          </a:p>
        </p:txBody>
      </p:sp>
      <p:sp>
        <p:nvSpPr>
          <p:cNvPr id="256" name="Google Shape;256;p26"/>
          <p:cNvSpPr txBox="1"/>
          <p:nvPr/>
        </p:nvSpPr>
        <p:spPr>
          <a:xfrm>
            <a:off x="4935025" y="668550"/>
            <a:ext cx="4097700" cy="4439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1700" b="1">
                <a:solidFill>
                  <a:schemeClr val="dk1"/>
                </a:solidFill>
              </a:rPr>
              <a:t>Why FISTA Helps</a:t>
            </a:r>
            <a:endParaRPr sz="1700" b="1">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Accelerated First-Order Optimization</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a:solidFill>
                  <a:schemeClr val="dk1"/>
                </a:solidFill>
              </a:rPr>
              <a:t>FISTA convergence:</a:t>
            </a:r>
            <a:endParaRPr sz="1100">
              <a:solidFill>
                <a:schemeClr val="dk1"/>
              </a:solidFill>
            </a:endParaRPr>
          </a:p>
          <a:p>
            <a:pPr marL="0" lvl="0" indent="0" algn="l" rtl="0">
              <a:lnSpc>
                <a:spcPct val="115000"/>
              </a:lnSpc>
              <a:spcBef>
                <a:spcPts val="1200"/>
              </a:spcBef>
              <a:spcAft>
                <a:spcPts val="0"/>
              </a:spcAft>
              <a:buNone/>
            </a:pPr>
            <a:r>
              <a:rPr lang="en" sz="1100">
                <a:solidFill>
                  <a:schemeClr val="dk1"/>
                </a:solidFill>
              </a:rPr>
              <a:t>                      O(1/k2)</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1200"/>
              </a:spcBef>
              <a:spcAft>
                <a:spcPts val="0"/>
              </a:spcAft>
              <a:buNone/>
            </a:pPr>
            <a:r>
              <a:rPr lang="en" sz="1100">
                <a:solidFill>
                  <a:schemeClr val="dk1"/>
                </a:solidFill>
              </a:rPr>
              <a:t>Gradient descent:</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a:solidFill>
                  <a:schemeClr val="dk1"/>
                </a:solidFill>
              </a:rPr>
              <a:t>                     O(1/k) </a:t>
            </a:r>
            <a:endParaRPr sz="1100">
              <a:solidFill>
                <a:schemeClr val="dk1"/>
              </a:solidFill>
            </a:endParaRPr>
          </a:p>
          <a:p>
            <a:pPr marL="0" lvl="0" indent="0" algn="l" rtl="0">
              <a:spcBef>
                <a:spcPts val="1200"/>
              </a:spcBef>
              <a:spcAft>
                <a:spcPts val="0"/>
              </a:spcAft>
              <a:buNone/>
            </a:pPr>
            <a:endParaRPr sz="1800">
              <a:solidFill>
                <a:schemeClr val="dk2"/>
              </a:solidFill>
            </a:endParaRPr>
          </a:p>
        </p:txBody>
      </p:sp>
      <p:sp>
        <p:nvSpPr>
          <p:cNvPr id="257" name="Google Shape;257;p26"/>
          <p:cNvSpPr txBox="1"/>
          <p:nvPr/>
        </p:nvSpPr>
        <p:spPr>
          <a:xfrm>
            <a:off x="433125" y="3597925"/>
            <a:ext cx="4043700" cy="159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Compared to L2:</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smooths edges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blurs fine structures</a:t>
            </a:r>
            <a:endParaRPr sz="1100">
              <a:solidFill>
                <a:schemeClr val="dk1"/>
              </a:solidFill>
            </a:endParaRPr>
          </a:p>
          <a:p>
            <a:pPr marL="0" lvl="0" indent="0" algn="l" rtl="0">
              <a:lnSpc>
                <a:spcPct val="115000"/>
              </a:lnSpc>
              <a:spcBef>
                <a:spcPts val="1200"/>
              </a:spcBef>
              <a:spcAft>
                <a:spcPts val="0"/>
              </a:spcAft>
              <a:buNone/>
            </a:pPr>
            <a:r>
              <a:rPr lang="en" sz="1100">
                <a:solidFill>
                  <a:schemeClr val="dk1"/>
                </a:solidFill>
              </a:rPr>
              <a:t>TV preserves sharp image details.</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0" lvl="0" indent="0" algn="l" rtl="0">
              <a:spcBef>
                <a:spcPts val="1200"/>
              </a:spcBef>
              <a:spcAft>
                <a:spcPts val="0"/>
              </a:spcAft>
              <a:buNone/>
            </a:pPr>
            <a:endParaRPr sz="1800">
              <a:solidFill>
                <a:schemeClr val="dk2"/>
              </a:solidFill>
            </a:endParaRPr>
          </a:p>
        </p:txBody>
      </p:sp>
      <p:pic>
        <p:nvPicPr>
          <p:cNvPr id="258" name="Google Shape;258;p26" descr="{&quot;mathml&quot;:&quot;&lt;math style=\&quot;font-family:stix;font-size:16px;\&quot; xmlns=\&quot;http://www.w3.org/1998/Math/MathML\&quot;&gt;&lt;mstyle mathsize=\&quot;16px\&quot;&gt;&lt;munder&gt;&lt;mi&gt;min&lt;/mi&gt;&lt;mi&gt;u&lt;/mi&gt;&lt;/munder&gt;&lt;mfrac&gt;&lt;mn&gt;1&lt;/mn&gt;&lt;mn&gt;2&lt;/mn&gt;&lt;/mfrac&gt;&lt;mo&gt;&amp;#x2016;&lt;/mo&gt;&lt;mi&gt;K&lt;/mi&gt;&lt;mi&gt;u&lt;/mi&gt;&lt;mo&gt;-&lt;/mo&gt;&lt;mi&gt;f&lt;/mi&gt;&lt;msubsup&gt;&lt;mo&gt;&amp;#x2016;&lt;/mo&gt;&lt;mn&gt;2&lt;/mn&gt;&lt;mn&gt;2&lt;/mn&gt;&lt;/msubsup&gt;&lt;mo&gt;+&lt;/mo&gt;&lt;mi&gt;&amp;#x3BB;&lt;/mi&gt;&lt;mo&gt;&amp;#x2016;&lt;/mo&gt;&lt;mo&gt;&amp;#x2207;&lt;/mo&gt;&lt;mi&gt;u&lt;/mi&gt;&lt;msub&gt;&lt;mo&gt;&amp;#x2016;&lt;/mo&gt;&lt;mn&gt;1&lt;/mn&gt;&lt;/msub&gt;&lt;/mstyle&gt;&lt;/math&gt;&quot;,&quot;truncated&quot;:false}" title="min with u below 1 half ‖ K u minus f ‖ subscript 2 superscript 2 plus lambda ‖ nabla u ‖ subscript 1"/>
          <p:cNvPicPr preferRelativeResize="0"/>
          <p:nvPr/>
        </p:nvPicPr>
        <p:blipFill>
          <a:blip r:embed="rId3">
            <a:alphaModFix/>
          </a:blip>
          <a:stretch>
            <a:fillRect/>
          </a:stretch>
        </p:blipFill>
        <p:spPr>
          <a:xfrm>
            <a:off x="1711524" y="1710450"/>
            <a:ext cx="2127226" cy="494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7"/>
          <p:cNvSpPr txBox="1">
            <a:spLocks noGrp="1"/>
          </p:cNvSpPr>
          <p:nvPr>
            <p:ph type="title"/>
          </p:nvPr>
        </p:nvSpPr>
        <p:spPr>
          <a:xfrm>
            <a:off x="311700" y="0"/>
            <a:ext cx="8395800" cy="4152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0"/>
              </a:spcAft>
              <a:buClr>
                <a:schemeClr val="dk1"/>
              </a:buClr>
              <a:buSzPts val="990"/>
              <a:buFont typeface="Arial"/>
              <a:buNone/>
            </a:pPr>
            <a:r>
              <a:rPr lang="en" sz="2500" b="1"/>
              <a:t>Performance Evaluation</a:t>
            </a:r>
            <a:endParaRPr sz="2500" b="1"/>
          </a:p>
          <a:p>
            <a:pPr marL="0" lvl="0" indent="0" algn="l" rtl="0">
              <a:spcBef>
                <a:spcPts val="1200"/>
              </a:spcBef>
              <a:spcAft>
                <a:spcPts val="0"/>
              </a:spcAft>
              <a:buSzPts val="990"/>
              <a:buNone/>
            </a:pPr>
            <a:endParaRPr sz="2520"/>
          </a:p>
        </p:txBody>
      </p:sp>
      <p:sp>
        <p:nvSpPr>
          <p:cNvPr id="264" name="Google Shape;264;p27"/>
          <p:cNvSpPr txBox="1">
            <a:spLocks noGrp="1"/>
          </p:cNvSpPr>
          <p:nvPr>
            <p:ph type="body" idx="1"/>
          </p:nvPr>
        </p:nvSpPr>
        <p:spPr>
          <a:xfrm>
            <a:off x="0" y="415200"/>
            <a:ext cx="4353600" cy="4728300"/>
          </a:xfrm>
          <a:prstGeom prst="rect">
            <a:avLst/>
          </a:prstGeom>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400" b="1">
                <a:solidFill>
                  <a:schemeClr val="dk1"/>
                </a:solidFill>
              </a:rPr>
              <a:t>A. Literature Replication Results </a:t>
            </a:r>
            <a:endParaRPr sz="1400" b="1">
              <a:solidFill>
                <a:schemeClr val="dk1"/>
              </a:solidFill>
            </a:endParaRPr>
          </a:p>
          <a:p>
            <a:pPr marL="0" lvl="0" indent="0" algn="l" rtl="0">
              <a:spcBef>
                <a:spcPts val="1200"/>
              </a:spcBef>
              <a:spcAft>
                <a:spcPts val="0"/>
              </a:spcAft>
              <a:buNone/>
            </a:pPr>
            <a:r>
              <a:rPr lang="en" sz="1100" b="1">
                <a:solidFill>
                  <a:schemeClr val="dk1"/>
                </a:solidFill>
              </a:rPr>
              <a:t>Paper 1</a:t>
            </a:r>
            <a:endParaRPr sz="1100" b="1">
              <a:solidFill>
                <a:schemeClr val="dk1"/>
              </a:solidFill>
            </a:endParaRPr>
          </a:p>
          <a:p>
            <a:pPr marL="0" lvl="0" indent="0" algn="l" rtl="0">
              <a:spcBef>
                <a:spcPts val="1200"/>
              </a:spcBef>
              <a:spcAft>
                <a:spcPts val="0"/>
              </a:spcAft>
              <a:buNone/>
            </a:pPr>
            <a:endParaRPr sz="1100" b="1">
              <a:solidFill>
                <a:schemeClr val="dk1"/>
              </a:solidFill>
            </a:endParaRPr>
          </a:p>
          <a:p>
            <a:pPr marL="0" lvl="0" indent="0" algn="l" rtl="0">
              <a:spcBef>
                <a:spcPts val="1200"/>
              </a:spcBef>
              <a:spcAft>
                <a:spcPts val="0"/>
              </a:spcAft>
              <a:buNone/>
            </a:pPr>
            <a:endParaRPr sz="1100" b="1">
              <a:solidFill>
                <a:schemeClr val="dk1"/>
              </a:solidFill>
            </a:endParaRPr>
          </a:p>
          <a:p>
            <a:pPr marL="0" lvl="0" indent="0" algn="l" rtl="0">
              <a:spcBef>
                <a:spcPts val="1200"/>
              </a:spcBef>
              <a:spcAft>
                <a:spcPts val="0"/>
              </a:spcAft>
              <a:buNone/>
            </a:pPr>
            <a:endParaRPr sz="1100" b="1">
              <a:solidFill>
                <a:schemeClr val="dk1"/>
              </a:solidFill>
            </a:endParaRPr>
          </a:p>
          <a:p>
            <a:pPr marL="0" lvl="0" indent="0" algn="l" rtl="0">
              <a:spcBef>
                <a:spcPts val="1200"/>
              </a:spcBef>
              <a:spcAft>
                <a:spcPts val="0"/>
              </a:spcAft>
              <a:buNone/>
            </a:pPr>
            <a:endParaRPr sz="1100" b="1">
              <a:solidFill>
                <a:schemeClr val="dk1"/>
              </a:solidFill>
            </a:endParaRPr>
          </a:p>
          <a:p>
            <a:pPr marL="0" lvl="0" indent="0" algn="l" rtl="0">
              <a:spcBef>
                <a:spcPts val="1200"/>
              </a:spcBef>
              <a:spcAft>
                <a:spcPts val="0"/>
              </a:spcAft>
              <a:buNone/>
            </a:pPr>
            <a:r>
              <a:rPr lang="en" sz="1100" b="1">
                <a:solidFill>
                  <a:schemeClr val="dk1"/>
                </a:solidFill>
              </a:rPr>
              <a:t>Paper 2</a:t>
            </a:r>
            <a:endParaRPr sz="1100" b="1">
              <a:solidFill>
                <a:schemeClr val="dk1"/>
              </a:solidFill>
            </a:endParaRPr>
          </a:p>
          <a:p>
            <a:pPr marL="0" lvl="0" indent="0" algn="l" rtl="0">
              <a:spcBef>
                <a:spcPts val="1200"/>
              </a:spcBef>
              <a:spcAft>
                <a:spcPts val="0"/>
              </a:spcAft>
              <a:buNone/>
            </a:pPr>
            <a:endParaRPr sz="1100" b="1">
              <a:solidFill>
                <a:schemeClr val="dk1"/>
              </a:solidFill>
            </a:endParaRPr>
          </a:p>
          <a:p>
            <a:pPr marL="0" lvl="0" indent="0" algn="l" rtl="0">
              <a:spcBef>
                <a:spcPts val="1200"/>
              </a:spcBef>
              <a:spcAft>
                <a:spcPts val="0"/>
              </a:spcAft>
              <a:buNone/>
            </a:pPr>
            <a:endParaRPr sz="1100" b="1">
              <a:solidFill>
                <a:schemeClr val="dk1"/>
              </a:solidFill>
            </a:endParaRPr>
          </a:p>
          <a:p>
            <a:pPr marL="0" lvl="0" indent="0" algn="l" rtl="0">
              <a:spcBef>
                <a:spcPts val="1200"/>
              </a:spcBef>
              <a:spcAft>
                <a:spcPts val="0"/>
              </a:spcAft>
              <a:buNone/>
            </a:pPr>
            <a:endParaRPr sz="1100" b="1">
              <a:solidFill>
                <a:schemeClr val="dk1"/>
              </a:solidFill>
            </a:endParaRPr>
          </a:p>
          <a:p>
            <a:pPr marL="0" lvl="0" indent="0" algn="l" rtl="0">
              <a:spcBef>
                <a:spcPts val="1200"/>
              </a:spcBef>
              <a:spcAft>
                <a:spcPts val="0"/>
              </a:spcAft>
              <a:buNone/>
            </a:pPr>
            <a:endParaRPr sz="1100" b="1">
              <a:solidFill>
                <a:schemeClr val="dk1"/>
              </a:solidFill>
            </a:endParaRPr>
          </a:p>
          <a:p>
            <a:pPr marL="0" lvl="0" indent="0" algn="l" rtl="0">
              <a:spcBef>
                <a:spcPts val="1200"/>
              </a:spcBef>
              <a:spcAft>
                <a:spcPts val="0"/>
              </a:spcAft>
              <a:buNone/>
            </a:pPr>
            <a:endParaRPr sz="1100" b="1">
              <a:solidFill>
                <a:schemeClr val="dk1"/>
              </a:solidFill>
            </a:endParaRPr>
          </a:p>
          <a:p>
            <a:pPr marL="0" lvl="0" indent="0" algn="l" rtl="0">
              <a:spcBef>
                <a:spcPts val="1200"/>
              </a:spcBef>
              <a:spcAft>
                <a:spcPts val="0"/>
              </a:spcAft>
              <a:buNone/>
            </a:pPr>
            <a:r>
              <a:rPr lang="en" sz="1100" b="1">
                <a:solidFill>
                  <a:schemeClr val="dk1"/>
                </a:solidFill>
              </a:rPr>
              <a:t>Paper 3</a:t>
            </a:r>
            <a:endParaRPr sz="1100" b="1">
              <a:solidFill>
                <a:schemeClr val="dk1"/>
              </a:solidFill>
            </a:endParaRPr>
          </a:p>
          <a:p>
            <a:pPr marL="0" lvl="0" indent="0" algn="ctr" rtl="0">
              <a:spcBef>
                <a:spcPts val="1200"/>
              </a:spcBef>
              <a:spcAft>
                <a:spcPts val="1200"/>
              </a:spcAft>
              <a:buNone/>
            </a:pPr>
            <a:r>
              <a:rPr lang="en" sz="1400" b="1">
                <a:solidFill>
                  <a:schemeClr val="dk1"/>
                </a:solidFill>
              </a:rPr>
              <a:t> </a:t>
            </a:r>
            <a:endParaRPr sz="1400" b="1">
              <a:solidFill>
                <a:schemeClr val="dk1"/>
              </a:solidFill>
            </a:endParaRPr>
          </a:p>
        </p:txBody>
      </p:sp>
      <p:graphicFrame>
        <p:nvGraphicFramePr>
          <p:cNvPr id="265" name="Google Shape;265;p27"/>
          <p:cNvGraphicFramePr/>
          <p:nvPr/>
        </p:nvGraphicFramePr>
        <p:xfrm>
          <a:off x="807825" y="866225"/>
          <a:ext cx="3000000" cy="3000000"/>
        </p:xfrm>
        <a:graphic>
          <a:graphicData uri="http://schemas.openxmlformats.org/drawingml/2006/table">
            <a:tbl>
              <a:tblPr>
                <a:noFill/>
                <a:tableStyleId>{D094D42C-6084-4587-BD15-7004F695EF3E}</a:tableStyleId>
              </a:tblPr>
              <a:tblGrid>
                <a:gridCol w="1036000">
                  <a:extLst>
                    <a:ext uri="{9D8B030D-6E8A-4147-A177-3AD203B41FA5}">
                      <a16:colId xmlns:a16="http://schemas.microsoft.com/office/drawing/2014/main" val="20000"/>
                    </a:ext>
                  </a:extLst>
                </a:gridCol>
                <a:gridCol w="1036000">
                  <a:extLst>
                    <a:ext uri="{9D8B030D-6E8A-4147-A177-3AD203B41FA5}">
                      <a16:colId xmlns:a16="http://schemas.microsoft.com/office/drawing/2014/main" val="20001"/>
                    </a:ext>
                  </a:extLst>
                </a:gridCol>
                <a:gridCol w="1036000">
                  <a:extLst>
                    <a:ext uri="{9D8B030D-6E8A-4147-A177-3AD203B41FA5}">
                      <a16:colId xmlns:a16="http://schemas.microsoft.com/office/drawing/2014/main" val="20002"/>
                    </a:ext>
                  </a:extLst>
                </a:gridCol>
              </a:tblGrid>
              <a:tr h="282525">
                <a:tc>
                  <a:txBody>
                    <a:bodyPr/>
                    <a:lstStyle/>
                    <a:p>
                      <a:pPr marL="0" lvl="0" indent="0" algn="ctr" rtl="0">
                        <a:lnSpc>
                          <a:spcPct val="115000"/>
                        </a:lnSpc>
                        <a:spcBef>
                          <a:spcPts val="0"/>
                        </a:spcBef>
                        <a:spcAft>
                          <a:spcPts val="0"/>
                        </a:spcAft>
                        <a:buNone/>
                      </a:pPr>
                      <a:r>
                        <a:rPr lang="en" sz="1100" b="1"/>
                        <a:t>Method</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a:t>PSNR</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a:t>SSIM</a:t>
                      </a:r>
                      <a:endParaRPr sz="1100" b="1"/>
                    </a:p>
                  </a:txBody>
                  <a:tcPr marL="91425" marR="91425" marT="91425" marB="91425"/>
                </a:tc>
                <a:extLst>
                  <a:ext uri="{0D108BD9-81ED-4DB2-BD59-A6C34878D82A}">
                    <a16:rowId xmlns:a16="http://schemas.microsoft.com/office/drawing/2014/main" val="10000"/>
                  </a:ext>
                </a:extLst>
              </a:tr>
              <a:tr h="377000">
                <a:tc>
                  <a:txBody>
                    <a:bodyPr/>
                    <a:lstStyle/>
                    <a:p>
                      <a:pPr marL="0" lvl="0" indent="0" algn="l" rtl="0">
                        <a:spcBef>
                          <a:spcPts val="0"/>
                        </a:spcBef>
                        <a:spcAft>
                          <a:spcPts val="0"/>
                        </a:spcAft>
                        <a:buNone/>
                      </a:pPr>
                      <a:r>
                        <a:rPr lang="en" sz="1200"/>
                        <a:t>PIRL1-AM</a:t>
                      </a:r>
                      <a:endParaRPr sz="1200"/>
                    </a:p>
                  </a:txBody>
                  <a:tcPr marL="91425" marR="91425" marT="91425" marB="91425"/>
                </a:tc>
                <a:tc>
                  <a:txBody>
                    <a:bodyPr/>
                    <a:lstStyle/>
                    <a:p>
                      <a:pPr marL="0" lvl="0" indent="0" algn="l" rtl="0">
                        <a:spcBef>
                          <a:spcPts val="0"/>
                        </a:spcBef>
                        <a:spcAft>
                          <a:spcPts val="0"/>
                        </a:spcAft>
                        <a:buNone/>
                      </a:pPr>
                      <a:r>
                        <a:rPr lang="en" sz="1200"/>
                        <a:t>24.18</a:t>
                      </a:r>
                      <a:endParaRPr sz="1200"/>
                    </a:p>
                  </a:txBody>
                  <a:tcPr marL="91425" marR="91425" marT="91425" marB="91425"/>
                </a:tc>
                <a:tc>
                  <a:txBody>
                    <a:bodyPr/>
                    <a:lstStyle/>
                    <a:p>
                      <a:pPr marL="0" lvl="0" indent="0" algn="l" rtl="0">
                        <a:spcBef>
                          <a:spcPts val="0"/>
                        </a:spcBef>
                        <a:spcAft>
                          <a:spcPts val="0"/>
                        </a:spcAft>
                        <a:buNone/>
                      </a:pPr>
                      <a:r>
                        <a:rPr lang="en" sz="1200"/>
                        <a:t>0.6627</a:t>
                      </a:r>
                      <a:endParaRPr sz="1200"/>
                    </a:p>
                  </a:txBody>
                  <a:tcPr marL="91425" marR="91425" marT="91425" marB="91425"/>
                </a:tc>
                <a:extLst>
                  <a:ext uri="{0D108BD9-81ED-4DB2-BD59-A6C34878D82A}">
                    <a16:rowId xmlns:a16="http://schemas.microsoft.com/office/drawing/2014/main" val="10001"/>
                  </a:ext>
                </a:extLst>
              </a:tr>
              <a:tr h="377000">
                <a:tc>
                  <a:txBody>
                    <a:bodyPr/>
                    <a:lstStyle/>
                    <a:p>
                      <a:pPr marL="0" lvl="0" indent="0" algn="l" rtl="0">
                        <a:spcBef>
                          <a:spcPts val="0"/>
                        </a:spcBef>
                        <a:spcAft>
                          <a:spcPts val="0"/>
                        </a:spcAft>
                        <a:buNone/>
                      </a:pPr>
                      <a:r>
                        <a:rPr lang="en" sz="1200"/>
                        <a:t>APIRL1-AM</a:t>
                      </a:r>
                      <a:endParaRPr sz="1200"/>
                    </a:p>
                  </a:txBody>
                  <a:tcPr marL="91425" marR="91425" marT="91425" marB="91425"/>
                </a:tc>
                <a:tc>
                  <a:txBody>
                    <a:bodyPr/>
                    <a:lstStyle/>
                    <a:p>
                      <a:pPr marL="0" lvl="0" indent="0" algn="l" rtl="0">
                        <a:spcBef>
                          <a:spcPts val="0"/>
                        </a:spcBef>
                        <a:spcAft>
                          <a:spcPts val="0"/>
                        </a:spcAft>
                        <a:buNone/>
                      </a:pPr>
                      <a:r>
                        <a:rPr lang="en" sz="1200"/>
                        <a:t>24.22</a:t>
                      </a:r>
                      <a:endParaRPr sz="1200"/>
                    </a:p>
                  </a:txBody>
                  <a:tcPr marL="91425" marR="91425" marT="91425" marB="91425"/>
                </a:tc>
                <a:tc>
                  <a:txBody>
                    <a:bodyPr/>
                    <a:lstStyle/>
                    <a:p>
                      <a:pPr marL="0" lvl="0" indent="0" algn="l" rtl="0">
                        <a:spcBef>
                          <a:spcPts val="0"/>
                        </a:spcBef>
                        <a:spcAft>
                          <a:spcPts val="0"/>
                        </a:spcAft>
                        <a:buNone/>
                      </a:pPr>
                      <a:r>
                        <a:rPr lang="en" sz="1200"/>
                        <a:t>0.6636</a:t>
                      </a:r>
                      <a:endParaRPr sz="1200"/>
                    </a:p>
                  </a:txBody>
                  <a:tcPr marL="91425" marR="91425" marT="91425" marB="91425"/>
                </a:tc>
                <a:extLst>
                  <a:ext uri="{0D108BD9-81ED-4DB2-BD59-A6C34878D82A}">
                    <a16:rowId xmlns:a16="http://schemas.microsoft.com/office/drawing/2014/main" val="10002"/>
                  </a:ext>
                </a:extLst>
              </a:tr>
            </a:tbl>
          </a:graphicData>
        </a:graphic>
      </p:graphicFrame>
      <p:graphicFrame>
        <p:nvGraphicFramePr>
          <p:cNvPr id="266" name="Google Shape;266;p27"/>
          <p:cNvGraphicFramePr/>
          <p:nvPr/>
        </p:nvGraphicFramePr>
        <p:xfrm>
          <a:off x="1084125" y="2571750"/>
          <a:ext cx="3000000" cy="3000000"/>
        </p:xfrm>
        <a:graphic>
          <a:graphicData uri="http://schemas.openxmlformats.org/drawingml/2006/table">
            <a:tbl>
              <a:tblPr>
                <a:noFill/>
                <a:tableStyleId>{D094D42C-6084-4587-BD15-7004F695EF3E}</a:tableStyleId>
              </a:tblPr>
              <a:tblGrid>
                <a:gridCol w="941450">
                  <a:extLst>
                    <a:ext uri="{9D8B030D-6E8A-4147-A177-3AD203B41FA5}">
                      <a16:colId xmlns:a16="http://schemas.microsoft.com/office/drawing/2014/main" val="20000"/>
                    </a:ext>
                  </a:extLst>
                </a:gridCol>
                <a:gridCol w="941450">
                  <a:extLst>
                    <a:ext uri="{9D8B030D-6E8A-4147-A177-3AD203B41FA5}">
                      <a16:colId xmlns:a16="http://schemas.microsoft.com/office/drawing/2014/main" val="20001"/>
                    </a:ext>
                  </a:extLst>
                </a:gridCol>
              </a:tblGrid>
              <a:tr h="370725">
                <a:tc>
                  <a:txBody>
                    <a:bodyPr/>
                    <a:lstStyle/>
                    <a:p>
                      <a:pPr marL="0" lvl="0" indent="0" algn="ctr" rtl="0">
                        <a:lnSpc>
                          <a:spcPct val="115000"/>
                        </a:lnSpc>
                        <a:spcBef>
                          <a:spcPts val="0"/>
                        </a:spcBef>
                        <a:spcAft>
                          <a:spcPts val="0"/>
                        </a:spcAft>
                        <a:buNone/>
                      </a:pPr>
                      <a:r>
                        <a:rPr lang="en" sz="1100" b="1"/>
                        <a:t>Metric</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a:t>Value</a:t>
                      </a:r>
                      <a:endParaRPr sz="1100" b="1"/>
                    </a:p>
                  </a:txBody>
                  <a:tcPr marL="91425" marR="91425" marT="91425" marB="91425"/>
                </a:tc>
                <a:extLst>
                  <a:ext uri="{0D108BD9-81ED-4DB2-BD59-A6C34878D82A}">
                    <a16:rowId xmlns:a16="http://schemas.microsoft.com/office/drawing/2014/main" val="10000"/>
                  </a:ext>
                </a:extLst>
              </a:tr>
              <a:tr h="430775">
                <a:tc>
                  <a:txBody>
                    <a:bodyPr/>
                    <a:lstStyle/>
                    <a:p>
                      <a:pPr marL="0" lvl="0" indent="0" algn="l" rtl="0">
                        <a:spcBef>
                          <a:spcPts val="0"/>
                        </a:spcBef>
                        <a:spcAft>
                          <a:spcPts val="0"/>
                        </a:spcAft>
                        <a:buNone/>
                      </a:pPr>
                      <a:r>
                        <a:rPr lang="en" sz="1200"/>
                        <a:t>Average PSNR</a:t>
                      </a:r>
                      <a:endParaRPr sz="1200"/>
                    </a:p>
                  </a:txBody>
                  <a:tcPr marL="91425" marR="91425" marT="91425" marB="91425"/>
                </a:tc>
                <a:tc>
                  <a:txBody>
                    <a:bodyPr/>
                    <a:lstStyle/>
                    <a:p>
                      <a:pPr marL="0" lvl="0" indent="0" algn="l" rtl="0">
                        <a:spcBef>
                          <a:spcPts val="0"/>
                        </a:spcBef>
                        <a:spcAft>
                          <a:spcPts val="0"/>
                        </a:spcAft>
                        <a:buNone/>
                      </a:pPr>
                      <a:r>
                        <a:rPr lang="en" sz="1200"/>
                        <a:t>29.86 dB</a:t>
                      </a:r>
                      <a:endParaRPr sz="1200"/>
                    </a:p>
                  </a:txBody>
                  <a:tcPr marL="91425" marR="91425" marT="91425" marB="91425"/>
                </a:tc>
                <a:extLst>
                  <a:ext uri="{0D108BD9-81ED-4DB2-BD59-A6C34878D82A}">
                    <a16:rowId xmlns:a16="http://schemas.microsoft.com/office/drawing/2014/main" val="10001"/>
                  </a:ext>
                </a:extLst>
              </a:tr>
              <a:tr h="478650">
                <a:tc>
                  <a:txBody>
                    <a:bodyPr/>
                    <a:lstStyle/>
                    <a:p>
                      <a:pPr marL="0" lvl="0" indent="0" algn="l" rtl="0">
                        <a:spcBef>
                          <a:spcPts val="0"/>
                        </a:spcBef>
                        <a:spcAft>
                          <a:spcPts val="0"/>
                        </a:spcAft>
                        <a:buNone/>
                      </a:pPr>
                      <a:r>
                        <a:rPr lang="en" sz="1200"/>
                        <a:t>Average SSIM</a:t>
                      </a:r>
                      <a:endParaRPr sz="1200"/>
                    </a:p>
                  </a:txBody>
                  <a:tcPr marL="91425" marR="91425" marT="91425" marB="91425"/>
                </a:tc>
                <a:tc>
                  <a:txBody>
                    <a:bodyPr/>
                    <a:lstStyle/>
                    <a:p>
                      <a:pPr marL="0" lvl="0" indent="0" algn="l" rtl="0">
                        <a:spcBef>
                          <a:spcPts val="0"/>
                        </a:spcBef>
                        <a:spcAft>
                          <a:spcPts val="0"/>
                        </a:spcAft>
                        <a:buNone/>
                      </a:pPr>
                      <a:r>
                        <a:rPr lang="en" sz="1200"/>
                        <a:t>0.796</a:t>
                      </a:r>
                      <a:endParaRPr sz="1200"/>
                    </a:p>
                  </a:txBody>
                  <a:tcPr marL="91425" marR="91425" marT="91425" marB="91425"/>
                </a:tc>
                <a:extLst>
                  <a:ext uri="{0D108BD9-81ED-4DB2-BD59-A6C34878D82A}">
                    <a16:rowId xmlns:a16="http://schemas.microsoft.com/office/drawing/2014/main" val="10002"/>
                  </a:ext>
                </a:extLst>
              </a:tr>
            </a:tbl>
          </a:graphicData>
        </a:graphic>
      </p:graphicFrame>
      <p:graphicFrame>
        <p:nvGraphicFramePr>
          <p:cNvPr id="267" name="Google Shape;267;p27"/>
          <p:cNvGraphicFramePr/>
          <p:nvPr/>
        </p:nvGraphicFramePr>
        <p:xfrm>
          <a:off x="861375" y="4225875"/>
          <a:ext cx="3000000" cy="3000000"/>
        </p:xfrm>
        <a:graphic>
          <a:graphicData uri="http://schemas.openxmlformats.org/drawingml/2006/table">
            <a:tbl>
              <a:tblPr>
                <a:noFill/>
                <a:tableStyleId>{D094D42C-6084-4587-BD15-7004F695EF3E}</a:tableStyleId>
              </a:tblPr>
              <a:tblGrid>
                <a:gridCol w="1133700">
                  <a:extLst>
                    <a:ext uri="{9D8B030D-6E8A-4147-A177-3AD203B41FA5}">
                      <a16:colId xmlns:a16="http://schemas.microsoft.com/office/drawing/2014/main" val="20000"/>
                    </a:ext>
                  </a:extLst>
                </a:gridCol>
                <a:gridCol w="1133700">
                  <a:extLst>
                    <a:ext uri="{9D8B030D-6E8A-4147-A177-3AD203B41FA5}">
                      <a16:colId xmlns:a16="http://schemas.microsoft.com/office/drawing/2014/main" val="20001"/>
                    </a:ext>
                  </a:extLst>
                </a:gridCol>
                <a:gridCol w="1133700">
                  <a:extLst>
                    <a:ext uri="{9D8B030D-6E8A-4147-A177-3AD203B41FA5}">
                      <a16:colId xmlns:a16="http://schemas.microsoft.com/office/drawing/2014/main" val="20002"/>
                    </a:ext>
                  </a:extLst>
                </a:gridCol>
              </a:tblGrid>
              <a:tr h="338650">
                <a:tc>
                  <a:txBody>
                    <a:bodyPr/>
                    <a:lstStyle/>
                    <a:p>
                      <a:pPr marL="0" lvl="0" indent="0" algn="ctr" rtl="0">
                        <a:lnSpc>
                          <a:spcPct val="115000"/>
                        </a:lnSpc>
                        <a:spcBef>
                          <a:spcPts val="0"/>
                        </a:spcBef>
                        <a:spcAft>
                          <a:spcPts val="0"/>
                        </a:spcAft>
                        <a:buNone/>
                      </a:pPr>
                      <a:r>
                        <a:rPr lang="en" sz="1100" b="1"/>
                        <a:t>Model</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a:t>Avg PSNR</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a:t>Avg SSIM</a:t>
                      </a:r>
                      <a:endParaRPr sz="1100" b="1"/>
                    </a:p>
                  </a:txBody>
                  <a:tcPr marL="91425" marR="91425" marT="91425" marB="91425"/>
                </a:tc>
                <a:extLst>
                  <a:ext uri="{0D108BD9-81ED-4DB2-BD59-A6C34878D82A}">
                    <a16:rowId xmlns:a16="http://schemas.microsoft.com/office/drawing/2014/main" val="10000"/>
                  </a:ext>
                </a:extLst>
              </a:tr>
              <a:tr h="530050">
                <a:tc>
                  <a:txBody>
                    <a:bodyPr/>
                    <a:lstStyle/>
                    <a:p>
                      <a:pPr marL="0" lvl="0" indent="0" algn="l" rtl="0">
                        <a:spcBef>
                          <a:spcPts val="0"/>
                        </a:spcBef>
                        <a:spcAft>
                          <a:spcPts val="0"/>
                        </a:spcAft>
                        <a:buNone/>
                      </a:pPr>
                      <a:r>
                        <a:rPr lang="en" sz="1200"/>
                        <a:t>Proposed HCTVR</a:t>
                      </a:r>
                      <a:endParaRPr sz="1200"/>
                    </a:p>
                  </a:txBody>
                  <a:tcPr marL="91425" marR="91425" marT="91425" marB="91425"/>
                </a:tc>
                <a:tc>
                  <a:txBody>
                    <a:bodyPr/>
                    <a:lstStyle/>
                    <a:p>
                      <a:pPr marL="0" lvl="0" indent="0" algn="l" rtl="0">
                        <a:spcBef>
                          <a:spcPts val="0"/>
                        </a:spcBef>
                        <a:spcAft>
                          <a:spcPts val="0"/>
                        </a:spcAft>
                        <a:buNone/>
                      </a:pPr>
                      <a:r>
                        <a:rPr lang="en" sz="1200"/>
                        <a:t>37.66</a:t>
                      </a:r>
                      <a:endParaRPr sz="1200"/>
                    </a:p>
                  </a:txBody>
                  <a:tcPr marL="91425" marR="91425" marT="91425" marB="91425"/>
                </a:tc>
                <a:tc>
                  <a:txBody>
                    <a:bodyPr/>
                    <a:lstStyle/>
                    <a:p>
                      <a:pPr marL="0" lvl="0" indent="0" algn="l" rtl="0">
                        <a:spcBef>
                          <a:spcPts val="0"/>
                        </a:spcBef>
                        <a:spcAft>
                          <a:spcPts val="0"/>
                        </a:spcAft>
                        <a:buNone/>
                      </a:pPr>
                      <a:r>
                        <a:rPr lang="en" sz="1200"/>
                        <a:t>0.9546</a:t>
                      </a:r>
                      <a:endParaRPr sz="1200"/>
                    </a:p>
                  </a:txBody>
                  <a:tcPr marL="91425" marR="91425" marT="91425" marB="91425"/>
                </a:tc>
                <a:extLst>
                  <a:ext uri="{0D108BD9-81ED-4DB2-BD59-A6C34878D82A}">
                    <a16:rowId xmlns:a16="http://schemas.microsoft.com/office/drawing/2014/main" val="10001"/>
                  </a:ext>
                </a:extLst>
              </a:tr>
            </a:tbl>
          </a:graphicData>
        </a:graphic>
      </p:graphicFrame>
      <p:sp>
        <p:nvSpPr>
          <p:cNvPr id="268" name="Google Shape;268;p27"/>
          <p:cNvSpPr txBox="1"/>
          <p:nvPr/>
        </p:nvSpPr>
        <p:spPr>
          <a:xfrm>
            <a:off x="4572000" y="415200"/>
            <a:ext cx="4530300" cy="4710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800"/>
              </a:spcBef>
              <a:spcAft>
                <a:spcPts val="0"/>
              </a:spcAft>
              <a:buClr>
                <a:schemeClr val="dk1"/>
              </a:buClr>
              <a:buSzPts val="1100"/>
              <a:buFont typeface="Arial"/>
              <a:buNone/>
            </a:pPr>
            <a:r>
              <a:rPr lang="en" b="1">
                <a:solidFill>
                  <a:schemeClr val="dk1"/>
                </a:solidFill>
              </a:rPr>
              <a:t>B. Synthetic Benchmark Results</a:t>
            </a:r>
            <a:endParaRPr b="1">
              <a:solidFill>
                <a:schemeClr val="dk1"/>
              </a:solidFill>
            </a:endParaRPr>
          </a:p>
          <a:p>
            <a:pPr marL="0" lvl="0" indent="0" algn="l" rtl="0">
              <a:spcBef>
                <a:spcPts val="40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600" b="1">
                <a:solidFill>
                  <a:schemeClr val="dk1"/>
                </a:solidFill>
              </a:rPr>
              <a:t>Findings:</a:t>
            </a:r>
            <a:endParaRPr sz="1200" b="1">
              <a:solidFill>
                <a:schemeClr val="dk1"/>
              </a:solidFill>
            </a:endParaRPr>
          </a:p>
          <a:p>
            <a:pPr marL="457200" lvl="0" indent="-304800" algn="l" rtl="0">
              <a:lnSpc>
                <a:spcPct val="115000"/>
              </a:lnSpc>
              <a:spcBef>
                <a:spcPts val="1200"/>
              </a:spcBef>
              <a:spcAft>
                <a:spcPts val="0"/>
              </a:spcAft>
              <a:buClr>
                <a:schemeClr val="dk1"/>
              </a:buClr>
              <a:buSzPts val="1200"/>
              <a:buChar char="●"/>
            </a:pPr>
            <a:r>
              <a:rPr lang="en" sz="1200">
                <a:solidFill>
                  <a:schemeClr val="dk1"/>
                </a:solidFill>
              </a:rPr>
              <a:t>TV regularization consistently outperforms L2</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TV-FISTA achieves best reconstruction quality</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Split Bregman competitive with ADMM</a:t>
            </a:r>
            <a:endParaRPr sz="1200">
              <a:solidFill>
                <a:schemeClr val="dk1"/>
              </a:solidFill>
            </a:endParaRPr>
          </a:p>
          <a:p>
            <a:pPr marL="0" lvl="0" indent="0" algn="l" rtl="0">
              <a:spcBef>
                <a:spcPts val="1200"/>
              </a:spcBef>
              <a:spcAft>
                <a:spcPts val="0"/>
              </a:spcAft>
              <a:buNone/>
            </a:pPr>
            <a:endParaRPr sz="1200">
              <a:solidFill>
                <a:schemeClr val="dk1"/>
              </a:solidFill>
            </a:endParaRPr>
          </a:p>
        </p:txBody>
      </p:sp>
      <p:graphicFrame>
        <p:nvGraphicFramePr>
          <p:cNvPr id="269" name="Google Shape;269;p27"/>
          <p:cNvGraphicFramePr/>
          <p:nvPr/>
        </p:nvGraphicFramePr>
        <p:xfrm>
          <a:off x="4663150" y="866225"/>
          <a:ext cx="3000000" cy="3000000"/>
        </p:xfrm>
        <a:graphic>
          <a:graphicData uri="http://schemas.openxmlformats.org/drawingml/2006/table">
            <a:tbl>
              <a:tblPr>
                <a:noFill/>
                <a:tableStyleId>{D094D42C-6084-4587-BD15-7004F695EF3E}</a:tableStyleId>
              </a:tblPr>
              <a:tblGrid>
                <a:gridCol w="1621000">
                  <a:extLst>
                    <a:ext uri="{9D8B030D-6E8A-4147-A177-3AD203B41FA5}">
                      <a16:colId xmlns:a16="http://schemas.microsoft.com/office/drawing/2014/main" val="20000"/>
                    </a:ext>
                  </a:extLst>
                </a:gridCol>
                <a:gridCol w="1409075">
                  <a:extLst>
                    <a:ext uri="{9D8B030D-6E8A-4147-A177-3AD203B41FA5}">
                      <a16:colId xmlns:a16="http://schemas.microsoft.com/office/drawing/2014/main" val="20001"/>
                    </a:ext>
                  </a:extLst>
                </a:gridCol>
                <a:gridCol w="1409075">
                  <a:extLst>
                    <a:ext uri="{9D8B030D-6E8A-4147-A177-3AD203B41FA5}">
                      <a16:colId xmlns:a16="http://schemas.microsoft.com/office/drawing/2014/main" val="20002"/>
                    </a:ext>
                  </a:extLst>
                </a:gridCol>
              </a:tblGrid>
              <a:tr h="324875">
                <a:tc>
                  <a:txBody>
                    <a:bodyPr/>
                    <a:lstStyle/>
                    <a:p>
                      <a:pPr marL="0" lvl="0" indent="0" algn="ctr" rtl="0">
                        <a:lnSpc>
                          <a:spcPct val="115000"/>
                        </a:lnSpc>
                        <a:spcBef>
                          <a:spcPts val="0"/>
                        </a:spcBef>
                        <a:spcAft>
                          <a:spcPts val="0"/>
                        </a:spcAft>
                        <a:buNone/>
                      </a:pPr>
                      <a:r>
                        <a:rPr lang="en" sz="1100" b="1"/>
                        <a:t>Method</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a:t>Avg PSNR</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a:t>Avg SSIM</a:t>
                      </a:r>
                      <a:endParaRPr sz="1100" b="1"/>
                    </a:p>
                  </a:txBody>
                  <a:tcPr marL="91425" marR="91425" marT="91425" marB="91425"/>
                </a:tc>
                <a:extLst>
                  <a:ext uri="{0D108BD9-81ED-4DB2-BD59-A6C34878D82A}">
                    <a16:rowId xmlns:a16="http://schemas.microsoft.com/office/drawing/2014/main" val="10000"/>
                  </a:ext>
                </a:extLst>
              </a:tr>
              <a:tr h="339025">
                <a:tc>
                  <a:txBody>
                    <a:bodyPr/>
                    <a:lstStyle/>
                    <a:p>
                      <a:pPr marL="0" lvl="0" indent="0" algn="l" rtl="0">
                        <a:spcBef>
                          <a:spcPts val="0"/>
                        </a:spcBef>
                        <a:spcAft>
                          <a:spcPts val="0"/>
                        </a:spcAft>
                        <a:buNone/>
                      </a:pPr>
                      <a:r>
                        <a:rPr lang="en" sz="1200"/>
                        <a:t>L2 + GD</a:t>
                      </a:r>
                      <a:endParaRPr sz="1200"/>
                    </a:p>
                  </a:txBody>
                  <a:tcPr marL="91425" marR="91425" marT="91425" marB="91425"/>
                </a:tc>
                <a:tc>
                  <a:txBody>
                    <a:bodyPr/>
                    <a:lstStyle/>
                    <a:p>
                      <a:pPr marL="0" lvl="0" indent="0" algn="l" rtl="0">
                        <a:spcBef>
                          <a:spcPts val="0"/>
                        </a:spcBef>
                        <a:spcAft>
                          <a:spcPts val="0"/>
                        </a:spcAft>
                        <a:buNone/>
                      </a:pPr>
                      <a:r>
                        <a:rPr lang="en" sz="1200"/>
                        <a:t>29.88</a:t>
                      </a:r>
                      <a:endParaRPr sz="1200"/>
                    </a:p>
                  </a:txBody>
                  <a:tcPr marL="91425" marR="91425" marT="91425" marB="91425"/>
                </a:tc>
                <a:tc>
                  <a:txBody>
                    <a:bodyPr/>
                    <a:lstStyle/>
                    <a:p>
                      <a:pPr marL="0" lvl="0" indent="0" algn="l" rtl="0">
                        <a:spcBef>
                          <a:spcPts val="0"/>
                        </a:spcBef>
                        <a:spcAft>
                          <a:spcPts val="0"/>
                        </a:spcAft>
                        <a:buNone/>
                      </a:pPr>
                      <a:r>
                        <a:rPr lang="en" sz="1200"/>
                        <a:t>0.8671</a:t>
                      </a:r>
                      <a:endParaRPr sz="1200"/>
                    </a:p>
                  </a:txBody>
                  <a:tcPr marL="91425" marR="91425" marT="91425" marB="91425"/>
                </a:tc>
                <a:extLst>
                  <a:ext uri="{0D108BD9-81ED-4DB2-BD59-A6C34878D82A}">
                    <a16:rowId xmlns:a16="http://schemas.microsoft.com/office/drawing/2014/main" val="10001"/>
                  </a:ext>
                </a:extLst>
              </a:tr>
              <a:tr h="339025">
                <a:tc>
                  <a:txBody>
                    <a:bodyPr/>
                    <a:lstStyle/>
                    <a:p>
                      <a:pPr marL="0" lvl="0" indent="0" algn="l" rtl="0">
                        <a:spcBef>
                          <a:spcPts val="0"/>
                        </a:spcBef>
                        <a:spcAft>
                          <a:spcPts val="0"/>
                        </a:spcAft>
                        <a:buNone/>
                      </a:pPr>
                      <a:r>
                        <a:rPr lang="en" sz="1200"/>
                        <a:t>L2 + FISTA</a:t>
                      </a:r>
                      <a:endParaRPr sz="1200"/>
                    </a:p>
                  </a:txBody>
                  <a:tcPr marL="91425" marR="91425" marT="91425" marB="91425"/>
                </a:tc>
                <a:tc>
                  <a:txBody>
                    <a:bodyPr/>
                    <a:lstStyle/>
                    <a:p>
                      <a:pPr marL="0" lvl="0" indent="0" algn="l" rtl="0">
                        <a:spcBef>
                          <a:spcPts val="0"/>
                        </a:spcBef>
                        <a:spcAft>
                          <a:spcPts val="0"/>
                        </a:spcAft>
                        <a:buNone/>
                      </a:pPr>
                      <a:r>
                        <a:rPr lang="en" sz="1200"/>
                        <a:t>30.19</a:t>
                      </a:r>
                      <a:endParaRPr sz="1200"/>
                    </a:p>
                  </a:txBody>
                  <a:tcPr marL="91425" marR="91425" marT="91425" marB="91425"/>
                </a:tc>
                <a:tc>
                  <a:txBody>
                    <a:bodyPr/>
                    <a:lstStyle/>
                    <a:p>
                      <a:pPr marL="0" lvl="0" indent="0" algn="l" rtl="0">
                        <a:spcBef>
                          <a:spcPts val="0"/>
                        </a:spcBef>
                        <a:spcAft>
                          <a:spcPts val="0"/>
                        </a:spcAft>
                        <a:buNone/>
                      </a:pPr>
                      <a:r>
                        <a:rPr lang="en" sz="1200"/>
                        <a:t>0.8558</a:t>
                      </a:r>
                      <a:endParaRPr sz="1200"/>
                    </a:p>
                  </a:txBody>
                  <a:tcPr marL="91425" marR="91425" marT="91425" marB="91425"/>
                </a:tc>
                <a:extLst>
                  <a:ext uri="{0D108BD9-81ED-4DB2-BD59-A6C34878D82A}">
                    <a16:rowId xmlns:a16="http://schemas.microsoft.com/office/drawing/2014/main" val="10002"/>
                  </a:ext>
                </a:extLst>
              </a:tr>
              <a:tr h="294850">
                <a:tc>
                  <a:txBody>
                    <a:bodyPr/>
                    <a:lstStyle/>
                    <a:p>
                      <a:pPr marL="0" lvl="0" indent="0" algn="l" rtl="0">
                        <a:spcBef>
                          <a:spcPts val="0"/>
                        </a:spcBef>
                        <a:spcAft>
                          <a:spcPts val="0"/>
                        </a:spcAft>
                        <a:buNone/>
                      </a:pPr>
                      <a:r>
                        <a:rPr lang="en" sz="1200"/>
                        <a:t>TV + ADMM</a:t>
                      </a:r>
                      <a:endParaRPr sz="1200"/>
                    </a:p>
                  </a:txBody>
                  <a:tcPr marL="91425" marR="91425" marT="91425" marB="91425"/>
                </a:tc>
                <a:tc>
                  <a:txBody>
                    <a:bodyPr/>
                    <a:lstStyle/>
                    <a:p>
                      <a:pPr marL="0" lvl="0" indent="0" algn="l" rtl="0">
                        <a:spcBef>
                          <a:spcPts val="0"/>
                        </a:spcBef>
                        <a:spcAft>
                          <a:spcPts val="0"/>
                        </a:spcAft>
                        <a:buNone/>
                      </a:pPr>
                      <a:r>
                        <a:rPr lang="en" sz="1200"/>
                        <a:t>33.41</a:t>
                      </a:r>
                      <a:endParaRPr sz="1200"/>
                    </a:p>
                  </a:txBody>
                  <a:tcPr marL="91425" marR="91425" marT="91425" marB="91425"/>
                </a:tc>
                <a:tc>
                  <a:txBody>
                    <a:bodyPr/>
                    <a:lstStyle/>
                    <a:p>
                      <a:pPr marL="0" lvl="0" indent="0" algn="l" rtl="0">
                        <a:spcBef>
                          <a:spcPts val="0"/>
                        </a:spcBef>
                        <a:spcAft>
                          <a:spcPts val="0"/>
                        </a:spcAft>
                        <a:buNone/>
                      </a:pPr>
                      <a:r>
                        <a:rPr lang="en" sz="1200"/>
                        <a:t>0.8898</a:t>
                      </a:r>
                      <a:endParaRPr sz="1200"/>
                    </a:p>
                  </a:txBody>
                  <a:tcPr marL="91425" marR="91425" marT="91425" marB="91425"/>
                </a:tc>
                <a:extLst>
                  <a:ext uri="{0D108BD9-81ED-4DB2-BD59-A6C34878D82A}">
                    <a16:rowId xmlns:a16="http://schemas.microsoft.com/office/drawing/2014/main" val="10003"/>
                  </a:ext>
                </a:extLst>
              </a:tr>
              <a:tr h="324875">
                <a:tc>
                  <a:txBody>
                    <a:bodyPr/>
                    <a:lstStyle/>
                    <a:p>
                      <a:pPr marL="0" lvl="0" indent="0" algn="l" rtl="0">
                        <a:spcBef>
                          <a:spcPts val="0"/>
                        </a:spcBef>
                        <a:spcAft>
                          <a:spcPts val="0"/>
                        </a:spcAft>
                        <a:buNone/>
                      </a:pPr>
                      <a:r>
                        <a:rPr lang="en" sz="1200" b="1"/>
                        <a:t>TV + FISTA</a:t>
                      </a:r>
                      <a:endParaRPr sz="1200" b="1"/>
                    </a:p>
                  </a:txBody>
                  <a:tcPr marL="91425" marR="91425" marT="91425" marB="91425"/>
                </a:tc>
                <a:tc>
                  <a:txBody>
                    <a:bodyPr/>
                    <a:lstStyle/>
                    <a:p>
                      <a:pPr marL="0" lvl="0" indent="0" algn="l" rtl="0">
                        <a:spcBef>
                          <a:spcPts val="0"/>
                        </a:spcBef>
                        <a:spcAft>
                          <a:spcPts val="0"/>
                        </a:spcAft>
                        <a:buNone/>
                      </a:pPr>
                      <a:r>
                        <a:rPr lang="en" sz="1200" b="1"/>
                        <a:t>36.50</a:t>
                      </a:r>
                      <a:endParaRPr sz="1200" b="1"/>
                    </a:p>
                  </a:txBody>
                  <a:tcPr marL="91425" marR="91425" marT="91425" marB="91425"/>
                </a:tc>
                <a:tc>
                  <a:txBody>
                    <a:bodyPr/>
                    <a:lstStyle/>
                    <a:p>
                      <a:pPr marL="0" lvl="0" indent="0" algn="l" rtl="0">
                        <a:spcBef>
                          <a:spcPts val="0"/>
                        </a:spcBef>
                        <a:spcAft>
                          <a:spcPts val="0"/>
                        </a:spcAft>
                        <a:buNone/>
                      </a:pPr>
                      <a:r>
                        <a:rPr lang="en" sz="1200" b="1"/>
                        <a:t>0.9099</a:t>
                      </a:r>
                      <a:endParaRPr sz="1200" b="1"/>
                    </a:p>
                  </a:txBody>
                  <a:tcPr marL="91425" marR="91425" marT="91425" marB="91425"/>
                </a:tc>
                <a:extLst>
                  <a:ext uri="{0D108BD9-81ED-4DB2-BD59-A6C34878D82A}">
                    <a16:rowId xmlns:a16="http://schemas.microsoft.com/office/drawing/2014/main" val="10004"/>
                  </a:ext>
                </a:extLst>
              </a:tr>
              <a:tr h="339025">
                <a:tc>
                  <a:txBody>
                    <a:bodyPr/>
                    <a:lstStyle/>
                    <a:p>
                      <a:pPr marL="0" lvl="0" indent="0" algn="l" rtl="0">
                        <a:spcBef>
                          <a:spcPts val="0"/>
                        </a:spcBef>
                        <a:spcAft>
                          <a:spcPts val="0"/>
                        </a:spcAft>
                        <a:buNone/>
                      </a:pPr>
                      <a:r>
                        <a:rPr lang="en" sz="1200"/>
                        <a:t>TV + Primal-Dual</a:t>
                      </a:r>
                      <a:endParaRPr sz="1200"/>
                    </a:p>
                  </a:txBody>
                  <a:tcPr marL="91425" marR="91425" marT="91425" marB="91425"/>
                </a:tc>
                <a:tc>
                  <a:txBody>
                    <a:bodyPr/>
                    <a:lstStyle/>
                    <a:p>
                      <a:pPr marL="0" lvl="0" indent="0" algn="l" rtl="0">
                        <a:spcBef>
                          <a:spcPts val="0"/>
                        </a:spcBef>
                        <a:spcAft>
                          <a:spcPts val="0"/>
                        </a:spcAft>
                        <a:buNone/>
                      </a:pPr>
                      <a:r>
                        <a:rPr lang="en" sz="1200"/>
                        <a:t>30.61</a:t>
                      </a:r>
                      <a:endParaRPr sz="1200"/>
                    </a:p>
                  </a:txBody>
                  <a:tcPr marL="91425" marR="91425" marT="91425" marB="91425"/>
                </a:tc>
                <a:tc>
                  <a:txBody>
                    <a:bodyPr/>
                    <a:lstStyle/>
                    <a:p>
                      <a:pPr marL="0" lvl="0" indent="0" algn="l" rtl="0">
                        <a:spcBef>
                          <a:spcPts val="0"/>
                        </a:spcBef>
                        <a:spcAft>
                          <a:spcPts val="0"/>
                        </a:spcAft>
                        <a:buNone/>
                      </a:pPr>
                      <a:r>
                        <a:rPr lang="en" sz="1200"/>
                        <a:t>0.8729</a:t>
                      </a:r>
                      <a:endParaRPr sz="1200"/>
                    </a:p>
                  </a:txBody>
                  <a:tcPr marL="91425" marR="91425" marT="91425" marB="91425"/>
                </a:tc>
                <a:extLst>
                  <a:ext uri="{0D108BD9-81ED-4DB2-BD59-A6C34878D82A}">
                    <a16:rowId xmlns:a16="http://schemas.microsoft.com/office/drawing/2014/main" val="10005"/>
                  </a:ext>
                </a:extLst>
              </a:tr>
              <a:tr h="407725">
                <a:tc>
                  <a:txBody>
                    <a:bodyPr/>
                    <a:lstStyle/>
                    <a:p>
                      <a:pPr marL="0" lvl="0" indent="0" algn="l" rtl="0">
                        <a:spcBef>
                          <a:spcPts val="0"/>
                        </a:spcBef>
                        <a:spcAft>
                          <a:spcPts val="0"/>
                        </a:spcAft>
                        <a:buNone/>
                      </a:pPr>
                      <a:r>
                        <a:rPr lang="en" sz="1200"/>
                        <a:t>TV + Split Bregman</a:t>
                      </a:r>
                      <a:endParaRPr sz="1200"/>
                    </a:p>
                  </a:txBody>
                  <a:tcPr marL="91425" marR="91425" marT="91425" marB="91425"/>
                </a:tc>
                <a:tc>
                  <a:txBody>
                    <a:bodyPr/>
                    <a:lstStyle/>
                    <a:p>
                      <a:pPr marL="0" lvl="0" indent="0" algn="l" rtl="0">
                        <a:spcBef>
                          <a:spcPts val="0"/>
                        </a:spcBef>
                        <a:spcAft>
                          <a:spcPts val="0"/>
                        </a:spcAft>
                        <a:buNone/>
                      </a:pPr>
                      <a:r>
                        <a:rPr lang="en" sz="1200"/>
                        <a:t>33.41</a:t>
                      </a:r>
                      <a:endParaRPr sz="1200"/>
                    </a:p>
                  </a:txBody>
                  <a:tcPr marL="91425" marR="91425" marT="91425" marB="91425"/>
                </a:tc>
                <a:tc>
                  <a:txBody>
                    <a:bodyPr/>
                    <a:lstStyle/>
                    <a:p>
                      <a:pPr marL="0" lvl="0" indent="0" algn="l" rtl="0">
                        <a:spcBef>
                          <a:spcPts val="0"/>
                        </a:spcBef>
                        <a:spcAft>
                          <a:spcPts val="0"/>
                        </a:spcAft>
                        <a:buNone/>
                      </a:pPr>
                      <a:r>
                        <a:rPr lang="en" sz="1200"/>
                        <a:t>0.8898</a:t>
                      </a:r>
                      <a:endParaRPr sz="1200"/>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73"/>
        <p:cNvGrpSpPr/>
        <p:nvPr/>
      </p:nvGrpSpPr>
      <p:grpSpPr>
        <a:xfrm>
          <a:off x="0" y="0"/>
          <a:ext cx="0" cy="0"/>
          <a:chOff x="0" y="0"/>
          <a:chExt cx="0" cy="0"/>
        </a:xfrm>
      </p:grpSpPr>
      <p:sp>
        <p:nvSpPr>
          <p:cNvPr id="274" name="Google Shape;274;p28"/>
          <p:cNvSpPr txBox="1">
            <a:spLocks noGrp="1"/>
          </p:cNvSpPr>
          <p:nvPr>
            <p:ph type="title"/>
          </p:nvPr>
        </p:nvSpPr>
        <p:spPr>
          <a:xfrm>
            <a:off x="311700" y="190500"/>
            <a:ext cx="8520600" cy="571500"/>
          </a:xfrm>
          <a:prstGeom prst="rect">
            <a:avLst/>
          </a:prstGeom>
          <a:solidFill>
            <a:srgbClr val="000000">
              <a:alpha val="0"/>
            </a:srgbClr>
          </a:solidFill>
          <a:ln>
            <a:noFill/>
          </a:ln>
        </p:spPr>
        <p:txBody>
          <a:bodyPr spcFirstLastPara="1" wrap="square" lIns="0" tIns="0" rIns="0" bIns="0" anchor="ctr" anchorCtr="0">
            <a:normAutofit/>
          </a:bodyPr>
          <a:lstStyle/>
          <a:p>
            <a:pPr marL="0" lvl="0" indent="0" algn="ctr" rtl="0">
              <a:spcBef>
                <a:spcPts val="0"/>
              </a:spcBef>
              <a:spcAft>
                <a:spcPts val="0"/>
              </a:spcAft>
              <a:buNone/>
            </a:pPr>
            <a:r>
              <a:rPr lang="en" sz="2400" b="1">
                <a:solidFill>
                  <a:srgbClr val="1E293B"/>
                </a:solidFill>
                <a:latin typeface="Arial"/>
                <a:ea typeface="Arial"/>
                <a:cs typeface="Arial"/>
                <a:sym typeface="Arial"/>
              </a:rPr>
              <a:t>Improvements &amp; Key Contributions</a:t>
            </a:r>
            <a:endParaRPr sz="2400" b="1">
              <a:solidFill>
                <a:srgbClr val="1E293B"/>
              </a:solidFill>
              <a:latin typeface="Arial"/>
              <a:ea typeface="Arial"/>
              <a:cs typeface="Arial"/>
              <a:sym typeface="Arial"/>
            </a:endParaRPr>
          </a:p>
        </p:txBody>
      </p:sp>
      <p:grpSp>
        <p:nvGrpSpPr>
          <p:cNvPr id="275" name="Google Shape;275;p28"/>
          <p:cNvGrpSpPr/>
          <p:nvPr/>
        </p:nvGrpSpPr>
        <p:grpSpPr>
          <a:xfrm>
            <a:off x="285750" y="952500"/>
            <a:ext cx="4191000" cy="2857500"/>
            <a:chOff x="285750" y="952500"/>
            <a:chExt cx="4191000" cy="2857500"/>
          </a:xfrm>
        </p:grpSpPr>
        <p:sp>
          <p:nvSpPr>
            <p:cNvPr id="276" name="Google Shape;276;p28"/>
            <p:cNvSpPr/>
            <p:nvPr/>
          </p:nvSpPr>
          <p:spPr>
            <a:xfrm>
              <a:off x="285750" y="952500"/>
              <a:ext cx="4191000" cy="2857500"/>
            </a:xfrm>
            <a:prstGeom prst="roundRect">
              <a:avLst>
                <a:gd name="adj" fmla="val 4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7" name="Google Shape;277;p28"/>
            <p:cNvSpPr txBox="1"/>
            <p:nvPr/>
          </p:nvSpPr>
          <p:spPr>
            <a:xfrm>
              <a:off x="428625" y="1095375"/>
              <a:ext cx="39054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Convergence Improvement</a:t>
              </a:r>
              <a:endParaRPr sz="1400" b="1">
                <a:solidFill>
                  <a:srgbClr val="1A73E8"/>
                </a:solidFill>
                <a:latin typeface="Arial"/>
                <a:ea typeface="Arial"/>
                <a:cs typeface="Arial"/>
                <a:sym typeface="Arial"/>
              </a:endParaRPr>
            </a:p>
          </p:txBody>
        </p:sp>
      </p:grpSp>
      <p:pic>
        <p:nvPicPr>
          <p:cNvPr id="278" name="Google Shape;278;p28"/>
          <p:cNvPicPr preferRelativeResize="0"/>
          <p:nvPr/>
        </p:nvPicPr>
        <p:blipFill rotWithShape="1">
          <a:blip r:embed="rId3">
            <a:alphaModFix/>
          </a:blip>
          <a:srcRect t="12174" b="12166"/>
          <a:stretch/>
        </p:blipFill>
        <p:spPr>
          <a:xfrm>
            <a:off x="428625" y="1428750"/>
            <a:ext cx="3905400" cy="2000100"/>
          </a:xfrm>
          <a:prstGeom prst="rect">
            <a:avLst/>
          </a:prstGeom>
          <a:noFill/>
          <a:ln>
            <a:noFill/>
          </a:ln>
        </p:spPr>
      </p:pic>
      <p:sp>
        <p:nvSpPr>
          <p:cNvPr id="279" name="Google Shape;279;p28"/>
          <p:cNvSpPr txBox="1"/>
          <p:nvPr/>
        </p:nvSpPr>
        <p:spPr>
          <a:xfrm>
            <a:off x="428625" y="3476625"/>
            <a:ext cx="3905400" cy="238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100" b="0">
                <a:solidFill>
                  <a:srgbClr val="475569"/>
                </a:solidFill>
                <a:latin typeface="Arial"/>
                <a:ea typeface="Arial"/>
                <a:cs typeface="Arial"/>
                <a:sym typeface="Arial"/>
              </a:rPr>
              <a:t>Faster practical convergence for FISTA</a:t>
            </a:r>
            <a:endParaRPr sz="1100" b="0">
              <a:solidFill>
                <a:srgbClr val="475569"/>
              </a:solidFill>
              <a:latin typeface="Arial"/>
              <a:ea typeface="Arial"/>
              <a:cs typeface="Arial"/>
              <a:sym typeface="Arial"/>
            </a:endParaRPr>
          </a:p>
        </p:txBody>
      </p:sp>
      <p:grpSp>
        <p:nvGrpSpPr>
          <p:cNvPr id="280" name="Google Shape;280;p28"/>
          <p:cNvGrpSpPr/>
          <p:nvPr/>
        </p:nvGrpSpPr>
        <p:grpSpPr>
          <a:xfrm>
            <a:off x="4667250" y="952500"/>
            <a:ext cx="4191000" cy="1809600"/>
            <a:chOff x="4667250" y="952500"/>
            <a:chExt cx="4191000" cy="1809600"/>
          </a:xfrm>
        </p:grpSpPr>
        <p:sp>
          <p:nvSpPr>
            <p:cNvPr id="281" name="Google Shape;281;p28"/>
            <p:cNvSpPr/>
            <p:nvPr/>
          </p:nvSpPr>
          <p:spPr>
            <a:xfrm>
              <a:off x="4667250" y="952500"/>
              <a:ext cx="4191000" cy="1809600"/>
            </a:xfrm>
            <a:prstGeom prst="roundRect">
              <a:avLst>
                <a:gd name="adj" fmla="val 6315"/>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2" name="Google Shape;282;p28"/>
            <p:cNvSpPr txBox="1"/>
            <p:nvPr/>
          </p:nvSpPr>
          <p:spPr>
            <a:xfrm>
              <a:off x="4810125" y="1095375"/>
              <a:ext cx="3905400" cy="15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400" b="1">
                  <a:solidFill>
                    <a:srgbClr val="1A73E8"/>
                  </a:solidFill>
                  <a:latin typeface="Arial"/>
                  <a:ea typeface="Arial"/>
                  <a:cs typeface="Arial"/>
                  <a:sym typeface="Arial"/>
                </a:rPr>
                <a:t>Main Contributions</a:t>
              </a:r>
              <a:endParaRPr sz="1400" b="1">
                <a:solidFill>
                  <a:srgbClr val="1A73E8"/>
                </a:solidFill>
                <a:latin typeface="Arial"/>
                <a:ea typeface="Arial"/>
                <a:cs typeface="Arial"/>
                <a:sym typeface="Arial"/>
              </a:endParaRPr>
            </a:p>
            <a:p>
              <a:pPr marL="457200" lvl="0" indent="-292100" algn="l" rtl="0">
                <a:spcBef>
                  <a:spcPts val="800"/>
                </a:spcBef>
                <a:spcAft>
                  <a:spcPts val="0"/>
                </a:spcAft>
                <a:buClr>
                  <a:srgbClr val="64748B"/>
                </a:buClr>
                <a:buSzPts val="1000"/>
                <a:buFont typeface="Arial"/>
                <a:buChar char="●"/>
              </a:pPr>
              <a:r>
                <a:rPr lang="en" sz="1000" b="0">
                  <a:solidFill>
                    <a:srgbClr val="64748B"/>
                  </a:solidFill>
                  <a:latin typeface="Arial"/>
                  <a:ea typeface="Arial"/>
                  <a:cs typeface="Arial"/>
                  <a:sym typeface="Arial"/>
                </a:rPr>
                <a:t>Replicated </a:t>
              </a:r>
              <a:r>
                <a:rPr lang="en" sz="1000" b="1">
                  <a:solidFill>
                    <a:srgbClr val="64748B"/>
                  </a:solidFill>
                  <a:latin typeface="Arial"/>
                  <a:ea typeface="Arial"/>
                  <a:cs typeface="Arial"/>
                  <a:sym typeface="Arial"/>
                </a:rPr>
                <a:t>three research papers</a:t>
              </a:r>
              <a:endParaRPr sz="1000" b="0">
                <a:solidFill>
                  <a:srgbClr val="64748B"/>
                </a:solidFill>
                <a:latin typeface="Arial"/>
                <a:ea typeface="Arial"/>
                <a:cs typeface="Arial"/>
                <a:sym typeface="Arial"/>
              </a:endParaRPr>
            </a:p>
            <a:p>
              <a:pPr marL="457200" lvl="0" indent="-292100" algn="l" rtl="0">
                <a:spcBef>
                  <a:spcPts val="600"/>
                </a:spcBef>
                <a:spcAft>
                  <a:spcPts val="0"/>
                </a:spcAft>
                <a:buClr>
                  <a:srgbClr val="64748B"/>
                </a:buClr>
                <a:buSzPts val="1000"/>
                <a:buFont typeface="Arial"/>
                <a:buChar char="●"/>
              </a:pPr>
              <a:r>
                <a:rPr lang="en" sz="1000" b="0">
                  <a:solidFill>
                    <a:srgbClr val="64748B"/>
                  </a:solidFill>
                  <a:latin typeface="Arial"/>
                  <a:ea typeface="Arial"/>
                  <a:cs typeface="Arial"/>
                  <a:sym typeface="Arial"/>
                </a:rPr>
                <a:t>Implemented </a:t>
              </a:r>
              <a:r>
                <a:rPr lang="en" sz="1000" b="1">
                  <a:solidFill>
                    <a:srgbClr val="64748B"/>
                  </a:solidFill>
                  <a:latin typeface="Arial"/>
                  <a:ea typeface="Arial"/>
                  <a:cs typeface="Arial"/>
                  <a:sym typeface="Arial"/>
                </a:rPr>
                <a:t>8+ optimization algorithms</a:t>
              </a:r>
              <a:endParaRPr sz="1000" b="0">
                <a:solidFill>
                  <a:srgbClr val="64748B"/>
                </a:solidFill>
                <a:latin typeface="Arial"/>
                <a:ea typeface="Arial"/>
                <a:cs typeface="Arial"/>
                <a:sym typeface="Arial"/>
              </a:endParaRPr>
            </a:p>
            <a:p>
              <a:pPr marL="457200" lvl="0" indent="-292100" algn="l" rtl="0">
                <a:spcBef>
                  <a:spcPts val="600"/>
                </a:spcBef>
                <a:spcAft>
                  <a:spcPts val="0"/>
                </a:spcAft>
                <a:buClr>
                  <a:srgbClr val="64748B"/>
                </a:buClr>
                <a:buSzPts val="1000"/>
                <a:buFont typeface="Arial"/>
                <a:buChar char="●"/>
              </a:pPr>
              <a:r>
                <a:rPr lang="en" sz="1000" b="0">
                  <a:solidFill>
                    <a:srgbClr val="64748B"/>
                  </a:solidFill>
                  <a:latin typeface="Arial"/>
                  <a:ea typeface="Arial"/>
                  <a:cs typeface="Arial"/>
                  <a:sym typeface="Arial"/>
                </a:rPr>
                <a:t>Developed synthetic benchmarking framework</a:t>
              </a:r>
              <a:endParaRPr sz="1000" b="0">
                <a:solidFill>
                  <a:srgbClr val="64748B"/>
                </a:solidFill>
                <a:latin typeface="Arial"/>
                <a:ea typeface="Arial"/>
                <a:cs typeface="Arial"/>
                <a:sym typeface="Arial"/>
              </a:endParaRPr>
            </a:p>
            <a:p>
              <a:pPr marL="457200" lvl="0" indent="-292100" algn="l" rtl="0">
                <a:spcBef>
                  <a:spcPts val="600"/>
                </a:spcBef>
                <a:spcAft>
                  <a:spcPts val="0"/>
                </a:spcAft>
                <a:buClr>
                  <a:srgbClr val="64748B"/>
                </a:buClr>
                <a:buSzPts val="1000"/>
                <a:buFont typeface="Arial"/>
                <a:buChar char="●"/>
              </a:pPr>
              <a:r>
                <a:rPr lang="en" sz="1000" b="0">
                  <a:solidFill>
                    <a:srgbClr val="64748B"/>
                  </a:solidFill>
                  <a:latin typeface="Arial"/>
                  <a:ea typeface="Arial"/>
                  <a:cs typeface="Arial"/>
                  <a:sym typeface="Arial"/>
                </a:rPr>
                <a:t>Identified </a:t>
              </a:r>
              <a:r>
                <a:rPr lang="en" sz="1000" b="1">
                  <a:solidFill>
                    <a:srgbClr val="64748B"/>
                  </a:solidFill>
                  <a:latin typeface="Arial"/>
                  <a:ea typeface="Arial"/>
                  <a:cs typeface="Arial"/>
                  <a:sym typeface="Arial"/>
                </a:rPr>
                <a:t>TV-FISTA</a:t>
              </a:r>
              <a:r>
                <a:rPr lang="en" sz="1000" b="0">
                  <a:solidFill>
                    <a:srgbClr val="64748B"/>
                  </a:solidFill>
                  <a:latin typeface="Arial"/>
                  <a:ea typeface="Arial"/>
                  <a:cs typeface="Arial"/>
                  <a:sym typeface="Arial"/>
                </a:rPr>
                <a:t> as best-performing solver</a:t>
              </a:r>
              <a:endParaRPr sz="1000" b="0">
                <a:solidFill>
                  <a:srgbClr val="64748B"/>
                </a:solidFill>
                <a:latin typeface="Arial"/>
                <a:ea typeface="Arial"/>
                <a:cs typeface="Arial"/>
                <a:sym typeface="Arial"/>
              </a:endParaRPr>
            </a:p>
          </p:txBody>
        </p:sp>
      </p:grpSp>
      <p:grpSp>
        <p:nvGrpSpPr>
          <p:cNvPr id="283" name="Google Shape;283;p28"/>
          <p:cNvGrpSpPr/>
          <p:nvPr/>
        </p:nvGrpSpPr>
        <p:grpSpPr>
          <a:xfrm>
            <a:off x="4667250" y="2952750"/>
            <a:ext cx="4191000" cy="1047900"/>
            <a:chOff x="4667250" y="2952750"/>
            <a:chExt cx="4191000" cy="1047900"/>
          </a:xfrm>
        </p:grpSpPr>
        <p:sp>
          <p:nvSpPr>
            <p:cNvPr id="284" name="Google Shape;284;p28"/>
            <p:cNvSpPr/>
            <p:nvPr/>
          </p:nvSpPr>
          <p:spPr>
            <a:xfrm>
              <a:off x="4667250" y="2952750"/>
              <a:ext cx="4191000" cy="1047900"/>
            </a:xfrm>
            <a:prstGeom prst="roundRect">
              <a:avLst>
                <a:gd name="adj" fmla="val 10909"/>
              </a:avLst>
            </a:prstGeom>
            <a:solidFill>
              <a:srgbClr val="E8F0FE"/>
            </a:solidFill>
            <a:ln w="9525" cap="flat" cmpd="sng">
              <a:solidFill>
                <a:srgbClr val="1A73E8">
                  <a:alpha val="30000"/>
                </a:srgbClr>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5" name="Google Shape;285;p28"/>
            <p:cNvSpPr txBox="1"/>
            <p:nvPr/>
          </p:nvSpPr>
          <p:spPr>
            <a:xfrm>
              <a:off x="4810125" y="3095625"/>
              <a:ext cx="39054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300" b="1">
                  <a:solidFill>
                    <a:srgbClr val="1A73E8"/>
                  </a:solidFill>
                  <a:latin typeface="Arial"/>
                  <a:ea typeface="Arial"/>
                  <a:cs typeface="Arial"/>
                  <a:sym typeface="Arial"/>
                </a:rPr>
                <a:t>Unified comparative analysis</a:t>
              </a:r>
              <a:endParaRPr sz="1300" b="1">
                <a:solidFill>
                  <a:srgbClr val="1A73E8"/>
                </a:solidFill>
                <a:latin typeface="Arial"/>
                <a:ea typeface="Arial"/>
                <a:cs typeface="Arial"/>
                <a:sym typeface="Arial"/>
              </a:endParaRPr>
            </a:p>
            <a:p>
              <a:pPr marL="0" lvl="0" indent="0" algn="l" rtl="0">
                <a:spcBef>
                  <a:spcPts val="400"/>
                </a:spcBef>
                <a:spcAft>
                  <a:spcPts val="0"/>
                </a:spcAft>
                <a:buNone/>
              </a:pPr>
              <a:r>
                <a:rPr lang="en" sz="1000" b="0">
                  <a:solidFill>
                    <a:srgbClr val="1E293B"/>
                  </a:solidFill>
                  <a:latin typeface="Arial"/>
                  <a:ea typeface="Arial"/>
                  <a:cs typeface="Arial"/>
                  <a:sym typeface="Arial"/>
                </a:rPr>
                <a:t>Of convex regularization and modern first-order optimization methods for image deblurring.</a:t>
              </a:r>
              <a:endParaRPr sz="1000" b="0">
                <a:solidFill>
                  <a:srgbClr val="1E293B"/>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9"/>
          <p:cNvSpPr txBox="1">
            <a:spLocks noGrp="1"/>
          </p:cNvSpPr>
          <p:nvPr>
            <p:ph type="title"/>
          </p:nvPr>
        </p:nvSpPr>
        <p:spPr>
          <a:xfrm>
            <a:off x="311700" y="-41325"/>
            <a:ext cx="8520600" cy="61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Learnings</a:t>
            </a:r>
            <a:endParaRPr/>
          </a:p>
        </p:txBody>
      </p:sp>
      <p:sp>
        <p:nvSpPr>
          <p:cNvPr id="291" name="Google Shape;291;p29"/>
          <p:cNvSpPr txBox="1">
            <a:spLocks noGrp="1"/>
          </p:cNvSpPr>
          <p:nvPr>
            <p:ph type="body" idx="1"/>
          </p:nvPr>
        </p:nvSpPr>
        <p:spPr>
          <a:xfrm>
            <a:off x="311700" y="569775"/>
            <a:ext cx="8520600" cy="3702000"/>
          </a:xfrm>
          <a:prstGeom prst="rect">
            <a:avLst/>
          </a:prstGeom>
        </p:spPr>
        <p:txBody>
          <a:bodyPr spcFirstLastPara="1" wrap="square" lIns="91425" tIns="91425" rIns="91425" bIns="91425" anchor="t" anchorCtr="0">
            <a:normAutofit fontScale="85000" lnSpcReduction="20000"/>
          </a:bodyPr>
          <a:lstStyle/>
          <a:p>
            <a:pPr marL="0" lvl="0" indent="0" algn="l" rtl="0">
              <a:spcBef>
                <a:spcPts val="1800"/>
              </a:spcBef>
              <a:spcAft>
                <a:spcPts val="0"/>
              </a:spcAft>
              <a:buNone/>
            </a:pPr>
            <a:r>
              <a:rPr lang="en" sz="1700" b="1">
                <a:solidFill>
                  <a:schemeClr val="dk1"/>
                </a:solidFill>
              </a:rPr>
              <a:t>Learnings</a:t>
            </a:r>
            <a:endParaRPr sz="1700" b="1">
              <a:solidFill>
                <a:schemeClr val="dk1"/>
              </a:solidFill>
            </a:endParaRPr>
          </a:p>
          <a:p>
            <a:pPr marL="457200" lvl="0" indent="-287973" algn="l" rtl="0">
              <a:spcBef>
                <a:spcPts val="1200"/>
              </a:spcBef>
              <a:spcAft>
                <a:spcPts val="0"/>
              </a:spcAft>
              <a:buClr>
                <a:schemeClr val="dk1"/>
              </a:buClr>
              <a:buSzPct val="100000"/>
              <a:buChar char="●"/>
            </a:pPr>
            <a:r>
              <a:rPr lang="en" sz="1100">
                <a:solidFill>
                  <a:schemeClr val="dk1"/>
                </a:solidFill>
              </a:rPr>
              <a:t>Developed understanding of </a:t>
            </a:r>
            <a:r>
              <a:rPr lang="en" sz="1100" b="1">
                <a:solidFill>
                  <a:schemeClr val="dk1"/>
                </a:solidFill>
              </a:rPr>
              <a:t>image deblurring as an inverse optimization problem</a:t>
            </a:r>
            <a:endParaRPr sz="1100" b="1">
              <a:solidFill>
                <a:schemeClr val="dk1"/>
              </a:solidFill>
            </a:endParaRPr>
          </a:p>
          <a:p>
            <a:pPr marL="457200" lvl="0" indent="-287973" algn="l" rtl="0">
              <a:spcBef>
                <a:spcPts val="0"/>
              </a:spcBef>
              <a:spcAft>
                <a:spcPts val="0"/>
              </a:spcAft>
              <a:buClr>
                <a:schemeClr val="dk1"/>
              </a:buClr>
              <a:buSzPct val="100000"/>
              <a:buChar char="●"/>
            </a:pPr>
            <a:r>
              <a:rPr lang="en" sz="1100">
                <a:solidFill>
                  <a:schemeClr val="dk1"/>
                </a:solidFill>
              </a:rPr>
              <a:t>Learned how </a:t>
            </a:r>
            <a:r>
              <a:rPr lang="en" sz="1100" b="1">
                <a:solidFill>
                  <a:schemeClr val="dk1"/>
                </a:solidFill>
              </a:rPr>
              <a:t>convex regularization</a:t>
            </a:r>
            <a:r>
              <a:rPr lang="en" sz="1100">
                <a:solidFill>
                  <a:schemeClr val="dk1"/>
                </a:solidFill>
              </a:rPr>
              <a:t> (L2, TV, Hybrid TV) stabilizes ill-posed problems</a:t>
            </a:r>
            <a:endParaRPr sz="1100">
              <a:solidFill>
                <a:schemeClr val="dk1"/>
              </a:solidFill>
            </a:endParaRPr>
          </a:p>
          <a:p>
            <a:pPr marL="457200" lvl="0" indent="-287973" algn="l" rtl="0">
              <a:spcBef>
                <a:spcPts val="0"/>
              </a:spcBef>
              <a:spcAft>
                <a:spcPts val="0"/>
              </a:spcAft>
              <a:buClr>
                <a:schemeClr val="dk1"/>
              </a:buClr>
              <a:buSzPct val="100000"/>
              <a:buChar char="●"/>
            </a:pPr>
            <a:r>
              <a:rPr lang="en" sz="1100">
                <a:solidFill>
                  <a:schemeClr val="dk1"/>
                </a:solidFill>
              </a:rPr>
              <a:t>Understood difference between </a:t>
            </a:r>
            <a:r>
              <a:rPr lang="en" sz="1100" b="1">
                <a:solidFill>
                  <a:schemeClr val="dk1"/>
                </a:solidFill>
              </a:rPr>
              <a:t>regularizer design</a:t>
            </a:r>
            <a:r>
              <a:rPr lang="en" sz="1100">
                <a:solidFill>
                  <a:schemeClr val="dk1"/>
                </a:solidFill>
              </a:rPr>
              <a:t> and </a:t>
            </a:r>
            <a:r>
              <a:rPr lang="en" sz="1100" b="1">
                <a:solidFill>
                  <a:schemeClr val="dk1"/>
                </a:solidFill>
              </a:rPr>
              <a:t>solver choice</a:t>
            </a:r>
            <a:endParaRPr sz="1100" b="1">
              <a:solidFill>
                <a:schemeClr val="dk1"/>
              </a:solidFill>
            </a:endParaRPr>
          </a:p>
          <a:p>
            <a:pPr marL="457200" lvl="0" indent="-287973" algn="l" rtl="0">
              <a:spcBef>
                <a:spcPts val="0"/>
              </a:spcBef>
              <a:spcAft>
                <a:spcPts val="0"/>
              </a:spcAft>
              <a:buClr>
                <a:schemeClr val="dk1"/>
              </a:buClr>
              <a:buSzPct val="100000"/>
              <a:buChar char="●"/>
            </a:pPr>
            <a:r>
              <a:rPr lang="en" sz="1100">
                <a:solidFill>
                  <a:schemeClr val="dk1"/>
                </a:solidFill>
              </a:rPr>
              <a:t>Gained insight into </a:t>
            </a:r>
            <a:r>
              <a:rPr lang="en" sz="1100" b="1">
                <a:solidFill>
                  <a:schemeClr val="dk1"/>
                </a:solidFill>
              </a:rPr>
              <a:t>first-order optimization methods</a:t>
            </a:r>
            <a:r>
              <a:rPr lang="en" sz="1100">
                <a:solidFill>
                  <a:schemeClr val="dk1"/>
                </a:solidFill>
              </a:rPr>
              <a:t>:</a:t>
            </a:r>
            <a:endParaRPr sz="1100">
              <a:solidFill>
                <a:schemeClr val="dk1"/>
              </a:solidFill>
            </a:endParaRPr>
          </a:p>
          <a:p>
            <a:pPr marL="914400" lvl="1" indent="-287973" algn="l" rtl="0">
              <a:spcBef>
                <a:spcPts val="0"/>
              </a:spcBef>
              <a:spcAft>
                <a:spcPts val="0"/>
              </a:spcAft>
              <a:buClr>
                <a:schemeClr val="dk1"/>
              </a:buClr>
              <a:buSzPct val="100000"/>
              <a:buChar char="○"/>
            </a:pPr>
            <a:r>
              <a:rPr lang="en" sz="1100">
                <a:solidFill>
                  <a:schemeClr val="dk1"/>
                </a:solidFill>
              </a:rPr>
              <a:t>Gradient Descent</a:t>
            </a:r>
            <a:endParaRPr sz="1100">
              <a:solidFill>
                <a:schemeClr val="dk1"/>
              </a:solidFill>
            </a:endParaRPr>
          </a:p>
          <a:p>
            <a:pPr marL="914400" lvl="1" indent="-287973" algn="l" rtl="0">
              <a:spcBef>
                <a:spcPts val="0"/>
              </a:spcBef>
              <a:spcAft>
                <a:spcPts val="0"/>
              </a:spcAft>
              <a:buClr>
                <a:schemeClr val="dk1"/>
              </a:buClr>
              <a:buSzPct val="100000"/>
              <a:buChar char="○"/>
            </a:pPr>
            <a:r>
              <a:rPr lang="en" sz="1100">
                <a:solidFill>
                  <a:schemeClr val="dk1"/>
                </a:solidFill>
              </a:rPr>
              <a:t>FISTA</a:t>
            </a:r>
            <a:endParaRPr sz="1100">
              <a:solidFill>
                <a:schemeClr val="dk1"/>
              </a:solidFill>
            </a:endParaRPr>
          </a:p>
          <a:p>
            <a:pPr marL="914400" lvl="1" indent="-287973" algn="l" rtl="0">
              <a:spcBef>
                <a:spcPts val="0"/>
              </a:spcBef>
              <a:spcAft>
                <a:spcPts val="0"/>
              </a:spcAft>
              <a:buClr>
                <a:schemeClr val="dk1"/>
              </a:buClr>
              <a:buSzPct val="100000"/>
              <a:buChar char="○"/>
            </a:pPr>
            <a:r>
              <a:rPr lang="en" sz="1100">
                <a:solidFill>
                  <a:schemeClr val="dk1"/>
                </a:solidFill>
              </a:rPr>
              <a:t>ADMM</a:t>
            </a:r>
            <a:endParaRPr sz="1100">
              <a:solidFill>
                <a:schemeClr val="dk1"/>
              </a:solidFill>
            </a:endParaRPr>
          </a:p>
          <a:p>
            <a:pPr marL="914400" lvl="1" indent="-287973" algn="l" rtl="0">
              <a:spcBef>
                <a:spcPts val="0"/>
              </a:spcBef>
              <a:spcAft>
                <a:spcPts val="0"/>
              </a:spcAft>
              <a:buClr>
                <a:schemeClr val="dk1"/>
              </a:buClr>
              <a:buSzPct val="100000"/>
              <a:buChar char="○"/>
            </a:pPr>
            <a:r>
              <a:rPr lang="en" sz="1100">
                <a:solidFill>
                  <a:schemeClr val="dk1"/>
                </a:solidFill>
              </a:rPr>
              <a:t>Primal-Dual</a:t>
            </a:r>
            <a:endParaRPr sz="1100">
              <a:solidFill>
                <a:schemeClr val="dk1"/>
              </a:solidFill>
            </a:endParaRPr>
          </a:p>
          <a:p>
            <a:pPr marL="914400" lvl="1" indent="-287973" algn="l" rtl="0">
              <a:spcBef>
                <a:spcPts val="0"/>
              </a:spcBef>
              <a:spcAft>
                <a:spcPts val="0"/>
              </a:spcAft>
              <a:buClr>
                <a:schemeClr val="dk1"/>
              </a:buClr>
              <a:buSzPct val="100000"/>
              <a:buChar char="○"/>
            </a:pPr>
            <a:r>
              <a:rPr lang="en" sz="1100">
                <a:solidFill>
                  <a:schemeClr val="dk1"/>
                </a:solidFill>
              </a:rPr>
              <a:t>Split Bregman</a:t>
            </a:r>
            <a:endParaRPr sz="1100">
              <a:solidFill>
                <a:schemeClr val="dk1"/>
              </a:solidFill>
            </a:endParaRPr>
          </a:p>
          <a:p>
            <a:pPr marL="457200" lvl="0" indent="-287973" algn="l" rtl="0">
              <a:spcBef>
                <a:spcPts val="0"/>
              </a:spcBef>
              <a:spcAft>
                <a:spcPts val="0"/>
              </a:spcAft>
              <a:buClr>
                <a:schemeClr val="dk1"/>
              </a:buClr>
              <a:buSzPct val="100000"/>
              <a:buChar char="●"/>
            </a:pPr>
            <a:r>
              <a:rPr lang="en" sz="1100">
                <a:solidFill>
                  <a:schemeClr val="dk1"/>
                </a:solidFill>
              </a:rPr>
              <a:t>Learned practical implementation of </a:t>
            </a:r>
            <a:r>
              <a:rPr lang="en" sz="1100" b="1">
                <a:solidFill>
                  <a:schemeClr val="dk1"/>
                </a:solidFill>
              </a:rPr>
              <a:t>PIRL/APIRL</a:t>
            </a:r>
            <a:r>
              <a:rPr lang="en" sz="1100">
                <a:solidFill>
                  <a:schemeClr val="dk1"/>
                </a:solidFill>
              </a:rPr>
              <a:t>, alternating minimization, and ADMM-based solvers</a:t>
            </a:r>
            <a:endParaRPr sz="1100">
              <a:solidFill>
                <a:schemeClr val="dk1"/>
              </a:solidFill>
            </a:endParaRPr>
          </a:p>
          <a:p>
            <a:pPr marL="457200" lvl="0" indent="-287973" algn="l" rtl="0">
              <a:spcBef>
                <a:spcPts val="0"/>
              </a:spcBef>
              <a:spcAft>
                <a:spcPts val="0"/>
              </a:spcAft>
              <a:buClr>
                <a:schemeClr val="dk1"/>
              </a:buClr>
              <a:buSzPct val="100000"/>
              <a:buChar char="●"/>
            </a:pPr>
            <a:r>
              <a:rPr lang="en" sz="1100">
                <a:solidFill>
                  <a:schemeClr val="dk1"/>
                </a:solidFill>
              </a:rPr>
              <a:t>Understood role of </a:t>
            </a:r>
            <a:r>
              <a:rPr lang="en" sz="1100" b="1">
                <a:solidFill>
                  <a:schemeClr val="dk1"/>
                </a:solidFill>
              </a:rPr>
              <a:t>sparsity priors</a:t>
            </a:r>
            <a:r>
              <a:rPr lang="en" sz="1100">
                <a:solidFill>
                  <a:schemeClr val="dk1"/>
                </a:solidFill>
              </a:rPr>
              <a:t> and edge-preserving regularization in image restoration</a:t>
            </a:r>
            <a:endParaRPr sz="1100">
              <a:solidFill>
                <a:schemeClr val="dk1"/>
              </a:solidFill>
            </a:endParaRPr>
          </a:p>
          <a:p>
            <a:pPr marL="457200" lvl="0" indent="-287973" algn="l" rtl="0">
              <a:spcBef>
                <a:spcPts val="0"/>
              </a:spcBef>
              <a:spcAft>
                <a:spcPts val="0"/>
              </a:spcAft>
              <a:buClr>
                <a:schemeClr val="dk1"/>
              </a:buClr>
              <a:buSzPct val="100000"/>
              <a:buChar char="●"/>
            </a:pPr>
            <a:r>
              <a:rPr lang="en" sz="1100">
                <a:solidFill>
                  <a:schemeClr val="dk1"/>
                </a:solidFill>
              </a:rPr>
              <a:t>Learned to evaluate reconstruction quality using </a:t>
            </a:r>
            <a:r>
              <a:rPr lang="en" sz="1100" b="1">
                <a:solidFill>
                  <a:schemeClr val="dk1"/>
                </a:solidFill>
              </a:rPr>
              <a:t>PSNR, SSIM, and convergence analysis</a:t>
            </a:r>
            <a:endParaRPr sz="1100" b="1">
              <a:solidFill>
                <a:schemeClr val="dk1"/>
              </a:solidFill>
            </a:endParaRPr>
          </a:p>
          <a:p>
            <a:pPr marL="457200" lvl="0" indent="-287973" algn="l" rtl="0">
              <a:spcBef>
                <a:spcPts val="0"/>
              </a:spcBef>
              <a:spcAft>
                <a:spcPts val="0"/>
              </a:spcAft>
              <a:buClr>
                <a:schemeClr val="dk1"/>
              </a:buClr>
              <a:buSzPct val="100000"/>
              <a:buChar char="●"/>
            </a:pPr>
            <a:r>
              <a:rPr lang="en" sz="1100">
                <a:solidFill>
                  <a:schemeClr val="dk1"/>
                </a:solidFill>
              </a:rPr>
              <a:t>Observed how </a:t>
            </a:r>
            <a:r>
              <a:rPr lang="en" sz="1100" b="1">
                <a:solidFill>
                  <a:schemeClr val="dk1"/>
                </a:solidFill>
              </a:rPr>
              <a:t>regularizer–solver combinations</a:t>
            </a:r>
            <a:r>
              <a:rPr lang="en" sz="1100">
                <a:solidFill>
                  <a:schemeClr val="dk1"/>
                </a:solidFill>
              </a:rPr>
              <a:t> affect performance</a:t>
            </a:r>
            <a:endParaRPr sz="1100">
              <a:solidFill>
                <a:schemeClr val="dk1"/>
              </a:solidFill>
            </a:endParaRPr>
          </a:p>
          <a:p>
            <a:pPr marL="457200" lvl="0" indent="-287973" algn="l" rtl="0">
              <a:spcBef>
                <a:spcPts val="0"/>
              </a:spcBef>
              <a:spcAft>
                <a:spcPts val="0"/>
              </a:spcAft>
              <a:buClr>
                <a:schemeClr val="dk1"/>
              </a:buClr>
              <a:buSzPct val="100000"/>
              <a:buChar char="●"/>
            </a:pPr>
            <a:r>
              <a:rPr lang="en" sz="1100">
                <a:solidFill>
                  <a:schemeClr val="dk1"/>
                </a:solidFill>
              </a:rPr>
              <a:t>Gained experience with </a:t>
            </a:r>
            <a:r>
              <a:rPr lang="en" sz="1100" b="1">
                <a:solidFill>
                  <a:schemeClr val="dk1"/>
                </a:solidFill>
              </a:rPr>
              <a:t>benchmarking and comparative analysis</a:t>
            </a:r>
            <a:r>
              <a:rPr lang="en" sz="1100">
                <a:solidFill>
                  <a:schemeClr val="dk1"/>
                </a:solidFill>
              </a:rPr>
              <a:t> across multiple optimization methods</a:t>
            </a:r>
            <a:endParaRPr sz="1100">
              <a:solidFill>
                <a:schemeClr val="dk1"/>
              </a:solidFill>
            </a:endParaRPr>
          </a:p>
          <a:p>
            <a:pPr marL="457200" lvl="0" indent="-287973" algn="l" rtl="0">
              <a:spcBef>
                <a:spcPts val="0"/>
              </a:spcBef>
              <a:spcAft>
                <a:spcPts val="0"/>
              </a:spcAft>
              <a:buClr>
                <a:schemeClr val="dk1"/>
              </a:buClr>
              <a:buSzPct val="100000"/>
              <a:buChar char="●"/>
            </a:pPr>
            <a:r>
              <a:rPr lang="en" sz="1100">
                <a:solidFill>
                  <a:schemeClr val="dk1"/>
                </a:solidFill>
              </a:rPr>
              <a:t>Improved understanding of </a:t>
            </a:r>
            <a:r>
              <a:rPr lang="en" sz="1100" b="1">
                <a:solidFill>
                  <a:schemeClr val="dk1"/>
                </a:solidFill>
              </a:rPr>
              <a:t>convex vs non-convex optimization models</a:t>
            </a:r>
            <a:endParaRPr sz="1100" b="1">
              <a:solidFill>
                <a:schemeClr val="dk1"/>
              </a:solidFill>
            </a:endParaRPr>
          </a:p>
          <a:p>
            <a:pPr marL="457200" lvl="0" indent="-287973" algn="l" rtl="0">
              <a:spcBef>
                <a:spcPts val="0"/>
              </a:spcBef>
              <a:spcAft>
                <a:spcPts val="0"/>
              </a:spcAft>
              <a:buClr>
                <a:schemeClr val="dk1"/>
              </a:buClr>
              <a:buSzPct val="100000"/>
              <a:buChar char="●"/>
            </a:pPr>
            <a:r>
              <a:rPr lang="en" sz="1100">
                <a:solidFill>
                  <a:schemeClr val="dk1"/>
                </a:solidFill>
              </a:rPr>
              <a:t>Developed practical skills in </a:t>
            </a:r>
            <a:r>
              <a:rPr lang="en" sz="1100" b="1">
                <a:solidFill>
                  <a:schemeClr val="dk1"/>
                </a:solidFill>
              </a:rPr>
              <a:t>algorithm implementation, debugging, and experimental analysis</a:t>
            </a:r>
            <a:endParaRPr sz="1100" b="1">
              <a:solidFill>
                <a:schemeClr val="dk1"/>
              </a:solidFill>
            </a:endParaRPr>
          </a:p>
          <a:p>
            <a:pPr marL="457200" lvl="0" indent="-287973" algn="l" rtl="0">
              <a:spcBef>
                <a:spcPts val="0"/>
              </a:spcBef>
              <a:spcAft>
                <a:spcPts val="0"/>
              </a:spcAft>
              <a:buClr>
                <a:schemeClr val="dk1"/>
              </a:buClr>
              <a:buSzPct val="100000"/>
              <a:buChar char="●"/>
            </a:pPr>
            <a:r>
              <a:rPr lang="en" sz="1100">
                <a:solidFill>
                  <a:schemeClr val="dk1"/>
                </a:solidFill>
              </a:rPr>
              <a:t>Learned importance of </a:t>
            </a:r>
            <a:r>
              <a:rPr lang="en" sz="1100" b="1">
                <a:solidFill>
                  <a:schemeClr val="dk1"/>
                </a:solidFill>
              </a:rPr>
              <a:t>parameter tuning</a:t>
            </a:r>
            <a:r>
              <a:rPr lang="en" sz="1100">
                <a:solidFill>
                  <a:schemeClr val="dk1"/>
                </a:solidFill>
              </a:rPr>
              <a:t> and convergence behavior</a:t>
            </a:r>
            <a:endParaRPr sz="1100">
              <a:solidFill>
                <a:schemeClr val="dk1"/>
              </a:solidFill>
            </a:endParaRPr>
          </a:p>
          <a:p>
            <a:pPr marL="457200" lvl="0" indent="-287973" algn="l" rtl="0">
              <a:spcBef>
                <a:spcPts val="0"/>
              </a:spcBef>
              <a:spcAft>
                <a:spcPts val="0"/>
              </a:spcAft>
              <a:buClr>
                <a:schemeClr val="dk1"/>
              </a:buClr>
              <a:buSzPct val="100000"/>
              <a:buChar char="●"/>
            </a:pPr>
            <a:r>
              <a:rPr lang="en" sz="1100">
                <a:solidFill>
                  <a:schemeClr val="dk1"/>
                </a:solidFill>
              </a:rPr>
              <a:t>Strengthened knowledge of </a:t>
            </a:r>
            <a:r>
              <a:rPr lang="en" sz="1100" b="1">
                <a:solidFill>
                  <a:schemeClr val="dk1"/>
                </a:solidFill>
              </a:rPr>
              <a:t>research paper implementation and reproducibility</a:t>
            </a:r>
            <a:endParaRPr sz="1100" b="1">
              <a:solidFill>
                <a:schemeClr val="dk1"/>
              </a:solidFill>
            </a:endParaRPr>
          </a:p>
          <a:p>
            <a:pPr marL="457200" lvl="0" indent="-287973" algn="l" rtl="0">
              <a:spcBef>
                <a:spcPts val="0"/>
              </a:spcBef>
              <a:spcAft>
                <a:spcPts val="0"/>
              </a:spcAft>
              <a:buClr>
                <a:schemeClr val="dk1"/>
              </a:buClr>
              <a:buSzPct val="100000"/>
              <a:buChar char="●"/>
            </a:pPr>
            <a:r>
              <a:rPr lang="en" sz="1100">
                <a:solidFill>
                  <a:schemeClr val="dk1"/>
                </a:solidFill>
              </a:rPr>
              <a:t>Improved teamwork, technical presentation, and research communication skills</a:t>
            </a:r>
            <a:endParaRPr sz="1100">
              <a:solidFill>
                <a:schemeClr val="dk1"/>
              </a:solidFill>
            </a:endParaRPr>
          </a:p>
          <a:p>
            <a:pPr marL="457200" lvl="0" indent="0" algn="l" rtl="0">
              <a:spcBef>
                <a:spcPts val="1200"/>
              </a:spcBef>
              <a:spcAft>
                <a:spcPts val="12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Individual Contributions (1 slide)</a:t>
            </a:r>
            <a:endParaRPr/>
          </a:p>
        </p:txBody>
      </p:sp>
      <p:sp>
        <p:nvSpPr>
          <p:cNvPr id="297" name="Google Shape;297;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Delineate the contributions of each team member</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2762</Words>
  <Application>Microsoft Office PowerPoint</Application>
  <PresentationFormat>On-screen Show (16:9)</PresentationFormat>
  <Paragraphs>469</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Cambria</vt:lpstr>
      <vt:lpstr>Simple Light</vt:lpstr>
      <vt:lpstr>Comparative Analysis of Convex Regularization and First-Order Optimization Methods for Image Deblurring </vt:lpstr>
      <vt:lpstr>PowerPoint Presentation</vt:lpstr>
      <vt:lpstr>Problem Statement</vt:lpstr>
      <vt:lpstr>Motivation</vt:lpstr>
      <vt:lpstr>Assumptions and Optimization Setting</vt:lpstr>
      <vt:lpstr>PowerPoint Presentation</vt:lpstr>
      <vt:lpstr>Paper 2: Accelerated Proximal Iterative Reweighted ℓ1 Alternating Minimization</vt:lpstr>
      <vt:lpstr>Paper 3: Total Variation Regularization via Alternating Minimization</vt:lpstr>
      <vt:lpstr>Implementation Framework </vt:lpstr>
      <vt:lpstr>Datasets and Experimental Setup</vt:lpstr>
      <vt:lpstr>Datasets and Experimental Setup</vt:lpstr>
      <vt:lpstr>Improvements &amp; Key Contributions</vt:lpstr>
      <vt:lpstr>Extension Work: Additional Solver Frameworks </vt:lpstr>
      <vt:lpstr>Why TV-FISTA Performs Best </vt:lpstr>
      <vt:lpstr>Performance Evaluation </vt:lpstr>
      <vt:lpstr>Improvements &amp; Key Contributions</vt:lpstr>
      <vt:lpstr>Learnings</vt:lpstr>
      <vt:lpstr>Individual Contributions (1 slide)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Manjunath Nayak</cp:lastModifiedBy>
  <cp:revision>1</cp:revision>
  <dcterms:modified xsi:type="dcterms:W3CDTF">2026-04-29T08:41:02Z</dcterms:modified>
</cp:coreProperties>
</file>